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3" r:id="rId5"/>
    <p:sldId id="259" r:id="rId6"/>
    <p:sldId id="261" r:id="rId7"/>
    <p:sldId id="262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7" r:id="rId18"/>
    <p:sldId id="275" r:id="rId19"/>
    <p:sldId id="271" r:id="rId20"/>
    <p:sldId id="272" r:id="rId21"/>
    <p:sldId id="273" r:id="rId22"/>
    <p:sldId id="274" r:id="rId23"/>
    <p:sldId id="276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6A9F"/>
    <a:srgbClr val="5A9BD4"/>
    <a:srgbClr val="A8CBE8"/>
    <a:srgbClr val="A9C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2810" autoAdjust="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894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ibrary.ru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D28BC5-DD98-4B94-6159-D4B4BC35C754}"/>
              </a:ext>
            </a:extLst>
          </p:cNvPr>
          <p:cNvSpPr txBox="1"/>
          <p:nvPr/>
        </p:nvSpPr>
        <p:spPr>
          <a:xfrm>
            <a:off x="1342103" y="1907583"/>
            <a:ext cx="9586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/>
              <a:t>Лекция 2. Генерация признаков</a:t>
            </a:r>
          </a:p>
          <a:p>
            <a:r>
              <a:rPr lang="ru-RU" sz="6000" b="1" dirty="0"/>
              <a:t> на основе анализа задач</a:t>
            </a:r>
          </a:p>
        </p:txBody>
      </p:sp>
    </p:spTree>
    <p:extLst>
      <p:ext uri="{BB962C8B-B14F-4D97-AF65-F5344CB8AC3E}">
        <p14:creationId xmlns:p14="http://schemas.microsoft.com/office/powerpoint/2010/main" val="76884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9F545B-29D2-4D33-55E5-C791F342B147}"/>
              </a:ext>
            </a:extLst>
          </p:cNvPr>
          <p:cNvSpPr txBox="1"/>
          <p:nvPr/>
        </p:nvSpPr>
        <p:spPr>
          <a:xfrm>
            <a:off x="406400" y="-91440"/>
            <a:ext cx="11714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Задача данных – </a:t>
            </a:r>
            <a:r>
              <a:rPr lang="ru-RU" sz="3600" dirty="0"/>
              <a:t>статьи информацией, приносить пользу для решения задачи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8FD50A8-7971-65D0-09E1-945EF511B23C}"/>
              </a:ext>
            </a:extLst>
          </p:cNvPr>
          <p:cNvSpPr/>
          <p:nvPr/>
        </p:nvSpPr>
        <p:spPr>
          <a:xfrm>
            <a:off x="660400" y="1483360"/>
            <a:ext cx="4805680" cy="1200329"/>
          </a:xfrm>
          <a:prstGeom prst="roundRect">
            <a:avLst>
              <a:gd name="adj" fmla="val 2883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600" b="1" dirty="0"/>
              <a:t>Предметная область (область знаний)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774EE67-4E54-CD05-6911-C23E4B988186}"/>
              </a:ext>
            </a:extLst>
          </p:cNvPr>
          <p:cNvSpPr/>
          <p:nvPr/>
        </p:nvSpPr>
        <p:spPr>
          <a:xfrm>
            <a:off x="6512560" y="1447800"/>
            <a:ext cx="5019040" cy="1200329"/>
          </a:xfrm>
          <a:prstGeom prst="roundRect">
            <a:avLst>
              <a:gd name="adj" fmla="val 2883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b="1" dirty="0"/>
              <a:t>Инструменты для анализа</a:t>
            </a:r>
          </a:p>
        </p:txBody>
      </p:sp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7DEFFD1A-11F1-B81A-E915-97BCD295AEB7}"/>
              </a:ext>
            </a:extLst>
          </p:cNvPr>
          <p:cNvSpPr/>
          <p:nvPr/>
        </p:nvSpPr>
        <p:spPr>
          <a:xfrm>
            <a:off x="2407920" y="2854960"/>
            <a:ext cx="762000" cy="7315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9210D6-CD22-6B89-BF2F-F9546B90E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3922248"/>
            <a:ext cx="5059680" cy="2666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F18377-12EC-104C-1BF3-8DB3411D10C1}"/>
              </a:ext>
            </a:extLst>
          </p:cNvPr>
          <p:cNvSpPr txBox="1"/>
          <p:nvPr/>
        </p:nvSpPr>
        <p:spPr>
          <a:xfrm>
            <a:off x="6756400" y="3612219"/>
            <a:ext cx="485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Дисциплины, математика, учебники.</a:t>
            </a:r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99B5E764-9243-E7D0-A0BB-ED83C5079601}"/>
              </a:ext>
            </a:extLst>
          </p:cNvPr>
          <p:cNvSpPr/>
          <p:nvPr/>
        </p:nvSpPr>
        <p:spPr>
          <a:xfrm>
            <a:off x="8371840" y="2697480"/>
            <a:ext cx="762000" cy="7315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32709-823B-CFBE-9723-4FD8DCC8C8D0}"/>
              </a:ext>
            </a:extLst>
          </p:cNvPr>
          <p:cNvSpPr txBox="1"/>
          <p:nvPr/>
        </p:nvSpPr>
        <p:spPr>
          <a:xfrm>
            <a:off x="660400" y="36122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https://www.elibrary.ru/</a:t>
            </a:r>
            <a:r>
              <a:rPr lang="ru-RU" dirty="0"/>
              <a:t> </a:t>
            </a:r>
            <a:r>
              <a:rPr lang="ru-RU" b="1" dirty="0"/>
              <a:t>и ваши заказчики</a:t>
            </a:r>
          </a:p>
        </p:txBody>
      </p:sp>
    </p:spTree>
    <p:extLst>
      <p:ext uri="{BB962C8B-B14F-4D97-AF65-F5344CB8AC3E}">
        <p14:creationId xmlns:p14="http://schemas.microsoft.com/office/powerpoint/2010/main" val="10114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033EC2-0025-6D08-78AB-8A36F0E17840}"/>
              </a:ext>
            </a:extLst>
          </p:cNvPr>
          <p:cNvSpPr txBox="1"/>
          <p:nvPr/>
        </p:nvSpPr>
        <p:spPr>
          <a:xfrm>
            <a:off x="589280" y="203200"/>
            <a:ext cx="11460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 мире очень много информации, а современные </a:t>
            </a:r>
            <a:r>
              <a:rPr lang="en-US" sz="2800" dirty="0" err="1"/>
              <a:t>gpt</a:t>
            </a:r>
            <a:r>
              <a:rPr lang="en-US" sz="2800" dirty="0"/>
              <a:t> </a:t>
            </a:r>
            <a:r>
              <a:rPr lang="ru-RU" sz="2800" dirty="0"/>
              <a:t>чаты дают возможность выделить блок знаний необходимый вам решения задачи 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2290FC0-9A9C-3582-46A3-0E9DC9B12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618454"/>
              </p:ext>
            </p:extLst>
          </p:nvPr>
        </p:nvGraphicFramePr>
        <p:xfrm>
          <a:off x="6096000" y="1254124"/>
          <a:ext cx="5953760" cy="4840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7209">
                  <a:extLst>
                    <a:ext uri="{9D8B030D-6E8A-4147-A177-3AD203B41FA5}">
                      <a16:colId xmlns:a16="http://schemas.microsoft.com/office/drawing/2014/main" val="1077925162"/>
                    </a:ext>
                  </a:extLst>
                </a:gridCol>
                <a:gridCol w="994217">
                  <a:extLst>
                    <a:ext uri="{9D8B030D-6E8A-4147-A177-3AD203B41FA5}">
                      <a16:colId xmlns:a16="http://schemas.microsoft.com/office/drawing/2014/main" val="1538098405"/>
                    </a:ext>
                  </a:extLst>
                </a:gridCol>
                <a:gridCol w="1230935">
                  <a:extLst>
                    <a:ext uri="{9D8B030D-6E8A-4147-A177-3AD203B41FA5}">
                      <a16:colId xmlns:a16="http://schemas.microsoft.com/office/drawing/2014/main" val="898581731"/>
                    </a:ext>
                  </a:extLst>
                </a:gridCol>
                <a:gridCol w="2170647">
                  <a:extLst>
                    <a:ext uri="{9D8B030D-6E8A-4147-A177-3AD203B41FA5}">
                      <a16:colId xmlns:a16="http://schemas.microsoft.com/office/drawing/2014/main" val="1491240097"/>
                    </a:ext>
                  </a:extLst>
                </a:gridCol>
                <a:gridCol w="1190752">
                  <a:extLst>
                    <a:ext uri="{9D8B030D-6E8A-4147-A177-3AD203B41FA5}">
                      <a16:colId xmlns:a16="http://schemas.microsoft.com/office/drawing/2014/main" val="1986342872"/>
                    </a:ext>
                  </a:extLst>
                </a:gridCol>
              </a:tblGrid>
              <a:tr h="4576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1" u="none" strike="noStrike" dirty="0">
                          <a:effectLst/>
                        </a:rPr>
                        <a:t>№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51" marR="3851" marT="38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100" b="1" u="none" strike="noStrike" dirty="0">
                          <a:effectLst/>
                        </a:rPr>
                        <a:t>Кейс</a:t>
                      </a:r>
                      <a:endParaRPr lang="ru-RU" sz="1100" b="1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100" b="1" u="none" strike="noStrike" dirty="0">
                          <a:effectLst/>
                        </a:rPr>
                        <a:t>Тип задачи ML/аналитики</a:t>
                      </a:r>
                      <a:endParaRPr lang="ru-RU" sz="1100" b="1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100" b="1" u="none" strike="noStrike" dirty="0">
                          <a:effectLst/>
                        </a:rPr>
                        <a:t>Математический аппарат</a:t>
                      </a:r>
                      <a:endParaRPr lang="ru-RU" sz="1100" b="1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100" b="1" u="none" strike="noStrike" dirty="0">
                          <a:effectLst/>
                        </a:rPr>
                        <a:t>Предметная область</a:t>
                      </a:r>
                      <a:endParaRPr lang="ru-RU" sz="1100" b="1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 anchor="ctr"/>
                </a:tc>
                <a:extLst>
                  <a:ext uri="{0D108BD9-81ED-4DB2-BD59-A6C34878D82A}">
                    <a16:rowId xmlns:a16="http://schemas.microsoft.com/office/drawing/2014/main" val="3996956026"/>
                  </a:ext>
                </a:extLst>
              </a:tr>
              <a:tr h="683624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Верификация неисправностей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Бинарная классификация + важность признаков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Описательная статистика, корреляция, логрегрессия/деревья, метрики качества (ROC-AUC, recall)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Надёжность, техническая диагностика, FMEA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1739480100"/>
                  </a:ext>
                </a:extLst>
              </a:tr>
              <a:tr h="683624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Причины брака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Обнаружение сдвига уровня в потоке счётных данных</a:t>
                      </a:r>
                      <a:endParaRPr lang="ru-RU" sz="11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Распределение Пуассона, SPC (c-карты), тесты на однородность, анализ временных рядов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Управление качеством (QC/SPC)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505822928"/>
                  </a:ext>
                </a:extLst>
              </a:tr>
              <a:tr h="683624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3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Анализ электропотребления</a:t>
                      </a:r>
                      <a:endParaRPr lang="ru-RU" sz="11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Профилирование + кластеризация + поиск аномалий</a:t>
                      </a:r>
                      <a:endParaRPr lang="ru-RU" sz="11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Сезонная декомпозиция, кластеризация (k-means), квантили, регрессия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Энергоменеджмент, ISO 50001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1600607425"/>
                  </a:ext>
                </a:extLst>
              </a:tr>
              <a:tr h="45765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4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Приоритет обслуживания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Ранжирование, агрегация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Парето-анализ, ABC, MTBF/MTTR, доступность, теория вероятностей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Надёжность, TPM, OEE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26085175"/>
                  </a:ext>
                </a:extLst>
              </a:tr>
              <a:tr h="457652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5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Данные для нейросетей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Аудит качества данных (Data Quality)</a:t>
                      </a:r>
                      <a:endParaRPr lang="ru-RU" sz="11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Профилирование, статистика пропусков, IQR/z-score, энтропия, автокорреляция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Data Governance, метрология датчиков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1822550882"/>
                  </a:ext>
                </a:extLst>
              </a:tr>
              <a:tr h="683624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6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Приоритизация дефектов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Многокритериальное ранжирование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Ожидаемые потери (частота × стоимость), RPN, Парето, взвешенные шкалы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Управление качеством, FMEA, cost of poor quality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1025487370"/>
                  </a:ext>
                </a:extLst>
              </a:tr>
              <a:tr h="683624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7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Прогноз проблем (аномальные режимы)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Unsupervised anomaly detection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Многомерная статистика, расстояние Махаланобиса, PCA, Isolation Forest, One-Class SVM</a:t>
                      </a:r>
                      <a:endParaRPr lang="ru-RU" sz="11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100" u="none" strike="noStrike" dirty="0" err="1">
                          <a:effectLst/>
                        </a:rPr>
                        <a:t>Condition</a:t>
                      </a:r>
                      <a:r>
                        <a:rPr lang="ru-RU" sz="1100" u="none" strike="noStrike" dirty="0">
                          <a:effectLst/>
                        </a:rPr>
                        <a:t> </a:t>
                      </a:r>
                      <a:r>
                        <a:rPr lang="ru-RU" sz="1100" u="none" strike="noStrike" dirty="0" err="1">
                          <a:effectLst/>
                        </a:rPr>
                        <a:t>monitoring</a:t>
                      </a:r>
                      <a:r>
                        <a:rPr lang="ru-RU" sz="1100" u="none" strike="noStrike" dirty="0">
                          <a:effectLst/>
                        </a:rPr>
                        <a:t>, </a:t>
                      </a:r>
                      <a:r>
                        <a:rPr lang="ru-RU" sz="1100" u="none" strike="noStrike" dirty="0" err="1">
                          <a:effectLst/>
                        </a:rPr>
                        <a:t>вибродиагностика</a:t>
                      </a:r>
                      <a:endParaRPr lang="ru-RU" sz="11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9594007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BB1DD1-BDCC-9BC4-E464-699201CE10A9}"/>
              </a:ext>
            </a:extLst>
          </p:cNvPr>
          <p:cNvSpPr txBox="1"/>
          <p:nvPr/>
        </p:nvSpPr>
        <p:spPr>
          <a:xfrm>
            <a:off x="142240" y="1307410"/>
            <a:ext cx="60147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 err="1">
                <a:solidFill>
                  <a:schemeClr val="tx1"/>
                </a:solidFill>
                <a:effectLst/>
                <a:latin typeface="+mn-lt"/>
              </a:rPr>
              <a:t>Промт</a:t>
            </a:r>
            <a:r>
              <a:rPr lang="ru-RU" sz="20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r>
              <a:rPr lang="ru-RU" sz="2000" b="0" i="0" dirty="0">
                <a:solidFill>
                  <a:schemeClr val="tx1"/>
                </a:solidFill>
                <a:effectLst/>
                <a:latin typeface="+mn-lt"/>
              </a:rPr>
              <a:t>у тебя есть описание кейсов (ниже) и пример датасета для кейса «причины браков». Систематизируй информацию, опиши </a:t>
            </a:r>
            <a:r>
              <a:rPr lang="ru-RU" sz="2000" b="1" i="0" dirty="0">
                <a:solidFill>
                  <a:schemeClr val="tx1"/>
                </a:solidFill>
                <a:effectLst/>
                <a:latin typeface="+mn-lt"/>
              </a:rPr>
              <a:t>основные области знаний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+mn-lt"/>
              </a:rPr>
              <a:t> который нужны для реализации кейса </a:t>
            </a:r>
            <a:r>
              <a:rPr lang="ru-RU" sz="2000" b="0" i="1" dirty="0">
                <a:solidFill>
                  <a:schemeClr val="tx1"/>
                </a:solidFill>
                <a:effectLst/>
                <a:latin typeface="+mn-lt"/>
              </a:rPr>
              <a:t>(математический аппарат (например статистика), предметная область (например надежность))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</a:p>
          <a:p>
            <a:r>
              <a:rPr lang="ru-RU" sz="2000" b="0" i="0" dirty="0">
                <a:solidFill>
                  <a:schemeClr val="tx1"/>
                </a:solidFill>
                <a:effectLst/>
                <a:latin typeface="+mn-lt"/>
              </a:rPr>
              <a:t>Для каждого кейса приведен перечень 5 показателей, которые необходимо рассчитать для решения поставленной задачи. Показатели отсортируй по убыванию важности. Укажи балл важности по </a:t>
            </a:r>
            <a:r>
              <a:rPr lang="ru-RU" sz="2000" b="1" i="0" dirty="0">
                <a:solidFill>
                  <a:schemeClr val="tx1"/>
                </a:solidFill>
                <a:effectLst/>
                <a:latin typeface="+mn-lt"/>
              </a:rPr>
              <a:t>5-балльной шкале и причины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r>
              <a:rPr lang="ru-RU" sz="2000" b="1" i="0" dirty="0">
                <a:solidFill>
                  <a:schemeClr val="tx1"/>
                </a:solidFill>
                <a:effectLst/>
                <a:latin typeface="+mn-lt"/>
              </a:rPr>
              <a:t>Результат верни в виде таблицы 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80303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7444-61C0-A11F-E335-411F0ADD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28FA8-D0ED-EE4B-512D-50137005EA16}"/>
              </a:ext>
            </a:extLst>
          </p:cNvPr>
          <p:cNvSpPr txBox="1"/>
          <p:nvPr/>
        </p:nvSpPr>
        <p:spPr>
          <a:xfrm>
            <a:off x="589280" y="203200"/>
            <a:ext cx="11460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 мире очень много информации, а современные </a:t>
            </a:r>
            <a:r>
              <a:rPr lang="en-US" sz="2800" dirty="0" err="1"/>
              <a:t>gpt</a:t>
            </a:r>
            <a:r>
              <a:rPr lang="en-US" sz="2800" dirty="0"/>
              <a:t> </a:t>
            </a:r>
            <a:r>
              <a:rPr lang="ru-RU" sz="2800" dirty="0"/>
              <a:t>чаты дают возможность выделить блок знаний необходимый вам решения задачи 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92D06E2-B3E0-B564-086E-9D1BB101E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472039"/>
              </p:ext>
            </p:extLst>
          </p:nvPr>
        </p:nvGraphicFramePr>
        <p:xfrm>
          <a:off x="486137" y="1254125"/>
          <a:ext cx="11563625" cy="5047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208">
                  <a:extLst>
                    <a:ext uri="{9D8B030D-6E8A-4147-A177-3AD203B41FA5}">
                      <a16:colId xmlns:a16="http://schemas.microsoft.com/office/drawing/2014/main" val="1077925162"/>
                    </a:ext>
                  </a:extLst>
                </a:gridCol>
                <a:gridCol w="1931007">
                  <a:extLst>
                    <a:ext uri="{9D8B030D-6E8A-4147-A177-3AD203B41FA5}">
                      <a16:colId xmlns:a16="http://schemas.microsoft.com/office/drawing/2014/main" val="1538098405"/>
                    </a:ext>
                  </a:extLst>
                </a:gridCol>
                <a:gridCol w="2390770">
                  <a:extLst>
                    <a:ext uri="{9D8B030D-6E8A-4147-A177-3AD203B41FA5}">
                      <a16:colId xmlns:a16="http://schemas.microsoft.com/office/drawing/2014/main" val="898581731"/>
                    </a:ext>
                  </a:extLst>
                </a:gridCol>
                <a:gridCol w="4215915">
                  <a:extLst>
                    <a:ext uri="{9D8B030D-6E8A-4147-A177-3AD203B41FA5}">
                      <a16:colId xmlns:a16="http://schemas.microsoft.com/office/drawing/2014/main" val="1491240097"/>
                    </a:ext>
                  </a:extLst>
                </a:gridCol>
                <a:gridCol w="2312725">
                  <a:extLst>
                    <a:ext uri="{9D8B030D-6E8A-4147-A177-3AD203B41FA5}">
                      <a16:colId xmlns:a16="http://schemas.microsoft.com/office/drawing/2014/main" val="1986342872"/>
                    </a:ext>
                  </a:extLst>
                </a:gridCol>
              </a:tblGrid>
              <a:tr h="448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1" u="none" strike="noStrike" dirty="0">
                          <a:effectLst/>
                        </a:rPr>
                        <a:t>№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51" marR="3851" marT="38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Кейс</a:t>
                      </a:r>
                      <a:endParaRPr lang="ru-RU" sz="1600" b="1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Тип задачи ML/аналитики</a:t>
                      </a:r>
                      <a:endParaRPr lang="ru-RU" sz="1600" b="1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Математический аппарат</a:t>
                      </a:r>
                      <a:endParaRPr lang="ru-RU" sz="1600" b="1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b="1" u="none" strike="noStrike" dirty="0">
                          <a:effectLst/>
                        </a:rPr>
                        <a:t>Предметная область</a:t>
                      </a:r>
                      <a:endParaRPr lang="ru-RU" sz="1600" b="1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 anchor="ctr"/>
                </a:tc>
                <a:extLst>
                  <a:ext uri="{0D108BD9-81ED-4DB2-BD59-A6C34878D82A}">
                    <a16:rowId xmlns:a16="http://schemas.microsoft.com/office/drawing/2014/main" val="3996956026"/>
                  </a:ext>
                </a:extLst>
              </a:tr>
              <a:tr h="6696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1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Верификация неисправностей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Бинарная классификация + важность признаков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Описательная статистика, корреляция, логрегрессия/деревья, метрики качества (ROC-AUC, recall)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Надёжность, техническая диагностика, FMEA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1739480100"/>
                  </a:ext>
                </a:extLst>
              </a:tr>
              <a:tr h="6696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2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Причины брака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Обнаружение сдвига уровня в потоке счётных данных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Распределение Пуассона, SPC (c-карты), тесты на однородность, анализ временных рядов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Управление качеством (QC/SPC)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505822928"/>
                  </a:ext>
                </a:extLst>
              </a:tr>
              <a:tr h="6696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3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Анализ электропотребления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Профилирование + кластеризация + поиск аномалий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Сезонная декомпозиция, кластеризация (k-means), квантили, регрессия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Энергоменеджмент, ISO 50001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1600607425"/>
                  </a:ext>
                </a:extLst>
              </a:tr>
              <a:tr h="44832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4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Приоритет обслуживания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Ранжирование, агрегация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Парето-анализ, ABC, MTBF/MTTR, доступность, теория вероятностей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Надёжность, TPM, OEE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26085175"/>
                  </a:ext>
                </a:extLst>
              </a:tr>
              <a:tr h="49644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5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Данные для нейросетей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Аудит качества данных (Data Quality)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Профилирование, статистика пропусков, IQR/z-score, энтропия, автокорреляция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Data Governance, метрология датчиков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1822550882"/>
                  </a:ext>
                </a:extLst>
              </a:tr>
              <a:tr h="6696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6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Приоритизация дефектов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Многокритериальное ранжирование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Ожидаемые потери (частота × стоимость), RPN, Парето, взвешенные шкалы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Управление качеством, FMEA, cost of poor quality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1025487370"/>
                  </a:ext>
                </a:extLst>
              </a:tr>
              <a:tr h="6696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600" u="none" strike="noStrike" dirty="0">
                          <a:effectLst/>
                        </a:rPr>
                        <a:t>7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Прогноз проблем (аномальные режимы)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Unsupervised anomaly detection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>
                          <a:effectLst/>
                        </a:rPr>
                        <a:t>Многомерная статистика, расстояние Махаланобиса, PCA, Isolation Forest, One-Class SVM</a:t>
                      </a:r>
                      <a:endParaRPr lang="ru-RU" sz="1600" b="0" i="0" u="none" strike="noStrike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sz="1600" u="none" strike="noStrike" dirty="0" err="1">
                          <a:effectLst/>
                        </a:rPr>
                        <a:t>Condition</a:t>
                      </a:r>
                      <a:r>
                        <a:rPr lang="ru-RU" sz="1600" u="none" strike="noStrike" dirty="0">
                          <a:effectLst/>
                        </a:rPr>
                        <a:t> </a:t>
                      </a:r>
                      <a:r>
                        <a:rPr lang="ru-RU" sz="1600" u="none" strike="noStrike" dirty="0" err="1">
                          <a:effectLst/>
                        </a:rPr>
                        <a:t>monitoring</a:t>
                      </a:r>
                      <a:r>
                        <a:rPr lang="ru-RU" sz="1600" u="none" strike="noStrike" dirty="0">
                          <a:effectLst/>
                        </a:rPr>
                        <a:t>, </a:t>
                      </a:r>
                      <a:r>
                        <a:rPr lang="ru-RU" sz="1600" u="none" strike="noStrike" dirty="0" err="1">
                          <a:effectLst/>
                        </a:rPr>
                        <a:t>вибродиагностика</a:t>
                      </a:r>
                      <a:endParaRPr lang="ru-RU" sz="1600" b="0" i="0" u="none" strike="noStrike" dirty="0">
                        <a:solidFill>
                          <a:srgbClr val="252B3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51" marR="3851" marT="3851" marB="0"/>
                </a:tc>
                <a:extLst>
                  <a:ext uri="{0D108BD9-81ED-4DB2-BD59-A6C34878D82A}">
                    <a16:rowId xmlns:a16="http://schemas.microsoft.com/office/drawing/2014/main" val="959400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5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6D4F449C-1D36-D1E0-7B31-C1CAD0C8C1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7795693"/>
                  </p:ext>
                </p:extLst>
              </p:nvPr>
            </p:nvGraphicFramePr>
            <p:xfrm>
              <a:off x="1229360" y="1635541"/>
              <a:ext cx="10027920" cy="47931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78288">
                      <a:extLst>
                        <a:ext uri="{9D8B030D-6E8A-4147-A177-3AD203B41FA5}">
                          <a16:colId xmlns:a16="http://schemas.microsoft.com/office/drawing/2014/main" val="1418420375"/>
                        </a:ext>
                      </a:extLst>
                    </a:gridCol>
                    <a:gridCol w="4435672">
                      <a:extLst>
                        <a:ext uri="{9D8B030D-6E8A-4147-A177-3AD203B41FA5}">
                          <a16:colId xmlns:a16="http://schemas.microsoft.com/office/drawing/2014/main" val="2778106690"/>
                        </a:ext>
                      </a:extLst>
                    </a:gridCol>
                    <a:gridCol w="1100351">
                      <a:extLst>
                        <a:ext uri="{9D8B030D-6E8A-4147-A177-3AD203B41FA5}">
                          <a16:colId xmlns:a16="http://schemas.microsoft.com/office/drawing/2014/main" val="1352146139"/>
                        </a:ext>
                      </a:extLst>
                    </a:gridCol>
                    <a:gridCol w="3913609">
                      <a:extLst>
                        <a:ext uri="{9D8B030D-6E8A-4147-A177-3AD203B41FA5}">
                          <a16:colId xmlns:a16="http://schemas.microsoft.com/office/drawing/2014/main" val="5463975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400" b="1" i="0" dirty="0">
                              <a:solidFill>
                                <a:srgbClr val="252B37"/>
                              </a:solidFill>
                              <a:effectLst/>
                              <a:latin typeface="Golos Text"/>
                            </a:rPr>
                            <a:t>№</a:t>
                          </a: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400" b="1">
                              <a:effectLst/>
                            </a:rPr>
                            <a:t>Показатель</a:t>
                          </a:r>
                          <a:endParaRPr lang="ru-RU" sz="2400" b="1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400" b="1">
                              <a:effectLst/>
                            </a:rPr>
                            <a:t>Балл</a:t>
                          </a:r>
                          <a:endParaRPr lang="ru-RU" sz="2400" b="1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400" b="1" dirty="0">
                              <a:effectLst/>
                            </a:rPr>
                            <a:t>Причина</a:t>
                          </a:r>
                          <a:endParaRPr lang="ru-RU" sz="2400" b="1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3856421354"/>
                      </a:ext>
                    </a:extLst>
                  </a:tr>
                  <a:tr h="188018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1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Средний уровень дефектности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ru-RU" sz="2400" smtClean="0"/>
                                  </m:ctrlPr>
                                </m:accPr>
                                <m:e>
                                  <m:r>
                                    <a:rPr lang="ru-RU" sz="2400" smtClean="0"/>
                                    <m:t>𝑐</m:t>
                                  </m:r>
                                </m:e>
                              </m:acc>
                            </m:oMath>
                          </a14:m>
                          <a:r>
                            <a:rPr lang="ru-RU" sz="2000" dirty="0">
                              <a:effectLst/>
                            </a:rPr>
                            <a:t> и контрольные границы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acc>
                              <m:r>
                                <a:rPr lang="ru-RU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∓</m:t>
                              </m:r>
                              <m:rad>
                                <m:radPr>
                                  <m:degHide m:val="on"/>
                                  <m:ctrlPr>
                                    <a:rPr lang="ru-RU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ru-RU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200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ru-RU" sz="20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oMath>
                          </a14:m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5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Базовый «характерный уровень» — без него нельзя отличить норму от роста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3365361378"/>
                      </a:ext>
                    </a:extLst>
                  </a:tr>
                  <a:tr h="145447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2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Число и координаты точек вне UCL / серий (</a:t>
                          </a:r>
                          <a:r>
                            <a:rPr lang="ru-RU" sz="2000" dirty="0" err="1">
                              <a:effectLst/>
                            </a:rPr>
                            <a:t>run</a:t>
                          </a:r>
                          <a:r>
                            <a:rPr lang="ru-RU" sz="2000" dirty="0">
                              <a:effectLst/>
                            </a:rPr>
                            <a:t> </a:t>
                          </a:r>
                          <a:r>
                            <a:rPr lang="ru-RU" sz="2000" dirty="0" err="1">
                              <a:effectLst/>
                            </a:rPr>
                            <a:t>rules</a:t>
                          </a:r>
                          <a:r>
                            <a:rPr lang="ru-RU" sz="2000" dirty="0">
                              <a:effectLst/>
                            </a:rPr>
                            <a:t> </a:t>
                          </a:r>
                          <a:r>
                            <a:rPr lang="ru-RU" sz="2000" dirty="0" err="1">
                              <a:effectLst/>
                            </a:rPr>
                            <a:t>Nelson</a:t>
                          </a:r>
                          <a:r>
                            <a:rPr lang="ru-RU" sz="2000" dirty="0">
                              <a:effectLst/>
                            </a:rPr>
                            <a:t>)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5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Прямой ответ на вопрос «когда был необычный рост»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3493620289"/>
                      </a:ext>
                    </a:extLst>
                  </a:tr>
                  <a:tr h="326015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3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Индекс рассеяния (</a:t>
                          </a:r>
                          <a:r>
                            <a:rPr lang="ru-RU" sz="2000" dirty="0" err="1">
                              <a:effectLst/>
                            </a:rPr>
                            <a:t>overdispersion</a:t>
                          </a:r>
                          <a:r>
                            <a:rPr lang="ru-RU" sz="2000" dirty="0">
                              <a:effectLst/>
                            </a:rPr>
                            <a:t>)</a:t>
                          </a:r>
                        </a:p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2800"/>
                                  </m:ctrlPr>
                                </m:accPr>
                                <m:e>
                                  <m:r>
                                    <a:rPr lang="ru-RU" sz="2800"/>
                                    <m:t>𝜙</m:t>
                                  </m:r>
                                </m:e>
                              </m:acc>
                              <m:r>
                                <a:rPr lang="ru-RU" sz="2800" smtClean="0"/>
                                <m:t>=</m:t>
                              </m:r>
                              <m:sSup>
                                <m:sSupPr>
                                  <m:ctrlPr>
                                    <a:rPr lang="ru-RU" sz="2800"/>
                                  </m:ctrlPr>
                                </m:sSupPr>
                                <m:e>
                                  <m:r>
                                    <a:rPr lang="ru-RU" sz="2800"/>
                                    <m:t>𝑠</m:t>
                                  </m:r>
                                </m:e>
                                <m:sup>
                                  <m:r>
                                    <a:rPr lang="ru-RU" sz="2800"/>
                                    <m:t>2</m:t>
                                  </m:r>
                                </m:sup>
                              </m:sSup>
                              <m:r>
                                <a:rPr lang="ru-RU" sz="2800"/>
                                <m:t>/</m:t>
                              </m:r>
                              <m:acc>
                                <m:accPr>
                                  <m:chr m:val="̅"/>
                                  <m:ctrlPr>
                                    <a:rPr lang="ru-RU" sz="2800"/>
                                  </m:ctrlPr>
                                </m:accPr>
                                <m:e>
                                  <m:r>
                                    <a:rPr lang="ru-RU" sz="2800"/>
                                    <m:t>𝑐</m:t>
                                  </m:r>
                                </m:e>
                              </m:acc>
                            </m:oMath>
                          </a14:m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4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Проверка применимости Пуассона;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200"/>
                                  </m:ctrlPr>
                                </m:accPr>
                                <m:e>
                                  <m:r>
                                    <a:rPr lang="ru-RU" sz="1200"/>
                                    <m:t>𝜙</m:t>
                                  </m:r>
                                </m:e>
                              </m:acc>
                              <m:r>
                                <a:rPr lang="ru-RU" sz="1200"/>
                                <m:t>≫1</m:t>
                              </m:r>
                            </m:oMath>
                          </a14:m>
                          <a:r>
                            <a:rPr lang="ru-RU" sz="2000" dirty="0">
                              <a:effectLst/>
                            </a:rPr>
                            <a:t> → есть скрытый групповой фактор (смена, партия)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525433411"/>
                      </a:ext>
                    </a:extLst>
                  </a:tr>
                  <a:tr h="208978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4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Среднее по дням / по часам смены (групповые средние + ANOVA/</a:t>
                          </a:r>
                          <a:r>
                            <a:rPr lang="ru-RU" sz="2000" dirty="0" err="1">
                              <a:effectLst/>
                            </a:rPr>
                            <a:t>Краскел</a:t>
                          </a:r>
                          <a:r>
                            <a:rPr lang="ru-RU" sz="2000" dirty="0">
                              <a:effectLst/>
                            </a:rPr>
                            <a:t>–Уоллис)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4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Выявляет систематику: усталость к концу смены, «плохие» дни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479479996"/>
                      </a:ext>
                    </a:extLst>
                  </a:tr>
                  <a:tr h="192975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5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CUSUM / EWMA статистика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3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Даёт раннее обнаружение малых сдвигов, которые c-карта не видит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35747230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6D4F449C-1D36-D1E0-7B31-C1CAD0C8C1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7795693"/>
                  </p:ext>
                </p:extLst>
              </p:nvPr>
            </p:nvGraphicFramePr>
            <p:xfrm>
              <a:off x="1229360" y="1635541"/>
              <a:ext cx="10027920" cy="47931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78288">
                      <a:extLst>
                        <a:ext uri="{9D8B030D-6E8A-4147-A177-3AD203B41FA5}">
                          <a16:colId xmlns:a16="http://schemas.microsoft.com/office/drawing/2014/main" val="1418420375"/>
                        </a:ext>
                      </a:extLst>
                    </a:gridCol>
                    <a:gridCol w="4435672">
                      <a:extLst>
                        <a:ext uri="{9D8B030D-6E8A-4147-A177-3AD203B41FA5}">
                          <a16:colId xmlns:a16="http://schemas.microsoft.com/office/drawing/2014/main" val="2778106690"/>
                        </a:ext>
                      </a:extLst>
                    </a:gridCol>
                    <a:gridCol w="1100351">
                      <a:extLst>
                        <a:ext uri="{9D8B030D-6E8A-4147-A177-3AD203B41FA5}">
                          <a16:colId xmlns:a16="http://schemas.microsoft.com/office/drawing/2014/main" val="1352146139"/>
                        </a:ext>
                      </a:extLst>
                    </a:gridCol>
                    <a:gridCol w="3913609">
                      <a:extLst>
                        <a:ext uri="{9D8B030D-6E8A-4147-A177-3AD203B41FA5}">
                          <a16:colId xmlns:a16="http://schemas.microsoft.com/office/drawing/2014/main" val="546397500"/>
                        </a:ext>
                      </a:extLst>
                    </a:gridCol>
                  </a:tblGrid>
                  <a:tr h="443250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400" b="1" i="0" dirty="0">
                              <a:solidFill>
                                <a:srgbClr val="252B37"/>
                              </a:solidFill>
                              <a:effectLst/>
                              <a:latin typeface="Golos Text"/>
                            </a:rPr>
                            <a:t>№</a:t>
                          </a: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400" b="1">
                              <a:effectLst/>
                            </a:rPr>
                            <a:t>Показатель</a:t>
                          </a:r>
                          <a:endParaRPr lang="ru-RU" sz="2400" b="1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400" b="1">
                              <a:effectLst/>
                            </a:rPr>
                            <a:t>Балл</a:t>
                          </a:r>
                          <a:endParaRPr lang="ru-RU" sz="2400" b="1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400" b="1" dirty="0">
                              <a:effectLst/>
                            </a:rPr>
                            <a:t>Причина</a:t>
                          </a:r>
                          <a:endParaRPr lang="ru-RU" sz="2400" b="1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3856421354"/>
                      </a:ext>
                    </a:extLst>
                  </a:tr>
                  <a:tr h="991890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1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7489" marR="77489" marT="38745" marB="38745">
                        <a:blipFill>
                          <a:blip r:embed="rId2"/>
                          <a:stretch>
                            <a:fillRect l="-13187" t="-50307" r="-113324" b="-3496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5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Базовый «характерный уровень» — без него нельзя отличить норму от роста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3365361378"/>
                      </a:ext>
                    </a:extLst>
                  </a:tr>
                  <a:tr h="687090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2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Число и координаты точек вне UCL / серий (</a:t>
                          </a:r>
                          <a:r>
                            <a:rPr lang="ru-RU" sz="2000" dirty="0" err="1">
                              <a:effectLst/>
                            </a:rPr>
                            <a:t>run</a:t>
                          </a:r>
                          <a:r>
                            <a:rPr lang="ru-RU" sz="2000" dirty="0">
                              <a:effectLst/>
                            </a:rPr>
                            <a:t> </a:t>
                          </a:r>
                          <a:r>
                            <a:rPr lang="ru-RU" sz="2000" dirty="0" err="1">
                              <a:effectLst/>
                            </a:rPr>
                            <a:t>rules</a:t>
                          </a:r>
                          <a:r>
                            <a:rPr lang="ru-RU" sz="2000" dirty="0">
                              <a:effectLst/>
                            </a:rPr>
                            <a:t> </a:t>
                          </a:r>
                          <a:r>
                            <a:rPr lang="ru-RU" sz="2000" dirty="0" err="1">
                              <a:effectLst/>
                            </a:rPr>
                            <a:t>Nelson</a:t>
                          </a:r>
                          <a:r>
                            <a:rPr lang="ru-RU" sz="2000" dirty="0">
                              <a:effectLst/>
                            </a:rPr>
                            <a:t>)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5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Прямой ответ на вопрос «когда был необычный рост»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3493620289"/>
                      </a:ext>
                    </a:extLst>
                  </a:tr>
                  <a:tr h="991890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3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7489" marR="77489" marT="38745" marB="38745">
                        <a:blipFill>
                          <a:blip r:embed="rId2"/>
                          <a:stretch>
                            <a:fillRect l="-13187" t="-219018" r="-113324" b="-1809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4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7489" marR="77489" marT="38745" marB="38745">
                        <a:blipFill>
                          <a:blip r:embed="rId2"/>
                          <a:stretch>
                            <a:fillRect l="-156542" t="-219018" r="-312" b="-1809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433411"/>
                      </a:ext>
                    </a:extLst>
                  </a:tr>
                  <a:tr h="991890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4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Среднее по дням / по часам смены (групповые средние + ANOVA/</a:t>
                          </a:r>
                          <a:r>
                            <a:rPr lang="ru-RU" sz="2000" dirty="0" err="1">
                              <a:effectLst/>
                            </a:rPr>
                            <a:t>Краскел</a:t>
                          </a:r>
                          <a:r>
                            <a:rPr lang="ru-RU" sz="2000" dirty="0">
                              <a:effectLst/>
                            </a:rPr>
                            <a:t>–Уоллис)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4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Выявляет систематику: усталость к концу смены, «плохие» дни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479479996"/>
                      </a:ext>
                    </a:extLst>
                  </a:tr>
                  <a:tr h="687090"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5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CUSUM / EWMA статистика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>
                              <a:effectLst/>
                            </a:rPr>
                            <a:t>3</a:t>
                          </a:r>
                          <a:endParaRPr lang="ru-RU" sz="2000" b="0" i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tc>
                      <a:txBody>
                        <a:bodyPr/>
                        <a:lstStyle/>
                        <a:p>
                          <a:pPr marL="0" marR="0" indent="0" algn="l" fontAlgn="t">
                            <a:buNone/>
                          </a:pPr>
                          <a:r>
                            <a:rPr lang="ru-RU" sz="2000" dirty="0">
                              <a:effectLst/>
                            </a:rPr>
                            <a:t>Даёт раннее обнаружение малых сдвигов, которые c-карта не видит</a:t>
                          </a:r>
                          <a:endParaRPr lang="ru-RU" sz="2000" b="0" i="0" dirty="0">
                            <a:solidFill>
                              <a:srgbClr val="252B37"/>
                            </a:solidFill>
                            <a:effectLst/>
                            <a:latin typeface="Golos Text"/>
                          </a:endParaRPr>
                        </a:p>
                      </a:txBody>
                      <a:tcPr marL="77489" marR="77489" marT="38745" marB="38745"/>
                    </a:tc>
                    <a:extLst>
                      <a:ext uri="{0D108BD9-81ED-4DB2-BD59-A6C34878D82A}">
                        <a16:rowId xmlns:a16="http://schemas.microsoft.com/office/drawing/2014/main" val="35747230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06AA1DB-2252-F36A-4A8D-EC2CA3CB8AC9}"/>
              </a:ext>
            </a:extLst>
          </p:cNvPr>
          <p:cNvSpPr txBox="1"/>
          <p:nvPr/>
        </p:nvSpPr>
        <p:spPr>
          <a:xfrm>
            <a:off x="690880" y="518160"/>
            <a:ext cx="1112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Результат запрос к </a:t>
            </a:r>
            <a:r>
              <a:rPr lang="en-US" sz="3200" b="1" dirty="0"/>
              <a:t>LLM-</a:t>
            </a:r>
            <a:r>
              <a:rPr lang="ru-RU" sz="3200" b="1" dirty="0"/>
              <a:t>моделям</a:t>
            </a:r>
          </a:p>
        </p:txBody>
      </p:sp>
    </p:spTree>
    <p:extLst>
      <p:ext uri="{BB962C8B-B14F-4D97-AF65-F5344CB8AC3E}">
        <p14:creationId xmlns:p14="http://schemas.microsoft.com/office/powerpoint/2010/main" val="1512600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6CD789-C301-22D8-C272-3E02E7442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873"/>
            <a:ext cx="12192000" cy="508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3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62DB0B-1918-E0BB-B105-900D1DEB2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1247775"/>
            <a:ext cx="114014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4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BD7424-47D5-EFFC-F735-EFB8336CCACF}"/>
              </a:ext>
            </a:extLst>
          </p:cNvPr>
          <p:cNvSpPr txBox="1"/>
          <p:nvPr/>
        </p:nvSpPr>
        <p:spPr>
          <a:xfrm>
            <a:off x="256186" y="1086842"/>
            <a:ext cx="4813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Промт</a:t>
            </a:r>
            <a:r>
              <a:rPr lang="ru-RU" dirty="0"/>
              <a:t>: Карты </a:t>
            </a:r>
            <a:r>
              <a:rPr lang="ru-RU" dirty="0" err="1"/>
              <a:t>шухарта</a:t>
            </a:r>
            <a:r>
              <a:rPr lang="ru-RU" dirty="0"/>
              <a:t> при анализе причин брака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B185E3-50D1-79E4-502F-381DE2B79C1D}"/>
              </a:ext>
            </a:extLst>
          </p:cNvPr>
          <p:cNvSpPr txBox="1"/>
          <p:nvPr/>
        </p:nvSpPr>
        <p:spPr>
          <a:xfrm>
            <a:off x="25400" y="0"/>
            <a:ext cx="1112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Результат запрос к библиотеки знаний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93C74A-B9FE-236F-3EC8-6DE225CE7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25" y="810547"/>
            <a:ext cx="703897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7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6D2F-F0E4-BA5C-E5DB-EE7344A8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1D26CD-F09B-5435-D1F4-818C23A712B0}"/>
              </a:ext>
            </a:extLst>
          </p:cNvPr>
          <p:cNvSpPr txBox="1"/>
          <p:nvPr/>
        </p:nvSpPr>
        <p:spPr>
          <a:xfrm>
            <a:off x="256186" y="1086842"/>
            <a:ext cx="4813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Промт</a:t>
            </a:r>
            <a:r>
              <a:rPr lang="ru-RU" dirty="0"/>
              <a:t>: статистический анализ при анализе причин брака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12D6E-E0AF-3FC1-A312-C26E418A88F3}"/>
              </a:ext>
            </a:extLst>
          </p:cNvPr>
          <p:cNvSpPr txBox="1"/>
          <p:nvPr/>
        </p:nvSpPr>
        <p:spPr>
          <a:xfrm>
            <a:off x="25400" y="0"/>
            <a:ext cx="1112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Результат запрос к библиотеки знаний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DCECDC-6AB0-5731-04A1-566C0E523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443" y="399482"/>
            <a:ext cx="5280371" cy="635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8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780E64-055E-C685-B802-D08149712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6406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226706-7E9A-D99A-36E7-007FB8B4665A}"/>
              </a:ext>
            </a:extLst>
          </p:cNvPr>
          <p:cNvSpPr txBox="1"/>
          <p:nvPr/>
        </p:nvSpPr>
        <p:spPr>
          <a:xfrm>
            <a:off x="3729942" y="439394"/>
            <a:ext cx="846205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0" dirty="0">
                <a:solidFill>
                  <a:schemeClr val="tx1"/>
                </a:solidFill>
                <a:effectLst/>
                <a:latin typeface="+mn-lt"/>
              </a:rPr>
              <a:t>Инженерия данных</a:t>
            </a:r>
            <a:r>
              <a:rPr lang="ru-RU" sz="3200" b="0" i="0" dirty="0">
                <a:solidFill>
                  <a:schemeClr val="tx1"/>
                </a:solidFill>
                <a:effectLst/>
                <a:latin typeface="+mn-lt"/>
              </a:rPr>
              <a:t> — построение процесса, превращающего сырые записи датчиков и журналов в надёжный набор признаков.</a:t>
            </a:r>
          </a:p>
          <a:p>
            <a:endParaRPr lang="ru-RU" sz="3200" dirty="0"/>
          </a:p>
          <a:p>
            <a:r>
              <a:rPr lang="ru-RU" sz="3200" b="1" dirty="0"/>
              <a:t>Генерация признаков </a:t>
            </a:r>
            <a:r>
              <a:rPr lang="ru-RU" sz="3200" dirty="0"/>
              <a:t>- (также известная как конструирование признаков, </a:t>
            </a:r>
            <a:r>
              <a:rPr lang="ru-RU" sz="3200" dirty="0" err="1"/>
              <a:t>feature</a:t>
            </a:r>
            <a:r>
              <a:rPr lang="ru-RU" sz="3200" dirty="0"/>
              <a:t> </a:t>
            </a:r>
            <a:r>
              <a:rPr lang="ru-RU" sz="3200" dirty="0" err="1"/>
              <a:t>generation</a:t>
            </a:r>
            <a:r>
              <a:rPr lang="ru-RU" sz="3200" dirty="0"/>
              <a:t> или </a:t>
            </a:r>
            <a:r>
              <a:rPr lang="ru-RU" sz="3200" dirty="0" err="1"/>
              <a:t>feature</a:t>
            </a:r>
            <a:r>
              <a:rPr lang="ru-RU" sz="3200" dirty="0"/>
              <a:t> </a:t>
            </a:r>
            <a:r>
              <a:rPr lang="ru-RU" sz="3200" dirty="0" err="1"/>
              <a:t>construction</a:t>
            </a:r>
            <a:r>
              <a:rPr lang="ru-RU" sz="3200" dirty="0"/>
              <a:t>) — это процесс создания новых переменных (признаков) на основе исходных сырых данных с целью улучшения качества, точности и интерпретируемости моделей машинного обучения или аналитических задач.</a:t>
            </a:r>
          </a:p>
        </p:txBody>
      </p:sp>
    </p:spTree>
    <p:extLst>
      <p:ext uri="{BB962C8B-B14F-4D97-AF65-F5344CB8AC3E}">
        <p14:creationId xmlns:p14="http://schemas.microsoft.com/office/powerpoint/2010/main" val="115071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D930BF-3FF7-C415-C2E0-73497B102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0711"/>
            <a:ext cx="12192000" cy="591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40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87508B-9A29-DD74-0C86-C8EE8588A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5480"/>
            <a:ext cx="12192000" cy="540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11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5E5CA3-0B47-BE09-D16C-FFE6DB165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04775"/>
            <a:ext cx="11487150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747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842CF2-D96C-34E8-0530-537CC4B9F1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282"/>
          <a:stretch>
            <a:fillRect/>
          </a:stretch>
        </p:blipFill>
        <p:spPr>
          <a:xfrm>
            <a:off x="543709" y="282555"/>
            <a:ext cx="11382375" cy="306252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603025-6E28-A703-3C70-49DCBD4D3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47" y="3263880"/>
            <a:ext cx="11391900" cy="8858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803B4EC-5730-FAE2-EFE1-842CECF42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899" y="4038902"/>
            <a:ext cx="10064199" cy="217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980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F3A8DD-5439-27AD-1F9C-50F1DD595D13}"/>
              </a:ext>
            </a:extLst>
          </p:cNvPr>
          <p:cNvSpPr txBox="1"/>
          <p:nvPr/>
        </p:nvSpPr>
        <p:spPr>
          <a:xfrm>
            <a:off x="500606" y="493279"/>
            <a:ext cx="4927921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400"/>
              </a:spcBef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Первый Квартиль (Q1) - 2</a:t>
            </a:r>
          </a:p>
          <a:p>
            <a:pPr marL="0" marR="0" indent="0" algn="l">
              <a:spcBef>
                <a:spcPts val="900"/>
              </a:spcBef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Первый квартиль — это значение, которое отделяет 25%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наименьших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значений в наборе данных. На графике распределения имеет красный цвет и лежит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левее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медианы (зеленый цвет).  На графике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boxplot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это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нижняя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граница прямоугольника.</a:t>
            </a:r>
            <a:endParaRPr lang="ru-RU" sz="12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58066-849B-7E41-416F-C01E0CA52111}"/>
              </a:ext>
            </a:extLst>
          </p:cNvPr>
          <p:cNvSpPr txBox="1"/>
          <p:nvPr/>
        </p:nvSpPr>
        <p:spPr>
          <a:xfrm>
            <a:off x="500606" y="3169775"/>
            <a:ext cx="60940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spcBef>
                <a:spcPts val="2400"/>
              </a:spcBef>
              <a:buNone/>
            </a:pPr>
            <a:r>
              <a:rPr lang="ru-RU" b="1" i="0" dirty="0" err="1">
                <a:solidFill>
                  <a:srgbClr val="8959A8"/>
                </a:solidFill>
                <a:effectLst/>
                <a:latin typeface="Menlo"/>
              </a:rPr>
              <a:t>import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numpy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ru-RU" b="1" i="0" dirty="0" err="1">
                <a:solidFill>
                  <a:srgbClr val="8959A8"/>
                </a:solidFill>
                <a:effectLst/>
                <a:latin typeface="Menlo"/>
              </a:rPr>
              <a:t>as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np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>
                <a:solidFill>
                  <a:srgbClr val="8F8F8F"/>
                </a:solidFill>
                <a:effectLst/>
                <a:latin typeface="Menlo"/>
              </a:rPr>
              <a:t># Набор данных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=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np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Menlo"/>
              </a:rPr>
              <a:t>.array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([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12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15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18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20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22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25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30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40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70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])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>
                <a:solidFill>
                  <a:srgbClr val="8F8F8F"/>
                </a:solidFill>
                <a:effectLst/>
                <a:latin typeface="Menlo"/>
              </a:rPr>
              <a:t># Вычисляем Q1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Q1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=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np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Menlo"/>
              </a:rPr>
              <a:t>.quantile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0.25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print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"Список : "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  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print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f"Q1 (25-й процентиль): 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{</a:t>
            </a:r>
            <a:r>
              <a:rPr lang="ru-RU" b="0" i="0" dirty="0">
                <a:solidFill>
                  <a:srgbClr val="39728E"/>
                </a:solidFill>
                <a:effectLst/>
                <a:latin typeface="Menlo"/>
              </a:rPr>
              <a:t>Q1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}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"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  <a:endParaRPr lang="ru-RU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61C88-7FBA-0E1D-DBAC-6A47D49D4A3B}"/>
              </a:ext>
            </a:extLst>
          </p:cNvPr>
          <p:cNvSpPr txBox="1"/>
          <p:nvPr/>
        </p:nvSpPr>
        <p:spPr>
          <a:xfrm>
            <a:off x="6975059" y="3169775"/>
            <a:ext cx="521694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latinLnBrk="0">
              <a:spcBef>
                <a:spcPts val="2400"/>
              </a:spcBef>
              <a:buNone/>
            </a:pPr>
            <a:r>
              <a:rPr lang="ru-RU" b="1" i="0" dirty="0" err="1">
                <a:solidFill>
                  <a:srgbClr val="8959A8"/>
                </a:solidFill>
                <a:effectLst/>
                <a:latin typeface="Menlo"/>
              </a:rPr>
              <a:t>import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numpy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ru-RU" b="1" i="0" dirty="0" err="1">
                <a:solidFill>
                  <a:srgbClr val="8959A8"/>
                </a:solidFill>
                <a:effectLst/>
                <a:latin typeface="Menlo"/>
              </a:rPr>
              <a:t>as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np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>
                <a:solidFill>
                  <a:srgbClr val="8F8F8F"/>
                </a:solidFill>
                <a:effectLst/>
                <a:latin typeface="Menlo"/>
              </a:rPr>
              <a:t># Набор данных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=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np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Menlo"/>
              </a:rPr>
              <a:t>.array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([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12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15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18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20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22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25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30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40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70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])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>
                <a:solidFill>
                  <a:srgbClr val="8F8F8F"/>
                </a:solidFill>
                <a:effectLst/>
                <a:latin typeface="Menlo"/>
              </a:rPr>
              <a:t># Вычисляем Q3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Q3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=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np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Menlo"/>
              </a:rPr>
              <a:t>.quantile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0.75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print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"Список : "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  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print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f"Q3 (75-й процентиль): 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{</a:t>
            </a:r>
            <a:r>
              <a:rPr lang="ru-RU" b="0" i="0" dirty="0">
                <a:solidFill>
                  <a:srgbClr val="39728E"/>
                </a:solidFill>
                <a:effectLst/>
                <a:latin typeface="Menlo"/>
              </a:rPr>
              <a:t>Q3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}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"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  <a:endParaRPr lang="ru-RU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DD914-E7E5-822F-372E-73BF027FCFA6}"/>
              </a:ext>
            </a:extLst>
          </p:cNvPr>
          <p:cNvSpPr txBox="1"/>
          <p:nvPr/>
        </p:nvSpPr>
        <p:spPr>
          <a:xfrm>
            <a:off x="6099858" y="488847"/>
            <a:ext cx="6099858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2400"/>
              </a:spcBef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Третий Квартиль (Q3) - 3</a:t>
            </a:r>
          </a:p>
          <a:p>
            <a:pPr marL="0" marR="0" indent="0" algn="l">
              <a:spcBef>
                <a:spcPts val="900"/>
              </a:spcBef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Третий квартиль— это значение, которое отделяет 25%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наибольших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значений в наборе данных. На графике распределения имеет красный цвет и лежит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правее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медианы (зеленый цвет).  На графике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boxplot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это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верхняя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граница прямоугольника.</a:t>
            </a:r>
            <a:endParaRPr lang="ru-RU" sz="12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74333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66E4CD-D1E9-38CC-5406-DB0BD78FF284}"/>
              </a:ext>
            </a:extLst>
          </p:cNvPr>
          <p:cNvSpPr txBox="1"/>
          <p:nvPr/>
        </p:nvSpPr>
        <p:spPr>
          <a:xfrm>
            <a:off x="1930" y="973718"/>
            <a:ext cx="609407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spcBef>
                <a:spcPts val="2400"/>
              </a:spcBef>
              <a:buNone/>
            </a:pPr>
            <a:r>
              <a:rPr lang="ru-RU" b="0" i="0" dirty="0">
                <a:solidFill>
                  <a:srgbClr val="8F8F8F"/>
                </a:solidFill>
                <a:effectLst/>
                <a:latin typeface="Menlo"/>
              </a:rPr>
              <a:t># Определяем границы для выбросов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upper_outlier_threshold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= </a:t>
            </a:r>
            <a:r>
              <a:rPr lang="ru-RU" b="0" i="0" dirty="0">
                <a:solidFill>
                  <a:srgbClr val="39728E"/>
                </a:solidFill>
                <a:effectLst/>
                <a:latin typeface="Menlo"/>
              </a:rPr>
              <a:t>Q3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+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1.5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* </a:t>
            </a:r>
            <a:r>
              <a:rPr lang="ru-RU" b="0" i="0" dirty="0">
                <a:solidFill>
                  <a:srgbClr val="39728E"/>
                </a:solidFill>
                <a:effectLst/>
                <a:latin typeface="Menlo"/>
              </a:rPr>
              <a:t>IQR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lower_outlier_threshold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= </a:t>
            </a:r>
            <a:r>
              <a:rPr lang="ru-RU" b="0" i="0" dirty="0">
                <a:solidFill>
                  <a:srgbClr val="39728E"/>
                </a:solidFill>
                <a:effectLst/>
                <a:latin typeface="Menlo"/>
              </a:rPr>
              <a:t>Q1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- </a:t>
            </a:r>
            <a:r>
              <a:rPr lang="ru-RU" b="0" i="0" dirty="0">
                <a:solidFill>
                  <a:srgbClr val="F57D05"/>
                </a:solidFill>
                <a:effectLst/>
                <a:latin typeface="Menlo"/>
              </a:rPr>
              <a:t>1.5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* </a:t>
            </a:r>
            <a:r>
              <a:rPr lang="ru-RU" b="0" i="0" dirty="0">
                <a:solidFill>
                  <a:srgbClr val="39728E"/>
                </a:solidFill>
                <a:effectLst/>
                <a:latin typeface="Menlo"/>
              </a:rPr>
              <a:t>IQR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>
                <a:solidFill>
                  <a:srgbClr val="8F8F8F"/>
                </a:solidFill>
                <a:effectLst/>
                <a:latin typeface="Menlo"/>
              </a:rPr>
              <a:t># Находим выбросы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outliers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=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[(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&lt;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lower_outlier_threshold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 | (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 &gt;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upper_outlier_threshold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)]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print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"Список : "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data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print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 err="1">
                <a:solidFill>
                  <a:srgbClr val="7BA800"/>
                </a:solidFill>
                <a:effectLst/>
                <a:latin typeface="Menlo"/>
              </a:rPr>
              <a:t>f"Верхняя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 граница выбросов: 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{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upper_outlier_threshold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}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"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print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 err="1">
                <a:solidFill>
                  <a:srgbClr val="7BA800"/>
                </a:solidFill>
                <a:effectLst/>
                <a:latin typeface="Menlo"/>
              </a:rPr>
              <a:t>f"Нижняя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 граница выбросов: 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{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lower_outlier_threshold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}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"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  <a:br>
              <a:rPr lang="ru-RU" b="0" i="0" dirty="0">
                <a:solidFill>
                  <a:srgbClr val="333333"/>
                </a:solidFill>
                <a:effectLst/>
                <a:latin typeface="Menlo"/>
              </a:rPr>
            </a:b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print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ru-RU" b="0" i="0" dirty="0" err="1">
                <a:solidFill>
                  <a:srgbClr val="7BA800"/>
                </a:solidFill>
                <a:effectLst/>
                <a:latin typeface="Menlo"/>
              </a:rPr>
              <a:t>f"Выбросы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: 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{</a:t>
            </a:r>
            <a:r>
              <a:rPr lang="ru-RU" b="0" i="0" dirty="0" err="1">
                <a:solidFill>
                  <a:srgbClr val="39728E"/>
                </a:solidFill>
                <a:effectLst/>
                <a:latin typeface="Menlo"/>
              </a:rPr>
              <a:t>outliers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}</a:t>
            </a:r>
            <a:r>
              <a:rPr lang="ru-RU" b="0" i="0" dirty="0">
                <a:solidFill>
                  <a:srgbClr val="7BA800"/>
                </a:solidFill>
                <a:effectLst/>
                <a:latin typeface="Menlo"/>
              </a:rPr>
              <a:t>"</a:t>
            </a:r>
            <a:r>
              <a:rPr lang="ru-RU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  <a:endParaRPr lang="ru-RU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6" name="Рисунок 5" descr="Распределение данных: ящик с усами и гистограмма">
            <a:extLst>
              <a:ext uri="{FF2B5EF4-FFF2-40B4-BE49-F238E27FC236}">
                <a16:creationId xmlns:a16="http://schemas.microsoft.com/office/drawing/2014/main" id="{DD7F56E6-C2B0-D33E-8925-728F2B2BE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718" y="973719"/>
            <a:ext cx="6370975" cy="424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50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BF81D2-EB1B-4FED-5494-85C4B740B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914"/>
            <a:ext cx="12192000" cy="2138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F5FA17-6CB6-64DD-9335-0F6DCF3746B5}"/>
              </a:ext>
            </a:extLst>
          </p:cNvPr>
          <p:cNvSpPr txBox="1"/>
          <p:nvPr/>
        </p:nvSpPr>
        <p:spPr>
          <a:xfrm>
            <a:off x="211721" y="281539"/>
            <a:ext cx="11768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Карта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Шухарта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— график значений статистики подгрупп (среднее, размах, доля дефектных) в зависимости от номера подгруппы. Три линии:</a:t>
            </a:r>
            <a:endParaRPr lang="ru-RU" dirty="0"/>
          </a:p>
        </p:txBody>
      </p:sp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CC9FF1F4-CFAE-A6C1-CBF9-A99350CBE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765" y="3098861"/>
            <a:ext cx="8420582" cy="371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59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F3B563-E6EA-8880-980C-892CC526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524"/>
            <a:ext cx="12192000" cy="46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3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F64C03-36AF-F51E-8272-0ED8F4FAF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58"/>
          <a:stretch>
            <a:fillRect/>
          </a:stretch>
        </p:blipFill>
        <p:spPr>
          <a:xfrm>
            <a:off x="428689" y="248855"/>
            <a:ext cx="11334622" cy="63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16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861878-25B2-7603-3839-1873231B8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988"/>
            <a:ext cx="12192000" cy="535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61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C873B1-1BC9-59B6-74F7-665479AA0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7887"/>
            <a:ext cx="12192000" cy="52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01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9E82F2-BA8B-9575-2F03-CA705F97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160"/>
            <a:ext cx="12192000" cy="531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00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A06A1E-0B4B-D8DB-2EF3-2093D7EA0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7497"/>
            <a:ext cx="12192000" cy="434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39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C46BCC-2192-21FC-789B-DCA8911B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387"/>
            <a:ext cx="12192000" cy="3453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8AF0E4-FF69-4215-5FCB-FC8F56CB8768}"/>
              </a:ext>
            </a:extLst>
          </p:cNvPr>
          <p:cNvSpPr txBox="1"/>
          <p:nvPr/>
        </p:nvSpPr>
        <p:spPr>
          <a:xfrm>
            <a:off x="127322" y="173620"/>
            <a:ext cx="11690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Кластеризация</a:t>
            </a:r>
          </a:p>
        </p:txBody>
      </p:sp>
    </p:spTree>
    <p:extLst>
      <p:ext uri="{BB962C8B-B14F-4D97-AF65-F5344CB8AC3E}">
        <p14:creationId xmlns:p14="http://schemas.microsoft.com/office/powerpoint/2010/main" val="235504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CA2F7E-89FA-FD91-5CAD-8151281F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7431"/>
            <a:ext cx="12192000" cy="398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34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C886C4-AD71-52AE-A08F-E5B3A0B43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504"/>
            <a:ext cx="12192000" cy="405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32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363A29-9E72-E0A9-2D54-7BACA344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693"/>
            <a:ext cx="12192000" cy="485947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D66482-89DB-548A-95B0-70E92DE76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17166"/>
            <a:ext cx="12192000" cy="71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4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33372C-48DF-32A3-DC2F-5708CFAFB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951"/>
            <a:ext cx="12192000" cy="619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43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1161</Words>
  <Application>Microsoft Office PowerPoint</Application>
  <PresentationFormat>Широкоэкранный</PresentationFormat>
  <Paragraphs>134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6" baseType="lpstr">
      <vt:lpstr>-apple-system</vt:lpstr>
      <vt:lpstr>Arial</vt:lpstr>
      <vt:lpstr>Calibri</vt:lpstr>
      <vt:lpstr>Cambria Math</vt:lpstr>
      <vt:lpstr>Courier New</vt:lpstr>
      <vt:lpstr>Golos Text</vt:lpstr>
      <vt:lpstr>Menlo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Данные и инженерия данных</dc:title>
  <dc:subject>PptxGenJS Presentation</dc:subject>
  <dc:creator>Created by Marp</dc:creator>
  <cp:lastModifiedBy>Oesune</cp:lastModifiedBy>
  <cp:revision>15</cp:revision>
  <dcterms:created xsi:type="dcterms:W3CDTF">2026-09-02T12:45:20Z</dcterms:created>
  <dcterms:modified xsi:type="dcterms:W3CDTF">2026-09-17T06:57:06Z</dcterms:modified>
</cp:coreProperties>
</file>