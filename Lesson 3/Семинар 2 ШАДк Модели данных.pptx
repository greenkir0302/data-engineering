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64" r:id="rId5"/>
    <p:sldId id="265" r:id="rId6"/>
    <p:sldId id="266" r:id="rId7"/>
    <p:sldId id="267" r:id="rId8"/>
    <p:sldId id="261" r:id="rId9"/>
    <p:sldId id="262" r:id="rId10"/>
    <p:sldId id="258" r:id="rId11"/>
    <p:sldId id="259" r:id="rId12"/>
    <p:sldId id="260" r:id="rId13"/>
    <p:sldId id="268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04F"/>
    <a:srgbClr val="616161"/>
    <a:srgbClr val="BBBB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7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F4A1A0-BE38-36FC-B223-DA0D3BB6D9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2654F15-E7E1-F345-AE73-242694E178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EB40500-AABF-6E14-6CDD-EE962E859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75F5F-CD6D-42B9-BACB-44BA489E1702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94C2C93-CA26-A87A-1337-86C606674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9BBFE6B-3567-9964-1668-E3CCBEDB4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607B9-1B1A-4937-A9E4-DC92D8206C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6486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C71C91-03A6-C58E-F570-4A8A7D66D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A5FA1D-1549-0E28-E80F-CBAD41ED80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2C63393-2C7A-7B78-F770-C5CB28A9D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75F5F-CD6D-42B9-BACB-44BA489E1702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3BED3CA-F0AB-77F1-09CD-553BF6B98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BEDFBA4-A538-0D37-2C6B-3411293BF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607B9-1B1A-4937-A9E4-DC92D8206C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7572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7945F9-C284-F043-7551-77086C972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FE3E5F0-46DD-663D-4EE8-F9E7E63F3E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3AD1118-B10E-9368-D6FB-D0062673C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75F5F-CD6D-42B9-BACB-44BA489E1702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53EA4C7-4315-B465-A531-22226AE05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54FFDDB-4550-194F-298C-4BF068862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607B9-1B1A-4937-A9E4-DC92D8206C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7638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35799A-7B64-519D-5AAC-B2B6143E8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35D87A-F8BF-CA29-1A1B-E19A7F2250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D02FD28-2DF3-BDAE-E535-5A20251DD4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9DFA669-3CD9-11C4-0BC5-BEBFF4A64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75F5F-CD6D-42B9-BACB-44BA489E1702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26AAC18-5299-4796-CAAD-31AE3BB35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F1C4F29-2AD7-8E44-A7EF-04A4676D8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607B9-1B1A-4937-A9E4-DC92D8206C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3404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3C5B5C-D86B-D597-431E-8A452AA66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16CF23-45B7-1F90-8E76-A79E6CA885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5B9840A-0327-72DB-17C6-03F44AF465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B985E48-6210-061B-4413-F2B0A77352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614BD3E9-B762-39D5-1D15-281E5952B4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2917046-79DC-D9F6-445A-F63355CBD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75F5F-CD6D-42B9-BACB-44BA489E1702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6491AF7-3056-7F0A-51EA-BD0DEE36F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6E31A8E-30D4-495B-860E-6BE5C7971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607B9-1B1A-4937-A9E4-DC92D8206C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6241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EEC051-BFE7-7487-A356-C5F762CA8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F5BDDF1-FFD2-F2AE-5739-D97AEEEAE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75F5F-CD6D-42B9-BACB-44BA489E1702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982ABC7-B1BE-0399-1EDD-F8DC0907E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FF70759-E2D1-D741-9166-9C2D66326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607B9-1B1A-4937-A9E4-DC92D8206C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07174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3A1F7B8-DCD9-5DD7-371A-B16AC99AF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75F5F-CD6D-42B9-BACB-44BA489E1702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B2B81BFE-121A-09D9-F0F9-582647C92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7B177BE-6AE8-3197-6016-0DB504F8D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607B9-1B1A-4937-A9E4-DC92D8206C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5936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A8503B-657F-AA34-3DBC-37910C336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01ED8A7-4F09-683C-3781-B14AD033C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7CE05D7-8395-B999-9E8E-578AE313EB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AF251B2-883F-CC20-693D-48B786403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75F5F-CD6D-42B9-BACB-44BA489E1702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B4AA029-D9D8-458D-2189-4EF1CC96D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17FB1A8-5A3E-5CA8-2BD7-496147368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607B9-1B1A-4937-A9E4-DC92D8206C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0646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E74FA0-315D-E6B0-A1D9-CDE831EB0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DB5DDA3-7589-81F2-6AF4-7C6D925184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48CA5A0-88C5-485E-985A-8BD9212A18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6B6E8E6-768A-9B13-A6F0-BF9A5854D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75F5F-CD6D-42B9-BACB-44BA489E1702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84E0C9F-43CB-5DAE-09FC-8B4829A21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89EC0B8-8F5A-08F4-E047-35ACB938C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607B9-1B1A-4937-A9E4-DC92D8206C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844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B75983-BE7F-1EA9-716E-F42599871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0D5C03B-73DC-871D-FF07-E4EB2FEB9D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292EADC-1B74-193F-CB94-F0F10D2DF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75F5F-CD6D-42B9-BACB-44BA489E1702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91F938E-70C2-9411-764A-C399B56CD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9BE6EAF-6C89-85D6-2FDD-A2A4A92AB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607B9-1B1A-4937-A9E4-DC92D8206C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9798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CFADF50-06E2-491C-3876-5FFF21A86F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19E0F5A-F3A3-FCFE-2559-0B2AD3C26B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62970FB-7405-E057-3448-A7E006FAD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75F5F-CD6D-42B9-BACB-44BA489E1702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388F57-6EEF-FF05-1A48-6BC909A6D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7A87FA9-7C2E-EB45-3E12-A46AC1524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E607B9-1B1A-4937-A9E4-DC92D8206C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8121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8AE64B-8DE2-CF3B-9206-3DB974137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37FC3BA-7A0C-FF5F-F720-5EC8B9158A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E34502A-A726-818C-3778-9ADC595580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75F5F-CD6D-42B9-BACB-44BA489E1702}" type="datetimeFigureOut">
              <a:rPr lang="ru-RU" smtClean="0"/>
              <a:t>17.09.2026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A208133-F7EA-8A47-D38B-106EFE6184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C6CC3C6-863C-AC05-E1FE-2912FF7FE1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E607B9-1B1A-4937-A9E4-DC92D8206C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0804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3D701E4-A40D-A8FB-DB57-45B81BD38F2B}"/>
              </a:ext>
            </a:extLst>
          </p:cNvPr>
          <p:cNvSpPr txBox="1"/>
          <p:nvPr/>
        </p:nvSpPr>
        <p:spPr>
          <a:xfrm>
            <a:off x="108154" y="234319"/>
            <a:ext cx="11926529" cy="2054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400"/>
              </a:spcBef>
              <a:buNone/>
            </a:pPr>
            <a:r>
              <a:rPr lang="ru-RU" sz="2400" b="1" i="0" dirty="0">
                <a:solidFill>
                  <a:srgbClr val="333333"/>
                </a:solidFill>
                <a:effectLst/>
                <a:latin typeface="Fira Sans" panose="020B0503050000020004" pitchFamily="34" charset="0"/>
              </a:rPr>
              <a:t>Что такое моделирование данных</a:t>
            </a:r>
          </a:p>
          <a:p>
            <a:pPr algn="just">
              <a:spcBef>
                <a:spcPts val="900"/>
              </a:spcBef>
              <a:buNone/>
            </a:pPr>
            <a:r>
              <a:rPr lang="ru-RU" sz="2400" b="1" i="0" dirty="0">
                <a:solidFill>
                  <a:srgbClr val="333333"/>
                </a:solidFill>
                <a:effectLst/>
                <a:latin typeface="-apple-system"/>
              </a:rPr>
              <a:t>Моделирование данных </a:t>
            </a:r>
            <a:r>
              <a:rPr lang="ru-RU" sz="2400" b="0" i="0" dirty="0">
                <a:solidFill>
                  <a:srgbClr val="333333"/>
                </a:solidFill>
                <a:effectLst/>
                <a:latin typeface="-apple-system"/>
              </a:rPr>
              <a:t>— это создание визуального представления о всей информационной системе либо ее части. Цель в том, чтобы проиллюстрировать типы данных, которые используются и хранятся в системе, отношения между этими типами данных, способы группировки и организации данных, их форматы и атрибуты.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EB81F3D3-418A-6EC8-697B-35B746BF72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2014272"/>
              </p:ext>
            </p:extLst>
          </p:nvPr>
        </p:nvGraphicFramePr>
        <p:xfrm>
          <a:off x="786578" y="2752039"/>
          <a:ext cx="10569680" cy="3761868"/>
        </p:xfrm>
        <a:graphic>
          <a:graphicData uri="http://schemas.openxmlformats.org/drawingml/2006/table">
            <a:tbl>
              <a:tblPr/>
              <a:tblGrid>
                <a:gridCol w="2642420">
                  <a:extLst>
                    <a:ext uri="{9D8B030D-6E8A-4147-A177-3AD203B41FA5}">
                      <a16:colId xmlns:a16="http://schemas.microsoft.com/office/drawing/2014/main" val="595709242"/>
                    </a:ext>
                  </a:extLst>
                </a:gridCol>
                <a:gridCol w="2642420">
                  <a:extLst>
                    <a:ext uri="{9D8B030D-6E8A-4147-A177-3AD203B41FA5}">
                      <a16:colId xmlns:a16="http://schemas.microsoft.com/office/drawing/2014/main" val="2595374936"/>
                    </a:ext>
                  </a:extLst>
                </a:gridCol>
                <a:gridCol w="2642420">
                  <a:extLst>
                    <a:ext uri="{9D8B030D-6E8A-4147-A177-3AD203B41FA5}">
                      <a16:colId xmlns:a16="http://schemas.microsoft.com/office/drawing/2014/main" val="3274615658"/>
                    </a:ext>
                  </a:extLst>
                </a:gridCol>
                <a:gridCol w="2642420">
                  <a:extLst>
                    <a:ext uri="{9D8B030D-6E8A-4147-A177-3AD203B41FA5}">
                      <a16:colId xmlns:a16="http://schemas.microsoft.com/office/drawing/2014/main" val="1404818378"/>
                    </a:ext>
                  </a:extLst>
                </a:gridCol>
              </a:tblGrid>
              <a:tr h="252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b="1">
                          <a:effectLst/>
                        </a:rPr>
                        <a:t>Аспект</a:t>
                      </a:r>
                    </a:p>
                  </a:txBody>
                  <a:tcPr marL="58018" marR="58018" marT="29009" marB="29009" anchor="ctr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b="1">
                          <a:effectLst/>
                        </a:rPr>
                        <a:t>Концептуальная Модель</a:t>
                      </a:r>
                    </a:p>
                  </a:txBody>
                  <a:tcPr marL="58018" marR="58018" marT="29009" marB="29009" anchor="ctr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b="1">
                          <a:effectLst/>
                        </a:rPr>
                        <a:t>Логическая Модель</a:t>
                      </a:r>
                    </a:p>
                  </a:txBody>
                  <a:tcPr marL="58018" marR="58018" marT="29009" marB="29009" anchor="ctr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b="1">
                          <a:effectLst/>
                        </a:rPr>
                        <a:t>Физическая Модель</a:t>
                      </a:r>
                    </a:p>
                  </a:txBody>
                  <a:tcPr marL="58018" marR="58018" marT="29009" marB="29009" anchor="ctr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7451218"/>
                  </a:ext>
                </a:extLst>
              </a:tr>
              <a:tr h="4779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b="1" dirty="0">
                          <a:effectLst/>
                        </a:rPr>
                        <a:t>Основная область размышлений/внимания</a:t>
                      </a:r>
                      <a:endParaRPr lang="ru-RU" sz="1600" dirty="0">
                        <a:effectLst/>
                      </a:endParaRPr>
                    </a:p>
                  </a:txBody>
                  <a:tcPr marL="58018" marR="58018" marT="29009" marB="29009" anchor="ctr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>
                          <a:effectLst/>
                        </a:rPr>
                        <a:t>Определяет сущности и связи высокого уровня.</a:t>
                      </a:r>
                    </a:p>
                  </a:txBody>
                  <a:tcPr marL="58018" marR="58018" marT="29009" marB="29009" anchor="ctr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>
                          <a:effectLst/>
                        </a:rPr>
                        <a:t>Определяет организацию данных и связи между ними.</a:t>
                      </a:r>
                    </a:p>
                  </a:txBody>
                  <a:tcPr marL="58018" marR="58018" marT="29009" marB="29009" anchor="ctr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>
                          <a:effectLst/>
                        </a:rPr>
                        <a:t>Занимается техническими аспектами реализации.</a:t>
                      </a:r>
                    </a:p>
                  </a:txBody>
                  <a:tcPr marL="58018" marR="58018" marT="29009" marB="29009" anchor="ctr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5934826"/>
                  </a:ext>
                </a:extLst>
              </a:tr>
              <a:tr h="4779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b="1" dirty="0">
                          <a:effectLst/>
                        </a:rPr>
                        <a:t>Цель</a:t>
                      </a:r>
                      <a:endParaRPr lang="ru-RU" sz="1600" dirty="0">
                        <a:effectLst/>
                      </a:endParaRPr>
                    </a:p>
                  </a:txBody>
                  <a:tcPr marL="58018" marR="58018" marT="29009" marB="29009" anchor="ctr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>
                          <a:effectLst/>
                        </a:rPr>
                        <a:t>Представляет бизнес-концепции и требования.</a:t>
                      </a:r>
                    </a:p>
                  </a:txBody>
                  <a:tcPr marL="58018" marR="58018" marT="29009" marB="29009" anchor="ctr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>
                          <a:effectLst/>
                        </a:rPr>
                        <a:t>Преобразует концептуальную модель в подробную форму.</a:t>
                      </a:r>
                    </a:p>
                  </a:txBody>
                  <a:tcPr marL="58018" marR="58018" marT="29009" marB="29009" anchor="ctr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>
                          <a:effectLst/>
                        </a:rPr>
                        <a:t>Указывает на реализацию в конкретной системе.</a:t>
                      </a:r>
                    </a:p>
                  </a:txBody>
                  <a:tcPr marL="58018" marR="58018" marT="29009" marB="29009" anchor="ctr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3417137"/>
                  </a:ext>
                </a:extLst>
              </a:tr>
              <a:tr h="4779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b="1" dirty="0">
                          <a:effectLst/>
                        </a:rPr>
                        <a:t>Абстракция</a:t>
                      </a:r>
                      <a:endParaRPr lang="ru-RU" sz="1600" dirty="0">
                        <a:effectLst/>
                      </a:endParaRPr>
                    </a:p>
                  </a:txBody>
                  <a:tcPr marL="58018" marR="58018" marT="29009" marB="29009" anchor="ctr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>
                          <a:effectLst/>
                        </a:rPr>
                        <a:t>Высокоуровневая абстракция; то, что должна делать система.</a:t>
                      </a:r>
                    </a:p>
                  </a:txBody>
                  <a:tcPr marL="58018" marR="58018" marT="29009" marB="29009" anchor="ctr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>
                          <a:effectLst/>
                        </a:rPr>
                        <a:t>Абстракция среднего уровня; способ организации данных.</a:t>
                      </a:r>
                    </a:p>
                  </a:txBody>
                  <a:tcPr marL="58018" marR="58018" marT="29009" marB="29009" anchor="ctr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>
                          <a:effectLst/>
                        </a:rPr>
                        <a:t>Низкоуровневая абстракция; техническая реализация.</a:t>
                      </a:r>
                    </a:p>
                  </a:txBody>
                  <a:tcPr marL="58018" marR="58018" marT="29009" marB="29009" anchor="ctr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4363312"/>
                  </a:ext>
                </a:extLst>
              </a:tr>
              <a:tr h="3651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b="1" dirty="0">
                          <a:effectLst/>
                        </a:rPr>
                        <a:t>Заинтересованные стороны</a:t>
                      </a:r>
                      <a:endParaRPr lang="ru-RU" sz="1600" dirty="0">
                        <a:effectLst/>
                      </a:endParaRPr>
                    </a:p>
                  </a:txBody>
                  <a:tcPr marL="58018" marR="58018" marT="29009" marB="29009" anchor="ctr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>
                          <a:effectLst/>
                        </a:rPr>
                        <a:t>Бизнес-аналитики, заинтересованные стороны.</a:t>
                      </a:r>
                    </a:p>
                  </a:txBody>
                  <a:tcPr marL="58018" marR="58018" marT="29009" marB="29009" anchor="ctr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>
                          <a:effectLst/>
                        </a:rPr>
                        <a:t>Проектировщики баз данных, разработчики.</a:t>
                      </a:r>
                    </a:p>
                  </a:txBody>
                  <a:tcPr marL="58018" marR="58018" marT="29009" marB="29009" anchor="ctr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>
                          <a:effectLst/>
                        </a:rPr>
                        <a:t>Администраторы баз данных, архитекторы.</a:t>
                      </a:r>
                    </a:p>
                  </a:txBody>
                  <a:tcPr marL="58018" marR="58018" marT="29009" marB="29009" anchor="ctr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3776471"/>
                  </a:ext>
                </a:extLst>
              </a:tr>
              <a:tr h="5907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b="1">
                          <a:effectLst/>
                        </a:rPr>
                        <a:t>Пример</a:t>
                      </a:r>
                      <a:endParaRPr lang="ru-RU" sz="1600">
                        <a:effectLst/>
                      </a:endParaRPr>
                    </a:p>
                  </a:txBody>
                  <a:tcPr marL="58018" marR="58018" marT="29009" marB="29009" anchor="ctr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>
                          <a:effectLst/>
                        </a:rPr>
                        <a:t>Диаграммы «сущность-связь» (</a:t>
                      </a:r>
                      <a:r>
                        <a:rPr lang="en-US" sz="1600">
                          <a:effectLst/>
                        </a:rPr>
                        <a:t>ER).</a:t>
                      </a:r>
                    </a:p>
                  </a:txBody>
                  <a:tcPr marL="58018" marR="58018" marT="29009" marB="29009" anchor="ctr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>
                          <a:effectLst/>
                        </a:rPr>
                        <a:t>Расширенные диаграммы «сущность-связь» (</a:t>
                      </a:r>
                      <a:r>
                        <a:rPr lang="en-US" sz="1600">
                          <a:effectLst/>
                        </a:rPr>
                        <a:t>Enhanced Entity-Relationship, EER).</a:t>
                      </a:r>
                    </a:p>
                  </a:txBody>
                  <a:tcPr marL="58018" marR="58018" marT="29009" marB="29009" anchor="ctr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sz="1600" dirty="0">
                          <a:effectLst/>
                        </a:rPr>
                        <a:t>Диаграммы схемы базы данных.</a:t>
                      </a:r>
                    </a:p>
                  </a:txBody>
                  <a:tcPr marL="58018" marR="58018" marT="29009" marB="29009" anchor="ctr">
                    <a:lnL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4642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3681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81610F-DB5D-BA94-282B-787AC133F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7765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i="0" dirty="0">
                <a:solidFill>
                  <a:srgbClr val="333333"/>
                </a:solidFill>
                <a:effectLst/>
                <a:latin typeface="-apple-system"/>
              </a:rPr>
              <a:t>Концептуальные модели данных.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 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05B6F1-43C7-AE48-BC9E-A57A786A9270}"/>
              </a:ext>
            </a:extLst>
          </p:cNvPr>
          <p:cNvSpPr txBox="1"/>
          <p:nvPr/>
        </p:nvSpPr>
        <p:spPr>
          <a:xfrm>
            <a:off x="157317" y="1085050"/>
            <a:ext cx="4397098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Также они называются моделями </a:t>
            </a:r>
            <a:r>
              <a:rPr lang="ru-RU" b="1" i="0" dirty="0">
                <a:solidFill>
                  <a:srgbClr val="333333"/>
                </a:solidFill>
                <a:effectLst/>
                <a:latin typeface="-apple-system"/>
              </a:rPr>
              <a:t>предметной области 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и описывают общую картину: </a:t>
            </a:r>
          </a:p>
          <a:p>
            <a:pPr marL="285750" indent="-285750" algn="just">
              <a:buFontTx/>
              <a:buChar char="-"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что будет содержать система; </a:t>
            </a:r>
          </a:p>
          <a:p>
            <a:pPr marL="285750" indent="-285750" algn="just">
              <a:buFontTx/>
              <a:buChar char="-"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как она будет организована;  </a:t>
            </a:r>
          </a:p>
          <a:p>
            <a:pPr marL="285750" indent="-285750" algn="just">
              <a:buFontTx/>
              <a:buChar char="-"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какие бизнес-правила будут задействованы. </a:t>
            </a:r>
          </a:p>
          <a:p>
            <a:pPr algn="just"/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Концептуальные модели обычно создаются в процессе сбора </a:t>
            </a:r>
            <a:r>
              <a:rPr lang="ru-RU" b="0" i="1" dirty="0">
                <a:solidFill>
                  <a:srgbClr val="333333"/>
                </a:solidFill>
                <a:effectLst/>
                <a:latin typeface="-apple-system"/>
              </a:rPr>
              <a:t>исходных требований к проекту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. Как правило, они включают:</a:t>
            </a:r>
          </a:p>
          <a:p>
            <a:pPr marL="285750" indent="-285750" algn="just">
              <a:buFontTx/>
              <a:buChar char="-"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классы сущностей (вещи, которые бизнесу важно представить в модели данных),</a:t>
            </a:r>
          </a:p>
          <a:p>
            <a:pPr marL="285750" indent="-285750" algn="just">
              <a:buFontTx/>
              <a:buChar char="-"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 их характеристики и ограничения, </a:t>
            </a:r>
          </a:p>
          <a:p>
            <a:pPr marL="285750" indent="-285750" algn="just">
              <a:buFontTx/>
              <a:buChar char="-"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отношения между сущностями, требования к безопасности и целостности данных.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62684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BA406-B942-57FF-9593-25EB2B594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52D32C-A93A-AD49-A00B-1B982EC62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7323"/>
            <a:ext cx="12260826" cy="637765"/>
          </a:xfrm>
        </p:spPr>
        <p:txBody>
          <a:bodyPr>
            <a:noAutofit/>
          </a:bodyPr>
          <a:lstStyle/>
          <a:p>
            <a:pPr algn="ctr"/>
            <a:r>
              <a:rPr lang="ru-RU" sz="3200" b="1" i="0" dirty="0">
                <a:solidFill>
                  <a:srgbClr val="333333"/>
                </a:solidFill>
                <a:effectLst/>
                <a:latin typeface="-apple-system"/>
              </a:rPr>
              <a:t>Концептуальные модели данных. Правила описания</a:t>
            </a:r>
            <a:r>
              <a:rPr lang="ru-RU" sz="3200" b="0" i="0" dirty="0">
                <a:solidFill>
                  <a:srgbClr val="333333"/>
                </a:solidFill>
                <a:effectLst/>
                <a:latin typeface="-apple-system"/>
              </a:rPr>
              <a:t> </a:t>
            </a:r>
            <a:endParaRPr lang="ru-RU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D179EE-3852-6663-E9D5-0126342C7EED}"/>
              </a:ext>
            </a:extLst>
          </p:cNvPr>
          <p:cNvSpPr txBox="1"/>
          <p:nvPr/>
        </p:nvSpPr>
        <p:spPr>
          <a:xfrm>
            <a:off x="157317" y="927734"/>
            <a:ext cx="4257367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Также они называются моделями </a:t>
            </a:r>
            <a:r>
              <a:rPr lang="ru-RU" b="1" i="0" dirty="0">
                <a:solidFill>
                  <a:srgbClr val="333333"/>
                </a:solidFill>
                <a:effectLst/>
                <a:latin typeface="-apple-system"/>
              </a:rPr>
              <a:t>предметной области 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и описывают общую картину: </a:t>
            </a:r>
          </a:p>
          <a:p>
            <a:pPr marL="285750" indent="-285750" algn="just">
              <a:buFontTx/>
              <a:buChar char="-"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что будет содержать система (сущности); </a:t>
            </a:r>
          </a:p>
          <a:p>
            <a:pPr marL="285750" indent="-285750" algn="just">
              <a:buFontTx/>
              <a:buChar char="-"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как она будет организована (связи);  </a:t>
            </a:r>
          </a:p>
          <a:p>
            <a:pPr marL="285750" indent="-285750" algn="just">
              <a:buFontTx/>
              <a:buChar char="-"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какие бизнес-правила будут задействованы. </a:t>
            </a:r>
          </a:p>
          <a:p>
            <a:pPr algn="just"/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Концептуальные модели обычно создаются в процессе сбора </a:t>
            </a:r>
            <a:r>
              <a:rPr lang="ru-RU" b="0" i="1" dirty="0">
                <a:solidFill>
                  <a:srgbClr val="333333"/>
                </a:solidFill>
                <a:effectLst/>
                <a:latin typeface="-apple-system"/>
              </a:rPr>
              <a:t>исходных требований к проекту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. Как правило, они включают:</a:t>
            </a:r>
          </a:p>
          <a:p>
            <a:pPr marL="285750" indent="-285750" algn="just">
              <a:buFontTx/>
              <a:buChar char="-"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классы сущностей (вещи, которые бизнесу важно представить в модели данных),</a:t>
            </a:r>
          </a:p>
          <a:p>
            <a:pPr marL="285750" indent="-285750" algn="just">
              <a:buFontTx/>
              <a:buChar char="-"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 их характеристики и ограничения, </a:t>
            </a:r>
          </a:p>
          <a:p>
            <a:pPr marL="285750" indent="-285750" algn="just">
              <a:buFontTx/>
              <a:buChar char="-"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отношения между сущностями, требования к безопасности и целостности данных. </a:t>
            </a:r>
            <a:endParaRPr lang="ru-RU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558F78D-4AFB-BD92-B9A0-BD7F992C7DFF}"/>
              </a:ext>
            </a:extLst>
          </p:cNvPr>
          <p:cNvSpPr/>
          <p:nvPr/>
        </p:nvSpPr>
        <p:spPr>
          <a:xfrm>
            <a:off x="4945626" y="725088"/>
            <a:ext cx="7315200" cy="121647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dirty="0">
                <a:solidFill>
                  <a:schemeClr val="tx1"/>
                </a:solidFill>
              </a:rPr>
              <a:t>Нотации и «рыночный навык»:</a:t>
            </a:r>
          </a:p>
          <a:p>
            <a:r>
              <a:rPr lang="ru-RU" b="1" dirty="0">
                <a:solidFill>
                  <a:schemeClr val="tx1"/>
                </a:solidFill>
              </a:rPr>
              <a:t>ER-диаграмма</a:t>
            </a:r>
            <a:r>
              <a:rPr lang="ru-RU" dirty="0">
                <a:solidFill>
                  <a:schemeClr val="tx1"/>
                </a:solidFill>
              </a:rPr>
              <a:t> (диаграмма «сущность-связь»), </a:t>
            </a:r>
          </a:p>
          <a:p>
            <a:r>
              <a:rPr lang="ru-RU" b="1" dirty="0">
                <a:solidFill>
                  <a:schemeClr val="tx1"/>
                </a:solidFill>
              </a:rPr>
              <a:t>ERD</a:t>
            </a:r>
            <a:r>
              <a:rPr lang="ru-RU" dirty="0">
                <a:solidFill>
                  <a:schemeClr val="tx1"/>
                </a:solidFill>
              </a:rPr>
              <a:t> — концептуальная графическая модель данных.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A33964-972E-5DC2-1210-FB9FE610BFF3}"/>
              </a:ext>
            </a:extLst>
          </p:cNvPr>
          <p:cNvSpPr txBox="1"/>
          <p:nvPr/>
        </p:nvSpPr>
        <p:spPr>
          <a:xfrm>
            <a:off x="5110317" y="2190330"/>
            <a:ext cx="613041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i="0" dirty="0">
                <a:solidFill>
                  <a:srgbClr val="2F2F2F"/>
                </a:solidFill>
                <a:effectLst/>
                <a:latin typeface="YS Text"/>
              </a:rPr>
              <a:t>1. Нотация IDEF1X.</a:t>
            </a:r>
            <a:r>
              <a:rPr lang="ru-RU" b="0" i="0" dirty="0">
                <a:solidFill>
                  <a:srgbClr val="2F2F2F"/>
                </a:solidFill>
                <a:effectLst/>
                <a:latin typeface="YS Text"/>
              </a:rPr>
              <a:t> Её относят к фундаментальным, но на практике давно не используют, потому что есть более удобные варианты.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/>
            </a:r>
            <a:br>
              <a:rPr lang="ru-RU" dirty="0"/>
            </a:br>
            <a:r>
              <a:rPr lang="ru-RU" b="1" i="0" dirty="0">
                <a:solidFill>
                  <a:srgbClr val="2F2F2F"/>
                </a:solidFill>
                <a:effectLst/>
                <a:latin typeface="YS Text"/>
              </a:rPr>
              <a:t>2. Нотация Чена.</a:t>
            </a:r>
            <a:r>
              <a:rPr lang="ru-RU" b="0" i="0" dirty="0">
                <a:solidFill>
                  <a:srgbClr val="2F2F2F"/>
                </a:solidFill>
                <a:effectLst/>
                <a:latin typeface="YS Text"/>
              </a:rPr>
              <a:t> Классическая нотация, которая состоит из простых символов — прямоугольников, овалов и линий. Из-за этого нотацию часто используют для концептуальных моделей, которые презентуют заказчику. Человеку, который далёк от аналитики данных, проще разобраться в понятных диаграммах со знакомыми символами.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/>
            </a:r>
            <a:br>
              <a:rPr lang="ru-RU" dirty="0"/>
            </a:br>
            <a:r>
              <a:rPr lang="ru-RU" b="1" i="0" dirty="0">
                <a:solidFill>
                  <a:srgbClr val="2F2F2F"/>
                </a:solidFill>
                <a:effectLst/>
                <a:latin typeface="YS Text"/>
              </a:rPr>
              <a:t>3. Нотация Мартина.</a:t>
            </a:r>
            <a:r>
              <a:rPr lang="ru-RU" b="0" i="0" dirty="0">
                <a:solidFill>
                  <a:srgbClr val="2F2F2F"/>
                </a:solidFill>
                <a:effectLst/>
                <a:latin typeface="YS Text"/>
              </a:rPr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09930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D9E17-F627-F03A-5737-ED57EECBC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EF98F3-1350-DF94-0052-EE7F334B2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7323"/>
            <a:ext cx="12260826" cy="637765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i="0" dirty="0">
                <a:solidFill>
                  <a:srgbClr val="333333"/>
                </a:solidFill>
                <a:effectLst/>
                <a:latin typeface="-apple-system"/>
              </a:rPr>
              <a:t>Концептуальные модели данных. Правила описания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 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828FF-DAB5-EAC7-E3FB-751C2A3016DA}"/>
              </a:ext>
            </a:extLst>
          </p:cNvPr>
          <p:cNvSpPr txBox="1"/>
          <p:nvPr/>
        </p:nvSpPr>
        <p:spPr>
          <a:xfrm>
            <a:off x="0" y="6488668"/>
            <a:ext cx="104615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https://practicum.yandex.ru/blog/chto-takoe-er-diagramma/#simvoly-i-notacii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391CB511-7F40-B19B-3994-39EEE3DB86E4}"/>
              </a:ext>
            </a:extLst>
          </p:cNvPr>
          <p:cNvSpPr/>
          <p:nvPr/>
        </p:nvSpPr>
        <p:spPr>
          <a:xfrm>
            <a:off x="2566326" y="881745"/>
            <a:ext cx="7636747" cy="5366610"/>
          </a:xfrm>
          <a:prstGeom prst="roundRect">
            <a:avLst>
              <a:gd name="adj" fmla="val 11667"/>
            </a:avLst>
          </a:prstGeom>
          <a:solidFill>
            <a:srgbClr val="BBBBB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AF0B5F6-C966-F04C-BAC9-5166076CC704}"/>
              </a:ext>
            </a:extLst>
          </p:cNvPr>
          <p:cNvSpPr/>
          <p:nvPr/>
        </p:nvSpPr>
        <p:spPr>
          <a:xfrm>
            <a:off x="2978084" y="1231831"/>
            <a:ext cx="2598174" cy="781878"/>
          </a:xfrm>
          <a:prstGeom prst="rect">
            <a:avLst/>
          </a:prstGeom>
          <a:solidFill>
            <a:srgbClr val="FFF04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6F6268EA-E56A-8207-6F66-7383CDFB0778}"/>
              </a:ext>
            </a:extLst>
          </p:cNvPr>
          <p:cNvSpPr/>
          <p:nvPr/>
        </p:nvSpPr>
        <p:spPr>
          <a:xfrm>
            <a:off x="2978083" y="2317506"/>
            <a:ext cx="2598174" cy="1075173"/>
          </a:xfrm>
          <a:prstGeom prst="ellipse">
            <a:avLst/>
          </a:prstGeom>
          <a:solidFill>
            <a:srgbClr val="FFF04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Ромб 14">
            <a:extLst>
              <a:ext uri="{FF2B5EF4-FFF2-40B4-BE49-F238E27FC236}">
                <a16:creationId xmlns:a16="http://schemas.microsoft.com/office/drawing/2014/main" id="{49E02F38-3A4E-9334-6F52-9CB532E39731}"/>
              </a:ext>
            </a:extLst>
          </p:cNvPr>
          <p:cNvSpPr/>
          <p:nvPr/>
        </p:nvSpPr>
        <p:spPr>
          <a:xfrm>
            <a:off x="2978083" y="3731146"/>
            <a:ext cx="2598175" cy="1024932"/>
          </a:xfrm>
          <a:prstGeom prst="diamond">
            <a:avLst/>
          </a:prstGeom>
          <a:solidFill>
            <a:srgbClr val="FFF04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Блок-схема: подготовка 15">
            <a:extLst>
              <a:ext uri="{FF2B5EF4-FFF2-40B4-BE49-F238E27FC236}">
                <a16:creationId xmlns:a16="http://schemas.microsoft.com/office/drawing/2014/main" id="{8F91D2C7-3257-BCF5-CBC9-28FB8A752E83}"/>
              </a:ext>
            </a:extLst>
          </p:cNvPr>
          <p:cNvSpPr/>
          <p:nvPr/>
        </p:nvSpPr>
        <p:spPr>
          <a:xfrm>
            <a:off x="2978083" y="5164642"/>
            <a:ext cx="2598175" cy="816077"/>
          </a:xfrm>
          <a:prstGeom prst="flowChartPreparation">
            <a:avLst/>
          </a:prstGeom>
          <a:solidFill>
            <a:srgbClr val="FFF04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28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C6BC11-CE59-9FC6-53E1-BF70A023240D}"/>
              </a:ext>
            </a:extLst>
          </p:cNvPr>
          <p:cNvSpPr txBox="1"/>
          <p:nvPr/>
        </p:nvSpPr>
        <p:spPr>
          <a:xfrm rot="16200000">
            <a:off x="547933" y="3229427"/>
            <a:ext cx="34368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/>
              <a:t>ГОСТ 19.701-90 С.5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D2F7F0-9A03-DD9F-4325-8C2472F2B08A}"/>
              </a:ext>
            </a:extLst>
          </p:cNvPr>
          <p:cNvSpPr txBox="1"/>
          <p:nvPr/>
        </p:nvSpPr>
        <p:spPr>
          <a:xfrm>
            <a:off x="6344508" y="1266850"/>
            <a:ext cx="2952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СУЩНОСТЬ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55DB8E2-8AB3-5AE1-CD0C-27CA364CBB35}"/>
              </a:ext>
            </a:extLst>
          </p:cNvPr>
          <p:cNvSpPr txBox="1"/>
          <p:nvPr/>
        </p:nvSpPr>
        <p:spPr>
          <a:xfrm>
            <a:off x="6344507" y="2609037"/>
            <a:ext cx="29520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АТРИБУТ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204AB34-1E9B-94EA-EB9A-0D4B4B5B1E75}"/>
              </a:ext>
            </a:extLst>
          </p:cNvPr>
          <p:cNvSpPr txBox="1"/>
          <p:nvPr/>
        </p:nvSpPr>
        <p:spPr>
          <a:xfrm>
            <a:off x="6344506" y="3801971"/>
            <a:ext cx="295209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СВЯЗЬ МЕЖДУ СУЩНОСТЯМИ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77B940-4CDA-49D9-92C1-D9F3B79CE3FF}"/>
              </a:ext>
            </a:extLst>
          </p:cNvPr>
          <p:cNvSpPr txBox="1"/>
          <p:nvPr/>
        </p:nvSpPr>
        <p:spPr>
          <a:xfrm>
            <a:off x="6344505" y="5026612"/>
            <a:ext cx="295209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МОДИФИКАЦИЯ КОМАНД </a:t>
            </a:r>
          </a:p>
        </p:txBody>
      </p:sp>
    </p:spTree>
    <p:extLst>
      <p:ext uri="{BB962C8B-B14F-4D97-AF65-F5344CB8AC3E}">
        <p14:creationId xmlns:p14="http://schemas.microsoft.com/office/powerpoint/2010/main" val="3586746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2EECA-5658-FD0A-D055-5AF977450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5DB6A7-A37E-ADED-5BE3-F5CCE12F6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7323"/>
            <a:ext cx="12260826" cy="637765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i="0" dirty="0">
                <a:solidFill>
                  <a:srgbClr val="333333"/>
                </a:solidFill>
                <a:effectLst/>
                <a:latin typeface="-apple-system"/>
              </a:rPr>
              <a:t>Концептуальные модели данных. Правила описания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 </a:t>
            </a:r>
            <a:endParaRPr lang="ru-RU" dirty="0"/>
          </a:p>
        </p:txBody>
      </p:sp>
      <p:pic>
        <p:nvPicPr>
          <p:cNvPr id="5" name="Рисунок 4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E0DB91F-3262-9787-9392-CA9659494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9639" y="653680"/>
            <a:ext cx="9649370" cy="6204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429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4301E-CEC9-00FD-AF8A-28C4BE055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D28279-BDF7-CD05-BE18-BB7E64C77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7323"/>
            <a:ext cx="12260826" cy="637765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i="0" dirty="0">
                <a:solidFill>
                  <a:srgbClr val="333333"/>
                </a:solidFill>
                <a:effectLst/>
                <a:latin typeface="-apple-system"/>
              </a:rPr>
              <a:t>Концептуальные модели данных. Правила описания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 </a:t>
            </a:r>
            <a:endParaRPr lang="ru-RU" dirty="0"/>
          </a:p>
        </p:txBody>
      </p:sp>
      <p:pic>
        <p:nvPicPr>
          <p:cNvPr id="4" name="Рисунок 3" descr="Изображение выглядит как текст, снимок экрана, диаграмма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7C8BC03-6803-01B0-DB87-48B9F59187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2" y="1309687"/>
            <a:ext cx="11382375" cy="423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060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37582-0410-9460-416A-49171F829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C97D71A-8FF2-CD21-7D4F-D77F05A15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37765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i="0" dirty="0">
                <a:solidFill>
                  <a:srgbClr val="333333"/>
                </a:solidFill>
                <a:effectLst/>
                <a:latin typeface="-apple-system"/>
              </a:rPr>
              <a:t>Концептуальные модели данных.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 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38AA71-A143-543A-8122-62245CBC2AA9}"/>
              </a:ext>
            </a:extLst>
          </p:cNvPr>
          <p:cNvSpPr txBox="1"/>
          <p:nvPr/>
        </p:nvSpPr>
        <p:spPr>
          <a:xfrm>
            <a:off x="157317" y="1085050"/>
            <a:ext cx="4247535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Также они называются моделями </a:t>
            </a:r>
            <a:r>
              <a:rPr lang="ru-RU" b="1" i="0" dirty="0">
                <a:solidFill>
                  <a:srgbClr val="333333"/>
                </a:solidFill>
                <a:effectLst/>
                <a:latin typeface="-apple-system"/>
              </a:rPr>
              <a:t>предметной области 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и описывают общую картину: </a:t>
            </a:r>
          </a:p>
          <a:p>
            <a:pPr marL="285750" indent="-285750" algn="just">
              <a:buFontTx/>
              <a:buChar char="-"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что будет содержать система (сущности); </a:t>
            </a:r>
          </a:p>
          <a:p>
            <a:pPr marL="285750" indent="-285750" algn="just">
              <a:buFontTx/>
              <a:buChar char="-"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как она будет организована (связи);  </a:t>
            </a:r>
          </a:p>
          <a:p>
            <a:pPr marL="285750" indent="-285750" algn="just">
              <a:buFontTx/>
              <a:buChar char="-"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какие бизнес-правила будут задействованы. </a:t>
            </a:r>
          </a:p>
          <a:p>
            <a:pPr algn="just"/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Концептуальные модели обычно создаются в процессе сбора </a:t>
            </a:r>
            <a:r>
              <a:rPr lang="ru-RU" b="0" i="1" dirty="0">
                <a:solidFill>
                  <a:srgbClr val="333333"/>
                </a:solidFill>
                <a:effectLst/>
                <a:latin typeface="-apple-system"/>
              </a:rPr>
              <a:t>исходных требований к проекту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. Как правило, они включают:</a:t>
            </a:r>
          </a:p>
          <a:p>
            <a:pPr marL="285750" indent="-285750" algn="just">
              <a:buFontTx/>
              <a:buChar char="-"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классы сущностей (вещи, которые бизнесу важно представить в модели данных),</a:t>
            </a:r>
          </a:p>
          <a:p>
            <a:pPr marL="285750" indent="-285750" algn="just">
              <a:buFontTx/>
              <a:buChar char="-"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 их характеристики и ограничения, </a:t>
            </a:r>
          </a:p>
          <a:p>
            <a:pPr marL="285750" indent="-285750" algn="just">
              <a:buFontTx/>
              <a:buChar char="-"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отношения между сущностями, требования к безопасности и целостности данных. 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D74E5D-17ED-79BA-3CCF-6DCB88E7DE53}"/>
              </a:ext>
            </a:extLst>
          </p:cNvPr>
          <p:cNvSpPr txBox="1"/>
          <p:nvPr/>
        </p:nvSpPr>
        <p:spPr>
          <a:xfrm>
            <a:off x="5830528" y="715718"/>
            <a:ext cx="5860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/>
              <a:t>УПРАЖНЕНИЕ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8D2957-A1DE-102C-0FE9-F0A80B305E1A}"/>
              </a:ext>
            </a:extLst>
          </p:cNvPr>
          <p:cNvSpPr txBox="1"/>
          <p:nvPr/>
        </p:nvSpPr>
        <p:spPr>
          <a:xfrm>
            <a:off x="5732207" y="1085050"/>
            <a:ext cx="595834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/>
              <a:t>Мы разрабатываем сервис для больницы, которая хочет увеличить количество выздоравливающих людей и уменьшить срок их болезни.</a:t>
            </a:r>
          </a:p>
          <a:p>
            <a:pPr algn="just"/>
            <a:endParaRPr lang="ru-RU" dirty="0"/>
          </a:p>
          <a:p>
            <a:pPr algn="just"/>
            <a:r>
              <a:rPr lang="ru-RU" b="1" dirty="0"/>
              <a:t>Шаг 0. </a:t>
            </a:r>
            <a:r>
              <a:rPr lang="ru-RU" dirty="0"/>
              <a:t>Разбиться на пары, которые будут работать последовательно, передавая другу результаты шагов.</a:t>
            </a:r>
          </a:p>
          <a:p>
            <a:pPr algn="just"/>
            <a:endParaRPr lang="ru-RU" dirty="0"/>
          </a:p>
          <a:p>
            <a:pPr algn="just"/>
            <a:r>
              <a:rPr lang="ru-RU" b="1" dirty="0"/>
              <a:t>Шаг 1. </a:t>
            </a:r>
            <a:r>
              <a:rPr lang="ru-RU" dirty="0"/>
              <a:t>Выделите основные сущности. Укажите причины, по которым вы их выделили (личный опыт, рабочий опыт, исследование внешних источников, другое).</a:t>
            </a:r>
          </a:p>
          <a:p>
            <a:pPr algn="just"/>
            <a:endParaRPr lang="ru-RU" dirty="0"/>
          </a:p>
          <a:p>
            <a:pPr algn="just"/>
            <a:r>
              <a:rPr lang="ru-RU" b="1" dirty="0"/>
              <a:t>Шаг 2. </a:t>
            </a:r>
            <a:r>
              <a:rPr lang="ru-RU" dirty="0"/>
              <a:t>Определите атрибуты сущностей. Укажите причины, по которым вы их выделили.</a:t>
            </a:r>
            <a:endParaRPr lang="ru-RU" b="1" dirty="0"/>
          </a:p>
          <a:p>
            <a:pPr algn="just"/>
            <a:endParaRPr lang="ru-RU" dirty="0"/>
          </a:p>
          <a:p>
            <a:pPr algn="just"/>
            <a:r>
              <a:rPr lang="ru-RU" b="1" dirty="0"/>
              <a:t>Шаг 3. </a:t>
            </a:r>
            <a:r>
              <a:rPr lang="ru-RU" dirty="0"/>
              <a:t>Установите связи между сущностями. </a:t>
            </a:r>
          </a:p>
          <a:p>
            <a:pPr algn="just"/>
            <a:endParaRPr lang="ru-RU" b="1" dirty="0"/>
          </a:p>
          <a:p>
            <a:pPr algn="just"/>
            <a:r>
              <a:rPr lang="ru-RU" b="1" dirty="0"/>
              <a:t>Шаг 4. </a:t>
            </a:r>
            <a:r>
              <a:rPr lang="ru-RU" dirty="0"/>
              <a:t>Опишите бизнес-правила</a:t>
            </a:r>
          </a:p>
          <a:p>
            <a:pPr algn="just"/>
            <a:endParaRPr lang="ru-RU" b="1" dirty="0"/>
          </a:p>
          <a:p>
            <a:pPr algn="just"/>
            <a:r>
              <a:rPr lang="ru-RU" b="1" dirty="0"/>
              <a:t>Шаг 5. </a:t>
            </a:r>
            <a:r>
              <a:rPr lang="ru-RU" dirty="0"/>
              <a:t>Объедините двойки, выведите итоговую концептуальную модель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2114246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066A4-9D59-144E-6206-9F70020FE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A55E5B-6FFC-46CD-9769-51AC5F32B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37765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i="0" dirty="0">
                <a:solidFill>
                  <a:srgbClr val="333333"/>
                </a:solidFill>
                <a:effectLst/>
                <a:latin typeface="-apple-system"/>
              </a:rPr>
              <a:t>Концептуальные модели данных.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 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CC23D1-0961-3CCB-27A7-4B175B3F0FF7}"/>
              </a:ext>
            </a:extLst>
          </p:cNvPr>
          <p:cNvSpPr txBox="1"/>
          <p:nvPr/>
        </p:nvSpPr>
        <p:spPr>
          <a:xfrm>
            <a:off x="157317" y="1085050"/>
            <a:ext cx="4247535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Также они называются моделями </a:t>
            </a:r>
            <a:r>
              <a:rPr lang="ru-RU" b="1" i="0" dirty="0">
                <a:solidFill>
                  <a:srgbClr val="333333"/>
                </a:solidFill>
                <a:effectLst/>
                <a:latin typeface="-apple-system"/>
              </a:rPr>
              <a:t>предметной области 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и описывают общую картину: </a:t>
            </a:r>
          </a:p>
          <a:p>
            <a:pPr marL="285750" indent="-285750" algn="just">
              <a:buFontTx/>
              <a:buChar char="-"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что будет содержать система (сущности); </a:t>
            </a:r>
          </a:p>
          <a:p>
            <a:pPr marL="285750" indent="-285750" algn="just">
              <a:buFontTx/>
              <a:buChar char="-"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как она будет организована (связи);  </a:t>
            </a:r>
          </a:p>
          <a:p>
            <a:pPr marL="285750" indent="-285750" algn="just">
              <a:buFontTx/>
              <a:buChar char="-"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какие бизнес-правила будут задействованы. </a:t>
            </a:r>
          </a:p>
          <a:p>
            <a:pPr algn="just"/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Концептуальные модели обычно создаются в процессе сбора </a:t>
            </a:r>
            <a:r>
              <a:rPr lang="ru-RU" b="0" i="1" dirty="0">
                <a:solidFill>
                  <a:srgbClr val="333333"/>
                </a:solidFill>
                <a:effectLst/>
                <a:latin typeface="-apple-system"/>
              </a:rPr>
              <a:t>исходных требований к проекту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. Как правило, они включают:</a:t>
            </a:r>
          </a:p>
          <a:p>
            <a:pPr marL="285750" indent="-285750" algn="just">
              <a:buFontTx/>
              <a:buChar char="-"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классы сущностей (вещи, которые бизнесу важно представить в модели данных),</a:t>
            </a:r>
          </a:p>
          <a:p>
            <a:pPr marL="285750" indent="-285750" algn="just">
              <a:buFontTx/>
              <a:buChar char="-"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 их характеристики и ограничения, </a:t>
            </a:r>
          </a:p>
          <a:p>
            <a:pPr marL="285750" indent="-285750" algn="just">
              <a:buFontTx/>
              <a:buChar char="-"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отношения между сущностями, требования к безопасности и целостности данных. </a:t>
            </a:r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618357C-08B8-DF02-32CE-C3EB1F63997D}"/>
              </a:ext>
            </a:extLst>
          </p:cNvPr>
          <p:cNvSpPr/>
          <p:nvPr/>
        </p:nvSpPr>
        <p:spPr>
          <a:xfrm>
            <a:off x="7226710" y="1624115"/>
            <a:ext cx="2231923" cy="816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/>
              <a:t>Пациент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EF56F21-2895-4E61-90C6-D4DA73C9C2A1}"/>
              </a:ext>
            </a:extLst>
          </p:cNvPr>
          <p:cNvSpPr/>
          <p:nvPr/>
        </p:nvSpPr>
        <p:spPr>
          <a:xfrm>
            <a:off x="5555227" y="3426542"/>
            <a:ext cx="2231923" cy="81607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/>
              <a:t>Врач</a:t>
            </a:r>
          </a:p>
        </p:txBody>
      </p:sp>
      <p:sp>
        <p:nvSpPr>
          <p:cNvPr id="6" name="Блок-схема: подготовка 5">
            <a:extLst>
              <a:ext uri="{FF2B5EF4-FFF2-40B4-BE49-F238E27FC236}">
                <a16:creationId xmlns:a16="http://schemas.microsoft.com/office/drawing/2014/main" id="{0E458861-836C-26A3-C35D-1C8093424F91}"/>
              </a:ext>
            </a:extLst>
          </p:cNvPr>
          <p:cNvSpPr/>
          <p:nvPr/>
        </p:nvSpPr>
        <p:spPr>
          <a:xfrm>
            <a:off x="9053051" y="3426542"/>
            <a:ext cx="2598175" cy="816077"/>
          </a:xfrm>
          <a:prstGeom prst="flowChartPreparation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/>
              <a:t>Лечение</a:t>
            </a:r>
          </a:p>
        </p:txBody>
      </p:sp>
    </p:spTree>
    <p:extLst>
      <p:ext uri="{BB962C8B-B14F-4D97-AF65-F5344CB8AC3E}">
        <p14:creationId xmlns:p14="http://schemas.microsoft.com/office/powerpoint/2010/main" val="12386356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35B3E-7161-7157-7D68-13E0E21BA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24" name="Прямая соединительная линия 1023">
            <a:extLst>
              <a:ext uri="{FF2B5EF4-FFF2-40B4-BE49-F238E27FC236}">
                <a16:creationId xmlns:a16="http://schemas.microsoft.com/office/drawing/2014/main" id="{A959B9A4-05CC-EF50-2050-F85F10E2F366}"/>
              </a:ext>
            </a:extLst>
          </p:cNvPr>
          <p:cNvCxnSpPr>
            <a:cxnSpLocks/>
          </p:cNvCxnSpPr>
          <p:nvPr/>
        </p:nvCxnSpPr>
        <p:spPr>
          <a:xfrm>
            <a:off x="8434031" y="3348938"/>
            <a:ext cx="951035" cy="3932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354C9A-F176-615C-D5D8-F6D2B819E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37765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i="0" dirty="0">
                <a:solidFill>
                  <a:srgbClr val="333333"/>
                </a:solidFill>
                <a:effectLst/>
                <a:latin typeface="-apple-system"/>
              </a:rPr>
              <a:t>Концептуальные модели данных.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 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C09034-68D2-B87F-4BCA-FC142C8F017A}"/>
              </a:ext>
            </a:extLst>
          </p:cNvPr>
          <p:cNvSpPr txBox="1"/>
          <p:nvPr/>
        </p:nvSpPr>
        <p:spPr>
          <a:xfrm>
            <a:off x="32144" y="1859339"/>
            <a:ext cx="304610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Также они называются моделями </a:t>
            </a:r>
            <a:r>
              <a:rPr lang="ru-RU" b="1" i="0" dirty="0">
                <a:solidFill>
                  <a:srgbClr val="333333"/>
                </a:solidFill>
                <a:effectLst/>
                <a:latin typeface="-apple-system"/>
              </a:rPr>
              <a:t>предметной области 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и описывают общую картину: </a:t>
            </a:r>
          </a:p>
          <a:p>
            <a:pPr marL="285750" indent="-285750" algn="just">
              <a:buFontTx/>
              <a:buChar char="-"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что будет содержать система (сущности); </a:t>
            </a:r>
          </a:p>
          <a:p>
            <a:pPr marL="285750" indent="-285750" algn="just">
              <a:buFontTx/>
              <a:buChar char="-"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как она будет организована (связи);  </a:t>
            </a:r>
          </a:p>
          <a:p>
            <a:pPr marL="285750" indent="-285750" algn="just">
              <a:buFontTx/>
              <a:buChar char="-"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какие бизнес-правила будут задействованы. </a:t>
            </a:r>
          </a:p>
          <a:p>
            <a:pPr algn="just"/>
            <a:r>
              <a:rPr lang="ru-RU" b="0" i="0" dirty="0" err="1">
                <a:solidFill>
                  <a:srgbClr val="333333"/>
                </a:solidFill>
                <a:effectLst/>
                <a:latin typeface="-apple-system"/>
              </a:rPr>
              <a:t>анных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. </a:t>
            </a:r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3DC1CC4-5093-960E-C474-BD0EB043D23F}"/>
              </a:ext>
            </a:extLst>
          </p:cNvPr>
          <p:cNvSpPr/>
          <p:nvPr/>
        </p:nvSpPr>
        <p:spPr>
          <a:xfrm>
            <a:off x="9237891" y="2939182"/>
            <a:ext cx="1623723" cy="816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/>
              <a:t>Пациент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BB1AC98-7DE9-803D-D77B-80B5EFA2FF2D}"/>
              </a:ext>
            </a:extLst>
          </p:cNvPr>
          <p:cNvSpPr/>
          <p:nvPr/>
        </p:nvSpPr>
        <p:spPr>
          <a:xfrm>
            <a:off x="3414112" y="2940264"/>
            <a:ext cx="1470709" cy="81607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/>
              <a:t>Врач</a:t>
            </a:r>
          </a:p>
        </p:txBody>
      </p:sp>
      <p:sp>
        <p:nvSpPr>
          <p:cNvPr id="9" name="Блок-схема: подготовка 8">
            <a:extLst>
              <a:ext uri="{FF2B5EF4-FFF2-40B4-BE49-F238E27FC236}">
                <a16:creationId xmlns:a16="http://schemas.microsoft.com/office/drawing/2014/main" id="{769C7DFB-8A90-AA77-E013-EA868BFB2AA8}"/>
              </a:ext>
            </a:extLst>
          </p:cNvPr>
          <p:cNvSpPr/>
          <p:nvPr/>
        </p:nvSpPr>
        <p:spPr>
          <a:xfrm>
            <a:off x="5835856" y="2944196"/>
            <a:ext cx="2598175" cy="816077"/>
          </a:xfrm>
          <a:prstGeom prst="flowChartPreparation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800" b="1" dirty="0"/>
              <a:t>Лечение</a:t>
            </a: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553AA946-B705-C567-CCB0-0338C1F37845}"/>
              </a:ext>
            </a:extLst>
          </p:cNvPr>
          <p:cNvSpPr/>
          <p:nvPr/>
        </p:nvSpPr>
        <p:spPr>
          <a:xfrm>
            <a:off x="3226548" y="4207544"/>
            <a:ext cx="1617406" cy="525592"/>
          </a:xfrm>
          <a:prstGeom prst="ellipse">
            <a:avLst/>
          </a:prstGeom>
          <a:solidFill>
            <a:srgbClr val="FFF04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dirty="0">
                <a:solidFill>
                  <a:schemeClr val="tx1"/>
                </a:solidFill>
              </a:rPr>
              <a:t>Квалификация</a:t>
            </a: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5430B65C-E74F-BB63-FCAA-2ACAA7291D6C}"/>
              </a:ext>
            </a:extLst>
          </p:cNvPr>
          <p:cNvSpPr/>
          <p:nvPr/>
        </p:nvSpPr>
        <p:spPr>
          <a:xfrm>
            <a:off x="3210349" y="2188642"/>
            <a:ext cx="1617406" cy="525592"/>
          </a:xfrm>
          <a:prstGeom prst="ellipse">
            <a:avLst/>
          </a:prstGeom>
          <a:solidFill>
            <a:srgbClr val="FFF04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dirty="0">
                <a:solidFill>
                  <a:schemeClr val="tx1"/>
                </a:solidFill>
              </a:rPr>
              <a:t>Специализация</a:t>
            </a:r>
          </a:p>
        </p:txBody>
      </p: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47FBC19E-A4E8-1E2E-E227-A7AF49DEAEB2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4884821" y="3348303"/>
            <a:ext cx="951035" cy="3932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A1D6610C-44D0-2233-14F3-4B452DF5F5C4}"/>
              </a:ext>
            </a:extLst>
          </p:cNvPr>
          <p:cNvCxnSpPr/>
          <p:nvPr/>
        </p:nvCxnSpPr>
        <p:spPr>
          <a:xfrm>
            <a:off x="5042135" y="3190986"/>
            <a:ext cx="0" cy="30480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E67A25BA-C7FE-0CAE-31B5-29A2F7C6739E}"/>
              </a:ext>
            </a:extLst>
          </p:cNvPr>
          <p:cNvCxnSpPr/>
          <p:nvPr/>
        </p:nvCxnSpPr>
        <p:spPr>
          <a:xfrm>
            <a:off x="4884821" y="3190986"/>
            <a:ext cx="157314" cy="15731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6849A867-F4C7-973B-905B-C6AE113E5664}"/>
              </a:ext>
            </a:extLst>
          </p:cNvPr>
          <p:cNvCxnSpPr>
            <a:cxnSpLocks/>
          </p:cNvCxnSpPr>
          <p:nvPr/>
        </p:nvCxnSpPr>
        <p:spPr>
          <a:xfrm flipH="1">
            <a:off x="4874682" y="3358134"/>
            <a:ext cx="157314" cy="15731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Овал 18">
            <a:extLst>
              <a:ext uri="{FF2B5EF4-FFF2-40B4-BE49-F238E27FC236}">
                <a16:creationId xmlns:a16="http://schemas.microsoft.com/office/drawing/2014/main" id="{10C4A77A-0454-0C78-FCCA-57D2CBE9CC73}"/>
              </a:ext>
            </a:extLst>
          </p:cNvPr>
          <p:cNvSpPr/>
          <p:nvPr/>
        </p:nvSpPr>
        <p:spPr>
          <a:xfrm>
            <a:off x="5485797" y="3244768"/>
            <a:ext cx="188976" cy="185043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CCD81C9B-D0C3-E4FA-5FF7-A13751AF7013}"/>
              </a:ext>
            </a:extLst>
          </p:cNvPr>
          <p:cNvCxnSpPr>
            <a:cxnSpLocks/>
          </p:cNvCxnSpPr>
          <p:nvPr/>
        </p:nvCxnSpPr>
        <p:spPr>
          <a:xfrm flipH="1">
            <a:off x="5678543" y="3189904"/>
            <a:ext cx="157314" cy="15731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F17794CB-7E3F-47C4-661D-26D28CED79F9}"/>
              </a:ext>
            </a:extLst>
          </p:cNvPr>
          <p:cNvCxnSpPr/>
          <p:nvPr/>
        </p:nvCxnSpPr>
        <p:spPr>
          <a:xfrm>
            <a:off x="5682585" y="3352038"/>
            <a:ext cx="157314" cy="15731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Овал 25">
            <a:extLst>
              <a:ext uri="{FF2B5EF4-FFF2-40B4-BE49-F238E27FC236}">
                <a16:creationId xmlns:a16="http://schemas.microsoft.com/office/drawing/2014/main" id="{F5258557-9385-3500-CEFD-1E0F5EEA7383}"/>
              </a:ext>
            </a:extLst>
          </p:cNvPr>
          <p:cNvSpPr/>
          <p:nvPr/>
        </p:nvSpPr>
        <p:spPr>
          <a:xfrm>
            <a:off x="8552497" y="3256099"/>
            <a:ext cx="188976" cy="185043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73643236-6125-7AB0-356C-ABAF7B4A4F47}"/>
              </a:ext>
            </a:extLst>
          </p:cNvPr>
          <p:cNvCxnSpPr>
            <a:cxnSpLocks/>
          </p:cNvCxnSpPr>
          <p:nvPr/>
        </p:nvCxnSpPr>
        <p:spPr>
          <a:xfrm flipH="1">
            <a:off x="9080577" y="3190004"/>
            <a:ext cx="0" cy="30480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18A79E53-83BE-9CB7-52CB-5DC32150F6C4}"/>
              </a:ext>
            </a:extLst>
          </p:cNvPr>
          <p:cNvCxnSpPr>
            <a:cxnSpLocks/>
          </p:cNvCxnSpPr>
          <p:nvPr/>
        </p:nvCxnSpPr>
        <p:spPr>
          <a:xfrm flipH="1">
            <a:off x="9073650" y="3192908"/>
            <a:ext cx="157314" cy="15731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A107B833-49BF-A6E7-A22B-9F64A0E551B8}"/>
              </a:ext>
            </a:extLst>
          </p:cNvPr>
          <p:cNvCxnSpPr>
            <a:cxnSpLocks/>
          </p:cNvCxnSpPr>
          <p:nvPr/>
        </p:nvCxnSpPr>
        <p:spPr>
          <a:xfrm>
            <a:off x="9080577" y="3357152"/>
            <a:ext cx="157314" cy="15731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5" name="Овал 1024">
            <a:extLst>
              <a:ext uri="{FF2B5EF4-FFF2-40B4-BE49-F238E27FC236}">
                <a16:creationId xmlns:a16="http://schemas.microsoft.com/office/drawing/2014/main" id="{FABA412B-2005-6FBC-2449-C0E0678B13CB}"/>
              </a:ext>
            </a:extLst>
          </p:cNvPr>
          <p:cNvSpPr/>
          <p:nvPr/>
        </p:nvSpPr>
        <p:spPr>
          <a:xfrm>
            <a:off x="6226009" y="2134904"/>
            <a:ext cx="1617406" cy="525592"/>
          </a:xfrm>
          <a:prstGeom prst="ellipse">
            <a:avLst/>
          </a:prstGeom>
          <a:solidFill>
            <a:srgbClr val="FFF04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dirty="0">
                <a:solidFill>
                  <a:schemeClr val="tx1"/>
                </a:solidFill>
              </a:rPr>
              <a:t>Диагноз</a:t>
            </a:r>
          </a:p>
        </p:txBody>
      </p:sp>
      <p:sp>
        <p:nvSpPr>
          <p:cNvPr id="1027" name="Овал 1026">
            <a:extLst>
              <a:ext uri="{FF2B5EF4-FFF2-40B4-BE49-F238E27FC236}">
                <a16:creationId xmlns:a16="http://schemas.microsoft.com/office/drawing/2014/main" id="{C7C73468-D8F4-B20F-D464-8AD8BFB6D63A}"/>
              </a:ext>
            </a:extLst>
          </p:cNvPr>
          <p:cNvSpPr/>
          <p:nvPr/>
        </p:nvSpPr>
        <p:spPr>
          <a:xfrm>
            <a:off x="5757200" y="4174724"/>
            <a:ext cx="1617406" cy="525592"/>
          </a:xfrm>
          <a:prstGeom prst="ellipse">
            <a:avLst/>
          </a:prstGeom>
          <a:solidFill>
            <a:srgbClr val="FFF04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dirty="0">
                <a:solidFill>
                  <a:schemeClr val="tx1"/>
                </a:solidFill>
              </a:rPr>
              <a:t>Даты </a:t>
            </a:r>
          </a:p>
        </p:txBody>
      </p:sp>
      <p:sp>
        <p:nvSpPr>
          <p:cNvPr id="1028" name="Овал 1027">
            <a:extLst>
              <a:ext uri="{FF2B5EF4-FFF2-40B4-BE49-F238E27FC236}">
                <a16:creationId xmlns:a16="http://schemas.microsoft.com/office/drawing/2014/main" id="{5D2E5582-2A6B-F248-CC6B-93E37FC5ACF5}"/>
              </a:ext>
            </a:extLst>
          </p:cNvPr>
          <p:cNvSpPr/>
          <p:nvPr/>
        </p:nvSpPr>
        <p:spPr>
          <a:xfrm>
            <a:off x="7638806" y="4165287"/>
            <a:ext cx="1617406" cy="525592"/>
          </a:xfrm>
          <a:prstGeom prst="ellipse">
            <a:avLst/>
          </a:prstGeom>
          <a:solidFill>
            <a:srgbClr val="FFF04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dirty="0">
                <a:solidFill>
                  <a:schemeClr val="tx1"/>
                </a:solidFill>
              </a:rPr>
              <a:t>Текущее состояние </a:t>
            </a:r>
          </a:p>
        </p:txBody>
      </p:sp>
      <p:sp>
        <p:nvSpPr>
          <p:cNvPr id="1029" name="Овал 1028">
            <a:extLst>
              <a:ext uri="{FF2B5EF4-FFF2-40B4-BE49-F238E27FC236}">
                <a16:creationId xmlns:a16="http://schemas.microsoft.com/office/drawing/2014/main" id="{1ED69A0E-CF50-2926-E502-0A6EC5F12A33}"/>
              </a:ext>
            </a:extLst>
          </p:cNvPr>
          <p:cNvSpPr/>
          <p:nvPr/>
        </p:nvSpPr>
        <p:spPr>
          <a:xfrm>
            <a:off x="8797801" y="2154342"/>
            <a:ext cx="1617406" cy="525592"/>
          </a:xfrm>
          <a:prstGeom prst="ellipse">
            <a:avLst/>
          </a:prstGeom>
          <a:solidFill>
            <a:srgbClr val="FFF04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dirty="0">
                <a:solidFill>
                  <a:schemeClr val="tx1"/>
                </a:solidFill>
              </a:rPr>
              <a:t>Пол</a:t>
            </a:r>
          </a:p>
        </p:txBody>
      </p:sp>
      <p:sp>
        <p:nvSpPr>
          <p:cNvPr id="1030" name="Овал 1029">
            <a:extLst>
              <a:ext uri="{FF2B5EF4-FFF2-40B4-BE49-F238E27FC236}">
                <a16:creationId xmlns:a16="http://schemas.microsoft.com/office/drawing/2014/main" id="{59D86C94-37F3-5B2B-3C1C-26217F6AFEB9}"/>
              </a:ext>
            </a:extLst>
          </p:cNvPr>
          <p:cNvSpPr/>
          <p:nvPr/>
        </p:nvSpPr>
        <p:spPr>
          <a:xfrm>
            <a:off x="9693151" y="4014507"/>
            <a:ext cx="1617406" cy="525592"/>
          </a:xfrm>
          <a:prstGeom prst="ellipse">
            <a:avLst/>
          </a:prstGeom>
          <a:solidFill>
            <a:srgbClr val="FFF04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dirty="0">
                <a:solidFill>
                  <a:schemeClr val="tx1"/>
                </a:solidFill>
              </a:rPr>
              <a:t>Профессия</a:t>
            </a:r>
          </a:p>
        </p:txBody>
      </p:sp>
      <p:sp>
        <p:nvSpPr>
          <p:cNvPr id="1031" name="Овал 1030">
            <a:extLst>
              <a:ext uri="{FF2B5EF4-FFF2-40B4-BE49-F238E27FC236}">
                <a16:creationId xmlns:a16="http://schemas.microsoft.com/office/drawing/2014/main" id="{018D91D0-757D-351E-8B68-68E4E5AA6CE7}"/>
              </a:ext>
            </a:extLst>
          </p:cNvPr>
          <p:cNvSpPr/>
          <p:nvPr/>
        </p:nvSpPr>
        <p:spPr>
          <a:xfrm>
            <a:off x="10574594" y="2154342"/>
            <a:ext cx="1617406" cy="525592"/>
          </a:xfrm>
          <a:prstGeom prst="ellipse">
            <a:avLst/>
          </a:prstGeom>
          <a:solidFill>
            <a:srgbClr val="FFF04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dirty="0">
                <a:solidFill>
                  <a:schemeClr val="tx1"/>
                </a:solidFill>
              </a:rPr>
              <a:t>Год рождения</a:t>
            </a:r>
          </a:p>
        </p:txBody>
      </p:sp>
      <p:cxnSp>
        <p:nvCxnSpPr>
          <p:cNvPr id="1033" name="Прямая соединительная линия 1032">
            <a:extLst>
              <a:ext uri="{FF2B5EF4-FFF2-40B4-BE49-F238E27FC236}">
                <a16:creationId xmlns:a16="http://schemas.microsoft.com/office/drawing/2014/main" id="{ACA0794A-E596-400F-CE40-27008F14E8A1}"/>
              </a:ext>
            </a:extLst>
          </p:cNvPr>
          <p:cNvCxnSpPr>
            <a:stCxn id="10" idx="0"/>
            <a:endCxn id="8" idx="2"/>
          </p:cNvCxnSpPr>
          <p:nvPr/>
        </p:nvCxnSpPr>
        <p:spPr>
          <a:xfrm flipV="1">
            <a:off x="4035251" y="3756341"/>
            <a:ext cx="114216" cy="451203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4" name="Прямая соединительная линия 1033">
            <a:extLst>
              <a:ext uri="{FF2B5EF4-FFF2-40B4-BE49-F238E27FC236}">
                <a16:creationId xmlns:a16="http://schemas.microsoft.com/office/drawing/2014/main" id="{29BA9093-954E-45B6-6A7F-704FEA30C1D2}"/>
              </a:ext>
            </a:extLst>
          </p:cNvPr>
          <p:cNvCxnSpPr>
            <a:cxnSpLocks/>
            <a:stCxn id="8" idx="0"/>
            <a:endCxn id="11" idx="4"/>
          </p:cNvCxnSpPr>
          <p:nvPr/>
        </p:nvCxnSpPr>
        <p:spPr>
          <a:xfrm flipH="1" flipV="1">
            <a:off x="4019052" y="2714234"/>
            <a:ext cx="130415" cy="22603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7" name="Прямая соединительная линия 1036">
            <a:extLst>
              <a:ext uri="{FF2B5EF4-FFF2-40B4-BE49-F238E27FC236}">
                <a16:creationId xmlns:a16="http://schemas.microsoft.com/office/drawing/2014/main" id="{400E0A32-6538-8EBD-F433-8166AF2A2C78}"/>
              </a:ext>
            </a:extLst>
          </p:cNvPr>
          <p:cNvCxnSpPr>
            <a:cxnSpLocks/>
            <a:stCxn id="9" idx="0"/>
            <a:endCxn id="1025" idx="4"/>
          </p:cNvCxnSpPr>
          <p:nvPr/>
        </p:nvCxnSpPr>
        <p:spPr>
          <a:xfrm flipH="1" flipV="1">
            <a:off x="7034712" y="2660496"/>
            <a:ext cx="100232" cy="28370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0" name="Прямая соединительная линия 1039">
            <a:extLst>
              <a:ext uri="{FF2B5EF4-FFF2-40B4-BE49-F238E27FC236}">
                <a16:creationId xmlns:a16="http://schemas.microsoft.com/office/drawing/2014/main" id="{CD7E591D-EB93-E8D3-5BC2-1692F3AEC1B1}"/>
              </a:ext>
            </a:extLst>
          </p:cNvPr>
          <p:cNvCxnSpPr>
            <a:cxnSpLocks/>
            <a:stCxn id="9" idx="2"/>
            <a:endCxn id="1027" idx="0"/>
          </p:cNvCxnSpPr>
          <p:nvPr/>
        </p:nvCxnSpPr>
        <p:spPr>
          <a:xfrm flipH="1">
            <a:off x="6565903" y="3760273"/>
            <a:ext cx="569041" cy="414451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3" name="Прямая соединительная линия 1042">
            <a:extLst>
              <a:ext uri="{FF2B5EF4-FFF2-40B4-BE49-F238E27FC236}">
                <a16:creationId xmlns:a16="http://schemas.microsoft.com/office/drawing/2014/main" id="{4925986F-8CA2-F0E6-1FE8-0778E815F972}"/>
              </a:ext>
            </a:extLst>
          </p:cNvPr>
          <p:cNvCxnSpPr>
            <a:cxnSpLocks/>
            <a:endCxn id="1028" idx="0"/>
          </p:cNvCxnSpPr>
          <p:nvPr/>
        </p:nvCxnSpPr>
        <p:spPr>
          <a:xfrm>
            <a:off x="7571883" y="3755259"/>
            <a:ext cx="875626" cy="410028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6" name="Прямая соединительная линия 1045">
            <a:extLst>
              <a:ext uri="{FF2B5EF4-FFF2-40B4-BE49-F238E27FC236}">
                <a16:creationId xmlns:a16="http://schemas.microsoft.com/office/drawing/2014/main" id="{214F1179-F83E-B1D8-2E2F-FEF85634561D}"/>
              </a:ext>
            </a:extLst>
          </p:cNvPr>
          <p:cNvCxnSpPr>
            <a:cxnSpLocks/>
            <a:stCxn id="1029" idx="4"/>
          </p:cNvCxnSpPr>
          <p:nvPr/>
        </p:nvCxnSpPr>
        <p:spPr>
          <a:xfrm>
            <a:off x="9606504" y="2679934"/>
            <a:ext cx="215074" cy="259248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9" name="Прямая соединительная линия 1048">
            <a:extLst>
              <a:ext uri="{FF2B5EF4-FFF2-40B4-BE49-F238E27FC236}">
                <a16:creationId xmlns:a16="http://schemas.microsoft.com/office/drawing/2014/main" id="{ED0C6393-04C8-118C-16CB-540B01E3B1DE}"/>
              </a:ext>
            </a:extLst>
          </p:cNvPr>
          <p:cNvCxnSpPr>
            <a:cxnSpLocks/>
            <a:stCxn id="1031" idx="4"/>
          </p:cNvCxnSpPr>
          <p:nvPr/>
        </p:nvCxnSpPr>
        <p:spPr>
          <a:xfrm flipH="1">
            <a:off x="10453769" y="2679934"/>
            <a:ext cx="929528" cy="259248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2" name="Прямая соединительная линия 1051">
            <a:extLst>
              <a:ext uri="{FF2B5EF4-FFF2-40B4-BE49-F238E27FC236}">
                <a16:creationId xmlns:a16="http://schemas.microsoft.com/office/drawing/2014/main" id="{52B22ADE-9AEC-300B-038A-3C2CF161B9DB}"/>
              </a:ext>
            </a:extLst>
          </p:cNvPr>
          <p:cNvCxnSpPr>
            <a:cxnSpLocks/>
            <a:stCxn id="1030" idx="0"/>
            <a:endCxn id="7" idx="2"/>
          </p:cNvCxnSpPr>
          <p:nvPr/>
        </p:nvCxnSpPr>
        <p:spPr>
          <a:xfrm flipH="1" flipV="1">
            <a:off x="10049753" y="3755259"/>
            <a:ext cx="452101" cy="259248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6" name="Прямая соединительная линия 1055">
            <a:extLst>
              <a:ext uri="{FF2B5EF4-FFF2-40B4-BE49-F238E27FC236}">
                <a16:creationId xmlns:a16="http://schemas.microsoft.com/office/drawing/2014/main" id="{D8AA1253-5F75-CAE7-F7D0-B3525F772D83}"/>
              </a:ext>
            </a:extLst>
          </p:cNvPr>
          <p:cNvCxnSpPr/>
          <p:nvPr/>
        </p:nvCxnSpPr>
        <p:spPr>
          <a:xfrm>
            <a:off x="8401236" y="3190986"/>
            <a:ext cx="157314" cy="15731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7" name="Прямая соединительная линия 1056">
            <a:extLst>
              <a:ext uri="{FF2B5EF4-FFF2-40B4-BE49-F238E27FC236}">
                <a16:creationId xmlns:a16="http://schemas.microsoft.com/office/drawing/2014/main" id="{7638A5C0-9AE8-A59A-DDB0-A3FDD60DA394}"/>
              </a:ext>
            </a:extLst>
          </p:cNvPr>
          <p:cNvCxnSpPr>
            <a:cxnSpLocks/>
          </p:cNvCxnSpPr>
          <p:nvPr/>
        </p:nvCxnSpPr>
        <p:spPr>
          <a:xfrm flipH="1">
            <a:off x="8391097" y="3358134"/>
            <a:ext cx="157314" cy="157317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40456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CA75D-E0AD-B55B-E4F0-CBCB50E98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6D7AD8-671C-0C09-C2D3-932801A4C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567" y="0"/>
            <a:ext cx="10515600" cy="637765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i="0" dirty="0">
                <a:solidFill>
                  <a:srgbClr val="333333"/>
                </a:solidFill>
                <a:effectLst/>
                <a:latin typeface="-apple-system"/>
              </a:rPr>
              <a:t>Концептуальные модели данных.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 </a:t>
            </a:r>
            <a:endParaRPr lang="ru-RU" dirty="0"/>
          </a:p>
        </p:txBody>
      </p:sp>
      <p:pic>
        <p:nvPicPr>
          <p:cNvPr id="8" name="Рисунок 7" descr="Изображение выглядит как текст, снимок экрана, диаграмма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BCB4559-F647-8FAE-0FE0-99B7BCC028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07" t="11154"/>
          <a:stretch>
            <a:fillRect/>
          </a:stretch>
        </p:blipFill>
        <p:spPr>
          <a:xfrm>
            <a:off x="1189702" y="1356852"/>
            <a:ext cx="9527151" cy="5130288"/>
          </a:xfrm>
          <a:prstGeom prst="rect">
            <a:avLst/>
          </a:prstGeom>
        </p:spPr>
      </p:pic>
      <p:pic>
        <p:nvPicPr>
          <p:cNvPr id="10" name="Рисунок 9" descr="Изображение выглядит как текст, снимок экрана, диаграмма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E86929E-06E8-5719-1F11-1044E11CA3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52" t="2835" r="86782" b="91744"/>
          <a:stretch>
            <a:fillRect/>
          </a:stretch>
        </p:blipFill>
        <p:spPr>
          <a:xfrm>
            <a:off x="1189702" y="894735"/>
            <a:ext cx="924233" cy="36246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92769" y="894735"/>
            <a:ext cx="81328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3600" b="1" dirty="0" smtClean="0"/>
              <a:t>Основные сущности</a:t>
            </a:r>
            <a:endParaRPr lang="ru-RU" sz="3600" b="1" dirty="0"/>
          </a:p>
        </p:txBody>
      </p:sp>
    </p:spTree>
    <p:extLst>
      <p:ext uri="{BB962C8B-B14F-4D97-AF65-F5344CB8AC3E}">
        <p14:creationId xmlns:p14="http://schemas.microsoft.com/office/powerpoint/2010/main" val="7672218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текст, снимок экрана, диаграмм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E6A3A52-9C90-A6F1-B640-953E06FB08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863" r="-1297"/>
          <a:stretch>
            <a:fillRect/>
          </a:stretch>
        </p:blipFill>
        <p:spPr>
          <a:xfrm>
            <a:off x="1356851" y="1690687"/>
            <a:ext cx="9144001" cy="4913363"/>
          </a:xfrm>
          <a:prstGeom prst="rect">
            <a:avLst/>
          </a:prstGeom>
        </p:spPr>
      </p:pic>
      <p:pic>
        <p:nvPicPr>
          <p:cNvPr id="6" name="Рисунок 5" descr="Изображение выглядит как текст, снимок экрана, диаграмма,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B8E40A3-3A56-82EF-4BF9-7D522A16E71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52" t="2835" r="86782" b="91744"/>
          <a:stretch>
            <a:fillRect/>
          </a:stretch>
        </p:blipFill>
        <p:spPr>
          <a:xfrm>
            <a:off x="1356851" y="1328225"/>
            <a:ext cx="924233" cy="362462"/>
          </a:xfrm>
          <a:prstGeom prst="rect">
            <a:avLst/>
          </a:prstGeom>
        </p:spPr>
      </p:pic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F38BA2AE-72DC-9EBC-5F4F-EB82298EC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567" y="0"/>
            <a:ext cx="10515600" cy="637765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i="0" dirty="0">
                <a:solidFill>
                  <a:srgbClr val="333333"/>
                </a:solidFill>
                <a:effectLst/>
                <a:latin typeface="-apple-system"/>
              </a:rPr>
              <a:t>Логическая модель данных.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 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3692769" y="894735"/>
            <a:ext cx="81328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3600" b="1" dirty="0" smtClean="0"/>
              <a:t>Атрибуты</a:t>
            </a:r>
            <a:endParaRPr lang="ru-RU" sz="3600" b="1" dirty="0"/>
          </a:p>
        </p:txBody>
      </p:sp>
    </p:spTree>
    <p:extLst>
      <p:ext uri="{BB962C8B-B14F-4D97-AF65-F5344CB8AC3E}">
        <p14:creationId xmlns:p14="http://schemas.microsoft.com/office/powerpoint/2010/main" val="3544575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807E0-998D-1E46-FFFE-CF16B69D7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FAFBEC1E-8759-03F9-09F1-C6BA14696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567" y="0"/>
            <a:ext cx="10515600" cy="637765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i="0" dirty="0">
                <a:solidFill>
                  <a:srgbClr val="333333"/>
                </a:solidFill>
                <a:effectLst/>
                <a:latin typeface="-apple-system"/>
              </a:rPr>
              <a:t>Физическая модель данных</a:t>
            </a:r>
            <a:endParaRPr lang="ru-RU" dirty="0"/>
          </a:p>
        </p:txBody>
      </p:sp>
      <p:pic>
        <p:nvPicPr>
          <p:cNvPr id="3" name="Рисунок 2" descr="Изображение выглядит как текст, снимок экрана, Шрифт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D7B63D6-C60A-F970-AE2A-82434029D3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552" r="-220"/>
          <a:stretch>
            <a:fillRect/>
          </a:stretch>
        </p:blipFill>
        <p:spPr>
          <a:xfrm>
            <a:off x="1219199" y="1328225"/>
            <a:ext cx="10441859" cy="5300417"/>
          </a:xfrm>
          <a:prstGeom prst="rect">
            <a:avLst/>
          </a:prstGeom>
        </p:spPr>
      </p:pic>
      <p:pic>
        <p:nvPicPr>
          <p:cNvPr id="8" name="Рисунок 7" descr="Изображение выглядит как текст, снимок экрана, Шрифт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D60EDB8-29AF-D987-A56E-DDB6AF1B20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0429" b="95209"/>
          <a:stretch>
            <a:fillRect/>
          </a:stretch>
        </p:blipFill>
        <p:spPr>
          <a:xfrm>
            <a:off x="1136701" y="737420"/>
            <a:ext cx="1448958" cy="3991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92769" y="894735"/>
            <a:ext cx="81328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3600" b="1" dirty="0" smtClean="0"/>
              <a:t>Связи и типы данных</a:t>
            </a:r>
            <a:endParaRPr lang="ru-RU" sz="3600" b="1" dirty="0"/>
          </a:p>
        </p:txBody>
      </p:sp>
    </p:spTree>
    <p:extLst>
      <p:ext uri="{BB962C8B-B14F-4D97-AF65-F5344CB8AC3E}">
        <p14:creationId xmlns:p14="http://schemas.microsoft.com/office/powerpoint/2010/main" val="33294810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AB831-150D-F7DF-D2EE-412FCB4DF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64EF01-B12E-373E-F92A-1B7FE3F84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37765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i="0" dirty="0">
                <a:solidFill>
                  <a:srgbClr val="333333"/>
                </a:solidFill>
                <a:effectLst/>
                <a:latin typeface="-apple-system"/>
              </a:rPr>
              <a:t>Концептуальные модели данных.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 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D70A45-88B5-E496-8E04-9B93FA2981FE}"/>
              </a:ext>
            </a:extLst>
          </p:cNvPr>
          <p:cNvSpPr txBox="1"/>
          <p:nvPr/>
        </p:nvSpPr>
        <p:spPr>
          <a:xfrm>
            <a:off x="157317" y="1085050"/>
            <a:ext cx="4247535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Также они называются моделями </a:t>
            </a:r>
            <a:r>
              <a:rPr lang="ru-RU" b="1" i="0" dirty="0">
                <a:solidFill>
                  <a:srgbClr val="333333"/>
                </a:solidFill>
                <a:effectLst/>
                <a:latin typeface="-apple-system"/>
              </a:rPr>
              <a:t>предметной области 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и описывают общую картину: </a:t>
            </a:r>
          </a:p>
          <a:p>
            <a:pPr marL="285750" indent="-285750" algn="just">
              <a:buFontTx/>
              <a:buChar char="-"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что будет содержать система (сущности); </a:t>
            </a:r>
          </a:p>
          <a:p>
            <a:pPr marL="285750" indent="-285750" algn="just">
              <a:buFontTx/>
              <a:buChar char="-"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как она будет организована (связи);  </a:t>
            </a:r>
          </a:p>
          <a:p>
            <a:pPr marL="285750" indent="-285750" algn="just">
              <a:buFontTx/>
              <a:buChar char="-"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какие бизнес-правила будут задействованы. </a:t>
            </a:r>
          </a:p>
          <a:p>
            <a:pPr algn="just"/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Концептуальные модели обычно создаются в процессе сбора </a:t>
            </a:r>
            <a:r>
              <a:rPr lang="ru-RU" b="0" i="1" dirty="0">
                <a:solidFill>
                  <a:srgbClr val="333333"/>
                </a:solidFill>
                <a:effectLst/>
                <a:latin typeface="-apple-system"/>
              </a:rPr>
              <a:t>исходных требований к проекту</a:t>
            </a: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. Как правило, они включают:</a:t>
            </a:r>
          </a:p>
          <a:p>
            <a:pPr marL="285750" indent="-285750" algn="just">
              <a:buFontTx/>
              <a:buChar char="-"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классы сущностей (вещи, которые бизнесу важно представить в модели данных),</a:t>
            </a:r>
          </a:p>
          <a:p>
            <a:pPr marL="285750" indent="-285750" algn="just">
              <a:buFontTx/>
              <a:buChar char="-"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 их характеристики и ограничения, </a:t>
            </a:r>
          </a:p>
          <a:p>
            <a:pPr marL="285750" indent="-285750" algn="just">
              <a:buFontTx/>
              <a:buChar char="-"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отношения между сущностями, требования к безопасности и целостности данных. 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53A470-E4C2-AF3F-B750-7E36BF60C694}"/>
              </a:ext>
            </a:extLst>
          </p:cNvPr>
          <p:cNvSpPr txBox="1"/>
          <p:nvPr/>
        </p:nvSpPr>
        <p:spPr>
          <a:xfrm>
            <a:off x="5830528" y="492075"/>
            <a:ext cx="5860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/>
              <a:t>УПРАЖНЕНИЕ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ED8C39-D0C4-EE13-D0B8-331EF83BBA60}"/>
              </a:ext>
            </a:extLst>
          </p:cNvPr>
          <p:cNvSpPr txBox="1"/>
          <p:nvPr/>
        </p:nvSpPr>
        <p:spPr>
          <a:xfrm>
            <a:off x="5732207" y="1085050"/>
            <a:ext cx="595834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 smtClean="0"/>
              <a:t>Готовимся определить модели данных для ваших проектов</a:t>
            </a:r>
            <a:r>
              <a:rPr lang="ru-RU" b="1" dirty="0" smtClean="0"/>
              <a:t>.</a:t>
            </a:r>
          </a:p>
          <a:p>
            <a:pPr algn="just"/>
            <a:r>
              <a:rPr lang="ru-RU" b="1" dirty="0"/>
              <a:t>Шаг </a:t>
            </a:r>
            <a:r>
              <a:rPr lang="ru-RU" b="1" dirty="0" smtClean="0"/>
              <a:t>0. </a:t>
            </a:r>
            <a:r>
              <a:rPr lang="ru-RU" dirty="0" smtClean="0"/>
              <a:t>Опишите ваш проект (кратко).</a:t>
            </a:r>
            <a:endParaRPr lang="ru-RU" dirty="0"/>
          </a:p>
          <a:p>
            <a:pPr algn="just"/>
            <a:endParaRPr lang="ru-RU" dirty="0"/>
          </a:p>
          <a:p>
            <a:pPr algn="just"/>
            <a:r>
              <a:rPr lang="ru-RU" b="1" dirty="0"/>
              <a:t>Шаг </a:t>
            </a:r>
            <a:r>
              <a:rPr lang="ru-RU" b="1" dirty="0" smtClean="0"/>
              <a:t>1. </a:t>
            </a:r>
            <a:r>
              <a:rPr lang="ru-RU" dirty="0"/>
              <a:t>Разбиться на пары, которые будут работать последовательно, передавая другу результаты шагов.</a:t>
            </a:r>
          </a:p>
          <a:p>
            <a:pPr algn="just"/>
            <a:endParaRPr lang="ru-RU" dirty="0"/>
          </a:p>
          <a:p>
            <a:pPr algn="just"/>
            <a:r>
              <a:rPr lang="ru-RU" b="1" dirty="0"/>
              <a:t>Шаг </a:t>
            </a:r>
            <a:r>
              <a:rPr lang="ru-RU" b="1" dirty="0" smtClean="0"/>
              <a:t>2. </a:t>
            </a:r>
            <a:r>
              <a:rPr lang="ru-RU" dirty="0"/>
              <a:t>Выделите основные сущности. Укажите причины, по которым вы их выделили (личный опыт, рабочий опыт, исследование внешних источников, другое).</a:t>
            </a:r>
          </a:p>
          <a:p>
            <a:pPr algn="just"/>
            <a:endParaRPr lang="ru-RU" dirty="0"/>
          </a:p>
          <a:p>
            <a:pPr algn="just"/>
            <a:r>
              <a:rPr lang="ru-RU" b="1" dirty="0"/>
              <a:t>Шаг </a:t>
            </a:r>
            <a:r>
              <a:rPr lang="ru-RU" b="1" dirty="0" smtClean="0"/>
              <a:t>3. </a:t>
            </a:r>
            <a:r>
              <a:rPr lang="ru-RU" dirty="0"/>
              <a:t>Определите атрибуты сущностей. Укажите причины, по которым вы их выделили.</a:t>
            </a:r>
            <a:endParaRPr lang="ru-RU" b="1" dirty="0"/>
          </a:p>
          <a:p>
            <a:pPr algn="just"/>
            <a:endParaRPr lang="ru-RU" dirty="0"/>
          </a:p>
          <a:p>
            <a:pPr algn="just"/>
            <a:r>
              <a:rPr lang="ru-RU" b="1" dirty="0"/>
              <a:t>Шаг </a:t>
            </a:r>
            <a:r>
              <a:rPr lang="ru-RU" b="1" dirty="0" smtClean="0"/>
              <a:t>4. </a:t>
            </a:r>
            <a:r>
              <a:rPr lang="ru-RU" dirty="0"/>
              <a:t>Установите связи между сущностями. </a:t>
            </a:r>
          </a:p>
          <a:p>
            <a:pPr algn="just"/>
            <a:endParaRPr lang="ru-RU" b="1" dirty="0"/>
          </a:p>
          <a:p>
            <a:pPr algn="just"/>
            <a:r>
              <a:rPr lang="ru-RU" b="1" dirty="0"/>
              <a:t>Шаг </a:t>
            </a:r>
            <a:r>
              <a:rPr lang="ru-RU" b="1" dirty="0" smtClean="0"/>
              <a:t>5. </a:t>
            </a:r>
            <a:r>
              <a:rPr lang="ru-RU" dirty="0"/>
              <a:t>Опишите бизнес-правила</a:t>
            </a:r>
          </a:p>
          <a:p>
            <a:pPr algn="just"/>
            <a:endParaRPr lang="ru-RU" b="1" dirty="0"/>
          </a:p>
          <a:p>
            <a:pPr algn="just"/>
            <a:r>
              <a:rPr lang="ru-RU" b="1" dirty="0"/>
              <a:t>Шаг </a:t>
            </a:r>
            <a:r>
              <a:rPr lang="ru-RU" b="1" dirty="0" smtClean="0"/>
              <a:t>6. </a:t>
            </a:r>
            <a:r>
              <a:rPr lang="ru-RU" dirty="0"/>
              <a:t>Объедините двойки, выведите итоговую концептуальную модель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29627590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808</TotalTime>
  <Words>1001</Words>
  <Application>Microsoft Office PowerPoint</Application>
  <PresentationFormat>Широкоэкранный</PresentationFormat>
  <Paragraphs>139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0" baseType="lpstr">
      <vt:lpstr>-apple-system</vt:lpstr>
      <vt:lpstr>Arial</vt:lpstr>
      <vt:lpstr>Calibri</vt:lpstr>
      <vt:lpstr>Calibri Light</vt:lpstr>
      <vt:lpstr>Fira Sans</vt:lpstr>
      <vt:lpstr>YS Text</vt:lpstr>
      <vt:lpstr>Тема Office</vt:lpstr>
      <vt:lpstr>Презентация PowerPoint</vt:lpstr>
      <vt:lpstr>Концептуальные модели данных. </vt:lpstr>
      <vt:lpstr>Концептуальные модели данных. Правила описания </vt:lpstr>
      <vt:lpstr>Концептуальные модели данных. Правила описания </vt:lpstr>
      <vt:lpstr>Концептуальные модели данных. Правила описания </vt:lpstr>
      <vt:lpstr>Концептуальные модели данных. Правила описания </vt:lpstr>
      <vt:lpstr>Концептуальные модели данных. </vt:lpstr>
      <vt:lpstr>Концептуальные модели данных. </vt:lpstr>
      <vt:lpstr>Концептуальные модели данных. </vt:lpstr>
      <vt:lpstr>Концептуальные модели данных. </vt:lpstr>
      <vt:lpstr>Логическая модель данных. </vt:lpstr>
      <vt:lpstr>Физическая модель данных</vt:lpstr>
      <vt:lpstr>Концептуальные модели данных.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Oesune</dc:creator>
  <cp:lastModifiedBy>Проневич Ольга Борисовна</cp:lastModifiedBy>
  <cp:revision>11</cp:revision>
  <dcterms:created xsi:type="dcterms:W3CDTF">2026-02-09T19:12:28Z</dcterms:created>
  <dcterms:modified xsi:type="dcterms:W3CDTF">2026-09-17T10:31:33Z</dcterms:modified>
</cp:coreProperties>
</file>