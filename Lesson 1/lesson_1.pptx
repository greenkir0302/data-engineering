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82" r:id="rId6"/>
    <p:sldId id="286" r:id="rId7"/>
    <p:sldId id="283" r:id="rId8"/>
    <p:sldId id="285" r:id="rId9"/>
    <p:sldId id="284" r:id="rId10"/>
    <p:sldId id="260" r:id="rId11"/>
    <p:sldId id="287" r:id="rId12"/>
    <p:sldId id="262" r:id="rId13"/>
    <p:sldId id="263" r:id="rId14"/>
    <p:sldId id="288" r:id="rId15"/>
    <p:sldId id="264" r:id="rId16"/>
    <p:sldId id="265" r:id="rId17"/>
    <p:sldId id="266" r:id="rId18"/>
    <p:sldId id="289" r:id="rId19"/>
    <p:sldId id="267" r:id="rId20"/>
    <p:sldId id="268" r:id="rId21"/>
    <p:sldId id="269" r:id="rId22"/>
    <p:sldId id="270" r:id="rId23"/>
    <p:sldId id="271" r:id="rId24"/>
    <p:sldId id="290" r:id="rId25"/>
    <p:sldId id="272" r:id="rId26"/>
    <p:sldId id="273" r:id="rId27"/>
    <p:sldId id="274" r:id="rId28"/>
    <p:sldId id="292" r:id="rId29"/>
    <p:sldId id="291" r:id="rId30"/>
    <p:sldId id="293" r:id="rId31"/>
    <p:sldId id="275" r:id="rId32"/>
    <p:sldId id="294" r:id="rId33"/>
    <p:sldId id="295" r:id="rId34"/>
    <p:sldId id="276" r:id="rId35"/>
    <p:sldId id="277" r:id="rId36"/>
    <p:sldId id="278" r:id="rId37"/>
    <p:sldId id="279" r:id="rId38"/>
    <p:sldId id="280" r:id="rId39"/>
    <p:sldId id="281" r:id="rId4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6A9F"/>
    <a:srgbClr val="5A9BD4"/>
    <a:srgbClr val="A8CBE8"/>
    <a:srgbClr val="A9CD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9869" autoAdjust="0"/>
  </p:normalViewPr>
  <p:slideViewPr>
    <p:cSldViewPr snapToGrid="0" snapToObjects="1">
      <p:cViewPr>
        <p:scale>
          <a:sx n="66" d="100"/>
          <a:sy n="66" d="100"/>
        </p:scale>
        <p:origin x="1301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1894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План на 90 минут:
Блок 1 (20 мин) — данные, информация, DIKW
Блок 2 (20 мин) — качество, структура, безопасность
Блок 3 (15 мин) — задачи инженерии данных
Блок 4 (15 мин) — инструменты
Блок 5 (15 мин) — нотации
Итоги (5 мин) — домашка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Спросить аудиторию: что это за число? Собрать 5-6 вариантов вслух.
Вывод: данные без контекста = шум, который занимает место на диске и деньги в облаке.
Второй заход: показать 42, 42, 42, 42, 195. Спросить — что заметили?
Появилась структура и выброс. Мозг сам начал искать смысл — это первый акт инженерии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Поиграть в "угадай число" вживую, собрать вопросы из аудитории.
Кто-то предложит "это 5?" — вероятность 1/8, плохой вопрос.
Кто-то предложит "больше 4?" — идеальный, ровно 1 бит.
Мораль для инженера: сообщение, которое ничего не меняет в решении, НЕ является информацией.
Хороший дашборд — тот, который делит вашу неопределённость пополам.
Шутка: "Завтра в Москве будет погода" — 0 бит. "Завтра снег" — биты.
"Завтра снег, а ты в кроссовках" — уже решение.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Разбирать снизу вверх на живом примере столовой.
Внизу — цифры с турникета, бесполезны сами по себе.
Добавили контекст → информация.
Посчитали пропускную способность (3 кассы × 1 чел/40 сек ≈ 4,5 чел/мин) и нашли
закономерность "после 13:10 спад" → знание. Теперь можем предсказать то, что не измеряли.
Приняли решение и изменили поведение → мудрость.
Работа инженера данных: построить лифт с 1-го этажа на 4-й и не потерять пассажиров.
ШУТКА (обязательно): честный пятый уровень — уровень «Ой».
У тебя есть данные, информация, знание — а ты всё равно пошёл в 12:30,
отстоял 20 минут и опоздал на пару.
Данные не принимают решения за вас. Это называется «дашборд, на который никто не смотрит».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Правило: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чем меньше структуры, тем дороже анализ.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Задача инженера — двигать данные слева… то есть справа налево: из мема в таблицу.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сказать: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Три состояния — как лёд, вода и пар. Оценка «5» в ведомости — лёд, всё жёстко и предсказуемо. JSON — вода, течёт куда нальёшь. Голосовое сообщение «ну там короче на семинаре сказали что-то про третью главу» — пар, поймать невозможно.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Живой пример: конспект. Фотография страницы конспекта — неструктурированные данные, компьютер видит только миллион пикселей. Распознали текст — стало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полуструктурированно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Разложили по полям «дисциплина / дата / тема / тезис» — стало структурированно, и теперь можно спрос: «покажи все темы, которые встречались перед контрольной».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28DE9-C336-0966-C9E1-A1FE7FC0E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68CEC1-E600-17EE-E430-F7E84A9377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09DF31-9B8A-C57D-706E-0BFDF7F287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Правило: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чем меньше структуры, тем дороже анализ.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Задача инженера — двигать данные слева… то есть справа налево: из мема в таблицу.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сказать: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Три состояния — как лёд, вода и пар. Оценка «5» в ведомости — лёд, всё жёстко и предсказуемо. JSON — вода, течёт куда нальёшь. Голосовое сообщение «ну там короче на семинаре сказали что-то про третью главу» — пар, поймать невозможно.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Живой пример: конспект. Фотография страницы конспекта — неструктурированные данные, компьютер видит только миллион пикселей. Распознали текст — стало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полуструктурированно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Разложили по полям «дисциплина / дата / тема / тезис» — стало структурированно, и теперь можно спрос: «покажи все темы, которые встречались перед контрольной».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D2A72-9B9C-7526-4062-2A5D77DE99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9481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Пройти по строкам, на каждой — короткий пример из университетской жизни.
На "уникальности" остановиться: три Иванова — классика, из-за которой одному
человеку приходят три письма о задолженности, а стипендия — ни одному.
Реальный кейс из датасета для семинара (ж/д осмотры):
колонка называется "Количество отступлений", а внутри значения 10, 8, Чд, Ч4,
ТР-43_ПАНТЕЛЕЕВО. Одновременно провал валидности И провал понимания смысла колонки.
Ещё: дата осмотра 2014 год, а "крайний срок устранения" — 2019-й.
Данные формально есть, а доверять им нельзя.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Ключевое: разница между багом в коде и багом в данных.
Код кричит. Данные молчат. Это самый опасный класс ошибок — он не выглядит как ошибка.
Байки, которые запоминаются навсегда:
1. "Дорогая NULL, специально для вас" — поле "имя" пустое, шаблон не проверял.
2. Пользователь родился 01.01.1970 — в базе стоял 0, а 0 в Unix-time = 1970.
3. В одной системе температура в Цельсиях, в другой в Фаренгейтах, обе пишут в колонку temp.
Правило инженера: валидация на входе, а не расследование на выходе.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Тезисы на слайде: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 —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Confidentiality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(конфиденциальность):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видит только тот, кому положено.</a:t>
            </a:r>
          </a:p>
          <a:p>
            <a:pPr lvl="0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—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Integrity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(целостность):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никто не изменил данные незаметно.</a:t>
            </a:r>
          </a:p>
          <a:p>
            <a:pPr lvl="0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—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Availability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(доступность):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данные есть тогда, когда нужны.</a:t>
            </a:r>
          </a:p>
          <a:p>
            <a:pPr lv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Персональные данные — отдельная тема: ФИО + телефон + оценки =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ПДн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регулируется 152-ФЗ.</a:t>
            </a:r>
          </a:p>
          <a:p>
            <a:pPr lv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Обезличивание: Иванов И.И. → Студент_375. Именно так сделан датасет, который мы будем разбирать на семинаре.</a:t>
            </a:r>
          </a:p>
          <a:p>
            <a:pPr lv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Права доступа: не «у кого пароль», а «кому что нужно по работе» (принцип минимальных привилегий).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сказать: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Три буквы CIA легко объяснить на трёх студенческих катастрофах: —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 нарушена: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кто-то кинул в общий чат группы файл зарплаты_финал_финал2.xlsx. Данные корректны, качество прекрасное, а карьера — нет. —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нарушена: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ведомость оценок в общем Google-документе с правами «редактировать всем». Через день у всей группы пятёрки. Данные доступны, конфиденциальны в пределах группы, но абсолютно бесполезны, потому что им нельзя верить. —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нарушена: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сервер с расписанием лёг 1 сентября. Данные целы, секретны, точны — и никому не помогли.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Важное для первокурсников: обезличивание — не косметика. В том железнодорожном датасете Сотрудник_375 и станция_33 вместо реальных имён — это позволяет учиться на настоящих производственных данных, не нарушая закон. Но обратите внимание: даже так остаётся риск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реидентификации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если известно, что на станции работал один инспектор, Сотрудник_375 перестаёт быть анонимным.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Часто путают три первые роли. Простой тест на различение: 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данных нет — работы нет ни у аналитика, ни у DS. 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Инженер данных — единственный, у кого работа есть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всегда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потому что его работа и есть «сделать так, чтобы данные были».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Важно сразу снять романтику: инженер данных — это на 60 % «трубопроводчик», на 30 % «детектив» (почему в отчёте не сходятся цифры) и на 10 % «дипломат» (уговорить владельца системы дать доступ к его данным).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Визуал: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таблица + справа маленькая диаграмма Венна из трёх кругов (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Engineer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 Scientist) с подписанным пересечением «SQL — знают все трое».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Тезисы на слайде: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Шесть этапов, за которые отвечает инженер данных:</a:t>
            </a:r>
          </a:p>
          <a:p>
            <a:pPr lvl="0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Generation /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Ingestion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сбор из источников (формы, датчики, API, файлы, БД).</a:t>
            </a:r>
          </a:p>
          <a:p>
            <a:pPr lvl="0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Storage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где положить (файл, БД, DWH,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lake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pPr lvl="0"/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Transformation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очистка, приведение к схеме, обогащение, агрегация.</a:t>
            </a:r>
          </a:p>
          <a:p>
            <a:pPr lvl="0"/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Serving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отдать потребителю (дашборд, API, выгрузка для ML).</a:t>
            </a:r>
          </a:p>
          <a:p>
            <a:pPr lvl="0"/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Orchestration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расписание и порядок: что после чего и что делать при сбое.</a:t>
            </a:r>
          </a:p>
          <a:p>
            <a:pPr lvl="0"/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Observability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мониторинг: пришли ли данные, сколько строк, не сломалось ли качество.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ETL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vs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ELT: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Extract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→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Load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Чистим до склада. Классика, экономит место.</a:t>
            </a:r>
          </a:p>
          <a:p>
            <a:pPr lvl="0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Extract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Load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Сначала складываем всё сырое, чистим уже внутри. Современный подход, когда хранение дешёвое.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сказать: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Аналогия с переездом в общагу. ETL — разобрать вещи дома, выбросить лишнее, привезти только нужное. ELT — привезти всё как есть, включая коробку с непонятным, а разбирать уже на месте. Второй способ быстрее на старте и превращается в бардак, если не следить, — ровно как и в жизни.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 этап 6 отдельно: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самая частая авария в инженерии данных — это не падение, а тишина.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Пайплайн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«успешно» отработал, но источник в этот день ничего не отдал, и в отчёте честный ноль. Поэтому мониторить надо не «упало/не упало», а «сколько строк пришло и похоже ли это на вчера».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Пункт 8 обычно вызывает недоумение — а как может быть иначе? Показываю: отчёт считался запросом «за последние 30 дней» без фиксации даты. Запустили в марте — одни цифры, в апреле — другие. Обоих не обманывали, просто никто не зафиксировал, 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какой момент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сделан срез. Это называется отсутствием версионности, и на этом горят бухгалтерии.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Пункт 6 — самый недооценённый. В любой средней компании есть 4 таблицы со словом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revenue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никто не знает, какая из них настоящая. Инженер данных — не только про трубы, но и про порядок в словах.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Визуал: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«доска задач» в стиле канбан-борда: 8 стикеров с задачами, у каждого — иконка и мини-подпись цитатой заказчика. Часть стикеров помечена «горит 🔥».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Задачи, которые из этого вырастают:</a:t>
            </a:r>
          </a:p>
          <a:p>
            <a:pPr lv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Найти ключ связи (что склеивает журнал и деканат?).</a:t>
            </a:r>
          </a:p>
          <a:p>
            <a:pPr lv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Нормализовать справочник дисциплин (маппинг названий).</a:t>
            </a:r>
          </a:p>
          <a:p>
            <a:pPr lv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Решить, что делать с анонимным опросом (агрегировать до уровня группы).</a:t>
            </a:r>
          </a:p>
          <a:p>
            <a:pPr lvl="0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Договориться о едином определении «средний балл» (учитывать ли пересдачи?).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сказать: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Обратите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вним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ни одной строчки про машинное обучение. И при этом это полноценная инженерная задача на 2–3 недели работы. Самый сложный пункт — четвёртый, потому что он не технический. Пока деканат и студсовет считают «средний балл» по-разному, любой дашборд будет неправильным для одной из сторон.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и есть вход в профессию: техника решаемая, семантика — нет.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Визуал: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схема «4 источника → 1 дашборд» с явно подписанными препятствиями на стрелках.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пугать количеством названий — это карта местности, не список для запоминания.
Проговорить рамку про сменяемость инструментов — это снимает тревогу
"я не успею выучить всё".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ошибка новичка — тащить аналитику в ту же базу, где живёт приложение.
Это как проводить инвентаризацию склада в разгар рабочего дня, стоя в проходе:
инвентаризация медленная, и работать никому нельзя.
Про Excel — без снобизма. Как только чувствуете лимиты — пора в базу.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0298D-83A1-D8BF-0689-2832506BF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8E8AE7-AB54-0C36-3EA9-A8AD0F7C14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D3E974-D5CF-2829-1283-319CF6A432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ошибка новичка — тащить аналитику в ту же базу, где живёт приложение.
Это как проводить инвентаризацию склада в разгар рабочего дня, стоя в проходе:
инвентаризация медленная, и работать никому нельзя.
Про Excel — без снобизма. Как только чувствуете лимиты — пора в базу.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9A2BAD-6EDD-E8D4-95FF-0939B8E8A7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9098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Airflow объяснять именно через утро студента — заходит с первого раза.
Нельзя "выйти" раньше "одеться" — есть зависимость.
Если "проснуться" упало — retry через 9 минут. Провалилось трижды — alert (маме).
Всё, вы поняли оркестратор.
Про Spark — прививка от резюме-моды. Обязательно проговорить.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Дать честную дорожную карту. Главный совет — в рамке внизу, проговорить с нажимом.
Анонсировать: на семинарах будем работать с реальным датасетом ж/д осмотров —
там есть всё: грязные данные, странные типы, обезличивание, потребность в аналитике.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Проверочный вопрос аудитории: "Схема метро — это ER или DFD?"
Ответ: скорее ER — она про структуру (станции и связи), а не про поток пассажиров.
А вот схема "как пассажир покупает билет и проходит турникет" — уже DFD/BPMN.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Разобрать предметную область университета.
Ключевой инсайт — в нижней рамке, проговорить обязательно, это фундамент.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DFD — то, что студенты будут рисовать чаще всего в курсовых и на работе,
потому что заказчик понимает движение лучше, чем структуру.
Типичная ошибка: рисуют "Студент → Оценка", где Оценка нарисована овалом.
Но Оценка не процесс, она не действие.
Процесс — всегда ГЛАГОЛ: "принять экзамен", "сформировать ведомость", "рассчитать балл".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6548E6B-75B9-933B-1BF1-3FCC5BBD92F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BFCFB"/>
              </a:clrFrom>
              <a:clrTo>
                <a:srgbClr val="FBFCF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29307"/>
            <a:ext cx="12192000" cy="6799385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BCE0539-5F55-81B5-3C2D-160078470F81}"/>
              </a:ext>
            </a:extLst>
          </p:cNvPr>
          <p:cNvSpPr/>
          <p:nvPr/>
        </p:nvSpPr>
        <p:spPr>
          <a:xfrm>
            <a:off x="4945224" y="4655976"/>
            <a:ext cx="2248678" cy="429208"/>
          </a:xfrm>
          <a:prstGeom prst="rect">
            <a:avLst/>
          </a:prstGeom>
          <a:solidFill>
            <a:srgbClr val="A9CD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</a:rPr>
              <a:t>Информация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C70CB2D-F2E7-A814-9D9D-5465625CE06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799" t="27300"/>
          <a:stretch>
            <a:fillRect/>
          </a:stretch>
        </p:blipFill>
        <p:spPr>
          <a:xfrm>
            <a:off x="0" y="29307"/>
            <a:ext cx="2621901" cy="40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919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D4042-13F4-CCEF-47E0-A91AFA21C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DCB3E12-E15F-280F-FE70-26D03D8608C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799" t="27300"/>
          <a:stretch>
            <a:fillRect/>
          </a:stretch>
        </p:blipFill>
        <p:spPr>
          <a:xfrm>
            <a:off x="0" y="29307"/>
            <a:ext cx="2621901" cy="4016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D9623A-EBC3-A14D-88C8-5AD95ABDAEC3}"/>
              </a:ext>
            </a:extLst>
          </p:cNvPr>
          <p:cNvSpPr txBox="1"/>
          <p:nvPr/>
        </p:nvSpPr>
        <p:spPr>
          <a:xfrm>
            <a:off x="2985796" y="230117"/>
            <a:ext cx="85748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/>
              <a:t>Термины и определения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1CDFE6-5720-1A60-9F27-556AC7ED2420}"/>
              </a:ext>
            </a:extLst>
          </p:cNvPr>
          <p:cNvSpPr txBox="1"/>
          <p:nvPr/>
        </p:nvSpPr>
        <p:spPr>
          <a:xfrm>
            <a:off x="233265" y="4364492"/>
            <a:ext cx="11868539" cy="919401"/>
          </a:xfrm>
          <a:prstGeom prst="roundRect">
            <a:avLst/>
          </a:prstGeom>
          <a:solidFill>
            <a:srgbClr val="A8CBE8"/>
          </a:solidFill>
        </p:spPr>
        <p:txBody>
          <a:bodyPr wrap="square">
            <a:spAutoFit/>
          </a:bodyPr>
          <a:lstStyle/>
          <a:p>
            <a:pPr algn="ctr"/>
            <a:endParaRPr lang="ru-RU" sz="2400" b="1" dirty="0"/>
          </a:p>
          <a:p>
            <a:pPr algn="ctr"/>
            <a:r>
              <a:rPr lang="ru-RU" sz="2400" b="1" dirty="0"/>
              <a:t>Данные (</a:t>
            </a:r>
            <a:r>
              <a:rPr lang="ru-RU" sz="2400" b="1" dirty="0" err="1"/>
              <a:t>data</a:t>
            </a:r>
            <a:r>
              <a:rPr lang="ru-RU" sz="2400" b="1" dirty="0"/>
              <a:t>): </a:t>
            </a:r>
            <a:r>
              <a:rPr lang="ru-RU" sz="2400" dirty="0"/>
              <a:t>Факты об объекте - ГОСТ Р ИСО 9000— 2015</a:t>
            </a:r>
          </a:p>
        </p:txBody>
      </p:sp>
    </p:spTree>
    <p:extLst>
      <p:ext uri="{BB962C8B-B14F-4D97-AF65-F5344CB8AC3E}">
        <p14:creationId xmlns:p14="http://schemas.microsoft.com/office/powerpoint/2010/main" val="2210673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2F2D875-A033-66AC-9C00-8DC28A36819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799" t="27300"/>
          <a:stretch>
            <a:fillRect/>
          </a:stretch>
        </p:blipFill>
        <p:spPr>
          <a:xfrm>
            <a:off x="0" y="29307"/>
            <a:ext cx="2621901" cy="4016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1AB107-B953-DD47-7447-FB3D4A101255}"/>
              </a:ext>
            </a:extLst>
          </p:cNvPr>
          <p:cNvSpPr txBox="1"/>
          <p:nvPr/>
        </p:nvSpPr>
        <p:spPr>
          <a:xfrm>
            <a:off x="2985796" y="230117"/>
            <a:ext cx="85748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/>
              <a:t>Термины и определения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229847-6311-2776-8520-D9D1D3C3B832}"/>
              </a:ext>
            </a:extLst>
          </p:cNvPr>
          <p:cNvSpPr txBox="1"/>
          <p:nvPr/>
        </p:nvSpPr>
        <p:spPr>
          <a:xfrm>
            <a:off x="233265" y="4364492"/>
            <a:ext cx="11868539" cy="919401"/>
          </a:xfrm>
          <a:prstGeom prst="roundRect">
            <a:avLst/>
          </a:prstGeom>
          <a:solidFill>
            <a:srgbClr val="A8CBE8"/>
          </a:solidFill>
        </p:spPr>
        <p:txBody>
          <a:bodyPr wrap="square">
            <a:spAutoFit/>
          </a:bodyPr>
          <a:lstStyle/>
          <a:p>
            <a:pPr algn="ctr"/>
            <a:endParaRPr lang="ru-RU" sz="2400" b="1" dirty="0"/>
          </a:p>
          <a:p>
            <a:pPr algn="ctr"/>
            <a:r>
              <a:rPr lang="ru-RU" sz="2400" b="1" dirty="0"/>
              <a:t>Данные (</a:t>
            </a:r>
            <a:r>
              <a:rPr lang="ru-RU" sz="2400" b="1" dirty="0" err="1"/>
              <a:t>data</a:t>
            </a:r>
            <a:r>
              <a:rPr lang="ru-RU" sz="2400" b="1" dirty="0"/>
              <a:t>): </a:t>
            </a:r>
            <a:r>
              <a:rPr lang="ru-RU" sz="2400" dirty="0"/>
              <a:t>Факты об объекте - ГОСТ Р ИСО 9000— 2015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ABC060-1842-5C88-3666-7FB60C2C4A2E}"/>
              </a:ext>
            </a:extLst>
          </p:cNvPr>
          <p:cNvSpPr txBox="1"/>
          <p:nvPr/>
        </p:nvSpPr>
        <p:spPr>
          <a:xfrm>
            <a:off x="530679" y="3594782"/>
            <a:ext cx="11319197" cy="715089"/>
          </a:xfrm>
          <a:prstGeom prst="roundRect">
            <a:avLst/>
          </a:prstGeom>
          <a:solidFill>
            <a:srgbClr val="5A9BD4"/>
          </a:solidFill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Информация</a:t>
            </a:r>
            <a:r>
              <a:rPr lang="ru-RU" dirty="0"/>
              <a:t> - сведения (сообщения, данные) независимо от формы их представления: </a:t>
            </a:r>
          </a:p>
          <a:p>
            <a:pPr algn="ctr"/>
            <a:r>
              <a:rPr lang="ru-RU" dirty="0"/>
              <a:t>Федеральный закон от 27.07.2006 N 149-ФЗ</a:t>
            </a:r>
          </a:p>
        </p:txBody>
      </p:sp>
    </p:spTree>
    <p:extLst>
      <p:ext uri="{BB962C8B-B14F-4D97-AF65-F5344CB8AC3E}">
        <p14:creationId xmlns:p14="http://schemas.microsoft.com/office/powerpoint/2010/main" val="2565033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F3E8E-3DA5-E859-02DA-A805BB6A1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BBF2772-8F8C-9341-9695-D080A6AD7EE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799" t="27300"/>
          <a:stretch>
            <a:fillRect/>
          </a:stretch>
        </p:blipFill>
        <p:spPr>
          <a:xfrm>
            <a:off x="0" y="29307"/>
            <a:ext cx="2621901" cy="4016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85AC3F-1FA7-B70E-2B81-97F263FDB97C}"/>
              </a:ext>
            </a:extLst>
          </p:cNvPr>
          <p:cNvSpPr txBox="1"/>
          <p:nvPr/>
        </p:nvSpPr>
        <p:spPr>
          <a:xfrm>
            <a:off x="2985796" y="230117"/>
            <a:ext cx="85748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/>
              <a:t>Термины и определения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F2A988-6858-1D93-B2A3-E8653B25E088}"/>
              </a:ext>
            </a:extLst>
          </p:cNvPr>
          <p:cNvSpPr txBox="1"/>
          <p:nvPr/>
        </p:nvSpPr>
        <p:spPr>
          <a:xfrm>
            <a:off x="233265" y="4364492"/>
            <a:ext cx="11868539" cy="919401"/>
          </a:xfrm>
          <a:prstGeom prst="roundRect">
            <a:avLst/>
          </a:prstGeom>
          <a:solidFill>
            <a:srgbClr val="A8CBE8"/>
          </a:solidFill>
        </p:spPr>
        <p:txBody>
          <a:bodyPr wrap="square">
            <a:spAutoFit/>
          </a:bodyPr>
          <a:lstStyle/>
          <a:p>
            <a:pPr algn="ctr"/>
            <a:endParaRPr lang="ru-RU" sz="2400" b="1" dirty="0"/>
          </a:p>
          <a:p>
            <a:pPr algn="ctr"/>
            <a:r>
              <a:rPr lang="ru-RU" sz="2400" b="1" dirty="0"/>
              <a:t>Данные (</a:t>
            </a:r>
            <a:r>
              <a:rPr lang="ru-RU" sz="2400" b="1" dirty="0" err="1"/>
              <a:t>data</a:t>
            </a:r>
            <a:r>
              <a:rPr lang="ru-RU" sz="2400" b="1" dirty="0"/>
              <a:t>): </a:t>
            </a:r>
            <a:r>
              <a:rPr lang="ru-RU" sz="2400" dirty="0"/>
              <a:t>Факты об объекте - ГОСТ Р ИСО 9000— 2015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8B5D7F-91C4-4963-7C7B-91C89F04D6DF}"/>
              </a:ext>
            </a:extLst>
          </p:cNvPr>
          <p:cNvSpPr txBox="1"/>
          <p:nvPr/>
        </p:nvSpPr>
        <p:spPr>
          <a:xfrm>
            <a:off x="530679" y="3594782"/>
            <a:ext cx="11319197" cy="715089"/>
          </a:xfrm>
          <a:prstGeom prst="roundRect">
            <a:avLst/>
          </a:prstGeom>
          <a:solidFill>
            <a:srgbClr val="5A9BD4"/>
          </a:solidFill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Информация</a:t>
            </a:r>
            <a:r>
              <a:rPr lang="ru-RU" dirty="0"/>
              <a:t> - сведения (сообщения, данные) независимо от формы их представления: </a:t>
            </a:r>
          </a:p>
          <a:p>
            <a:pPr algn="ctr"/>
            <a:r>
              <a:rPr lang="ru-RU" dirty="0"/>
              <a:t>Федеральный закон от 27.07.2006 N 149-ФЗ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CDB681-6F7D-1C8F-7A28-43B6255A82AA}"/>
              </a:ext>
            </a:extLst>
          </p:cNvPr>
          <p:cNvSpPr txBox="1"/>
          <p:nvPr/>
        </p:nvSpPr>
        <p:spPr>
          <a:xfrm>
            <a:off x="821094" y="2813456"/>
            <a:ext cx="10851501" cy="715089"/>
          </a:xfrm>
          <a:prstGeom prst="roundRect">
            <a:avLst/>
          </a:prstGeom>
          <a:solidFill>
            <a:srgbClr val="2D6A9F"/>
          </a:solidFill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З</a:t>
            </a:r>
            <a:r>
              <a:rPr lang="ru-RU" sz="1800" b="1" i="0" dirty="0">
                <a:solidFill>
                  <a:schemeClr val="bg1"/>
                </a:solidFill>
                <a:effectLst/>
                <a:latin typeface="+mn-lt"/>
              </a:rPr>
              <a:t>нания (</a:t>
            </a:r>
            <a:r>
              <a:rPr lang="ru-RU" sz="1800" b="1" i="0" dirty="0" err="1">
                <a:solidFill>
                  <a:schemeClr val="bg1"/>
                </a:solidFill>
                <a:effectLst/>
                <a:latin typeface="+mn-lt"/>
              </a:rPr>
              <a:t>knowledge</a:t>
            </a:r>
            <a:r>
              <a:rPr lang="ru-RU" sz="1800" b="1" i="0" dirty="0">
                <a:solidFill>
                  <a:schemeClr val="bg1"/>
                </a:solidFill>
                <a:effectLst/>
                <a:latin typeface="+mn-lt"/>
              </a:rPr>
              <a:t>): Объем восприятий и навыков, которые придуманы людьми. Объем знаний увеличивается пропорционально поступающей информации - </a:t>
            </a:r>
            <a:r>
              <a:rPr lang="ru-RU" b="1" dirty="0">
                <a:solidFill>
                  <a:schemeClr val="bg1"/>
                </a:solidFill>
              </a:rPr>
              <a:t>ГОСТ р 53894-2016</a:t>
            </a:r>
          </a:p>
        </p:txBody>
      </p:sp>
    </p:spTree>
    <p:extLst>
      <p:ext uri="{BB962C8B-B14F-4D97-AF65-F5344CB8AC3E}">
        <p14:creationId xmlns:p14="http://schemas.microsoft.com/office/powerpoint/2010/main" val="2755893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945F3-C838-7345-FDB5-1A1D2A683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A15FCE2-2257-0973-9BAA-4B29C42CB90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799" t="27300"/>
          <a:stretch>
            <a:fillRect/>
          </a:stretch>
        </p:blipFill>
        <p:spPr>
          <a:xfrm>
            <a:off x="0" y="29307"/>
            <a:ext cx="2621901" cy="4016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9971FF-4EFE-B1BB-CABC-8D9B3FD3CABE}"/>
              </a:ext>
            </a:extLst>
          </p:cNvPr>
          <p:cNvSpPr txBox="1"/>
          <p:nvPr/>
        </p:nvSpPr>
        <p:spPr>
          <a:xfrm>
            <a:off x="2985796" y="230117"/>
            <a:ext cx="85748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/>
              <a:t>Термины и определения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A2429F-7579-96C9-15D2-E3B291E8E563}"/>
              </a:ext>
            </a:extLst>
          </p:cNvPr>
          <p:cNvSpPr txBox="1"/>
          <p:nvPr/>
        </p:nvSpPr>
        <p:spPr>
          <a:xfrm>
            <a:off x="233265" y="4364492"/>
            <a:ext cx="11868539" cy="919401"/>
          </a:xfrm>
          <a:prstGeom prst="roundRect">
            <a:avLst/>
          </a:prstGeom>
          <a:solidFill>
            <a:srgbClr val="A8CBE8"/>
          </a:solidFill>
        </p:spPr>
        <p:txBody>
          <a:bodyPr wrap="square">
            <a:spAutoFit/>
          </a:bodyPr>
          <a:lstStyle/>
          <a:p>
            <a:pPr algn="ctr"/>
            <a:endParaRPr lang="ru-RU" sz="2400" b="1" dirty="0"/>
          </a:p>
          <a:p>
            <a:pPr algn="ctr"/>
            <a:r>
              <a:rPr lang="ru-RU" sz="2400" b="1" dirty="0"/>
              <a:t>Данные (</a:t>
            </a:r>
            <a:r>
              <a:rPr lang="ru-RU" sz="2400" b="1" dirty="0" err="1"/>
              <a:t>data</a:t>
            </a:r>
            <a:r>
              <a:rPr lang="ru-RU" sz="2400" b="1" dirty="0"/>
              <a:t>): </a:t>
            </a:r>
            <a:r>
              <a:rPr lang="ru-RU" sz="2400" dirty="0"/>
              <a:t>Факты об объекте - ГОСТ Р ИСО 9000— 2015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DAE4DA-661F-5C45-6994-98228E9CCB64}"/>
              </a:ext>
            </a:extLst>
          </p:cNvPr>
          <p:cNvSpPr txBox="1"/>
          <p:nvPr/>
        </p:nvSpPr>
        <p:spPr>
          <a:xfrm>
            <a:off x="530679" y="3594782"/>
            <a:ext cx="11319197" cy="715089"/>
          </a:xfrm>
          <a:prstGeom prst="roundRect">
            <a:avLst/>
          </a:prstGeom>
          <a:solidFill>
            <a:srgbClr val="5A9BD4"/>
          </a:solidFill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Информация</a:t>
            </a:r>
            <a:r>
              <a:rPr lang="ru-RU" dirty="0"/>
              <a:t> - сведения (сообщения, данные) независимо от формы их представления: </a:t>
            </a:r>
          </a:p>
          <a:p>
            <a:pPr algn="ctr"/>
            <a:r>
              <a:rPr lang="ru-RU" dirty="0"/>
              <a:t>Федеральный закон от 27.07.2006 N 149-ФЗ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C8A2BD-93F0-5419-053D-8B35AA2985AC}"/>
              </a:ext>
            </a:extLst>
          </p:cNvPr>
          <p:cNvSpPr txBox="1"/>
          <p:nvPr/>
        </p:nvSpPr>
        <p:spPr>
          <a:xfrm>
            <a:off x="821094" y="2813456"/>
            <a:ext cx="10851501" cy="715089"/>
          </a:xfrm>
          <a:prstGeom prst="roundRect">
            <a:avLst/>
          </a:prstGeom>
          <a:solidFill>
            <a:srgbClr val="2D6A9F"/>
          </a:solidFill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З</a:t>
            </a:r>
            <a:r>
              <a:rPr lang="ru-RU" sz="1800" b="1" i="0" dirty="0">
                <a:solidFill>
                  <a:schemeClr val="bg1"/>
                </a:solidFill>
                <a:effectLst/>
                <a:latin typeface="+mn-lt"/>
              </a:rPr>
              <a:t>нания (</a:t>
            </a:r>
            <a:r>
              <a:rPr lang="ru-RU" sz="1800" b="1" i="0" dirty="0" err="1">
                <a:solidFill>
                  <a:schemeClr val="bg1"/>
                </a:solidFill>
                <a:effectLst/>
                <a:latin typeface="+mn-lt"/>
              </a:rPr>
              <a:t>knowledge</a:t>
            </a:r>
            <a:r>
              <a:rPr lang="ru-RU" sz="1800" b="1" i="0" dirty="0">
                <a:solidFill>
                  <a:schemeClr val="bg1"/>
                </a:solidFill>
                <a:effectLst/>
                <a:latin typeface="+mn-lt"/>
              </a:rPr>
              <a:t>): Объем восприятий и навыков, которые придуманы людьми. Объем знаний увеличивается пропорционально поступающей информации - </a:t>
            </a:r>
            <a:r>
              <a:rPr lang="ru-RU" b="1" dirty="0">
                <a:solidFill>
                  <a:schemeClr val="bg1"/>
                </a:solidFill>
              </a:rPr>
              <a:t>ГОСТ р 53894-2016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4ECB6D-B20E-EE00-4687-C2F2B872CFD7}"/>
              </a:ext>
            </a:extLst>
          </p:cNvPr>
          <p:cNvSpPr txBox="1"/>
          <p:nvPr/>
        </p:nvSpPr>
        <p:spPr>
          <a:xfrm>
            <a:off x="2065563" y="1982459"/>
            <a:ext cx="83625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0" i="0" dirty="0">
                <a:solidFill>
                  <a:schemeClr val="tx1"/>
                </a:solidFill>
                <a:effectLst/>
                <a:latin typeface="+mn-lt"/>
              </a:rPr>
              <a:t>Мудрость — это </a:t>
            </a:r>
            <a:r>
              <a:rPr lang="ru-RU" sz="2400" b="1" i="0" dirty="0">
                <a:solidFill>
                  <a:schemeClr val="tx1"/>
                </a:solidFill>
                <a:effectLst/>
                <a:latin typeface="+mn-lt"/>
              </a:rPr>
              <a:t>свойство воли согласовываться с высшим благом</a:t>
            </a:r>
            <a:r>
              <a:rPr lang="ru-RU" sz="2400" b="0" i="0" dirty="0">
                <a:solidFill>
                  <a:schemeClr val="tx1"/>
                </a:solidFill>
                <a:effectLst/>
                <a:latin typeface="+mn-lt"/>
              </a:rPr>
              <a:t> как конечной целью всех вещей (И. Кант)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183992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7BCB2-3505-673F-59FD-EFF777B48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E9C9BD3-6D51-D940-5E73-B26E809BF45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799" t="27300"/>
          <a:stretch>
            <a:fillRect/>
          </a:stretch>
        </p:blipFill>
        <p:spPr>
          <a:xfrm>
            <a:off x="0" y="29307"/>
            <a:ext cx="2621901" cy="4016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7F8A9F-73A9-369A-41C9-2707F2AB4CC6}"/>
              </a:ext>
            </a:extLst>
          </p:cNvPr>
          <p:cNvSpPr txBox="1"/>
          <p:nvPr/>
        </p:nvSpPr>
        <p:spPr>
          <a:xfrm>
            <a:off x="4758612" y="217638"/>
            <a:ext cx="41054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/>
              <a:t>Задание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8F1E3BD-7671-78B4-5B6B-827F4ACBC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0475" y="1175171"/>
            <a:ext cx="4279835" cy="5203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453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462DBA-FE09-BC70-1FB3-1CD4DA45A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FCB0E6C-D79D-A3D5-CA82-47E27C75E162}"/>
              </a:ext>
            </a:extLst>
          </p:cNvPr>
          <p:cNvSpPr/>
          <p:nvPr/>
        </p:nvSpPr>
        <p:spPr>
          <a:xfrm>
            <a:off x="0" y="1017639"/>
            <a:ext cx="12034684" cy="502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40A2137-C3DB-7C35-CBCB-E3097DE926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412" y="811161"/>
            <a:ext cx="10163175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8360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E3722E4-3F81-58D4-7EFD-9E0F3CAA9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0575" y="616891"/>
            <a:ext cx="3871759" cy="4685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043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5C7CD09-64DA-4CAD-91AB-03F205F73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900" y="0"/>
            <a:ext cx="7696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8816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5048487-8A46-39F7-FBDB-2CAC86B3A642}"/>
              </a:ext>
            </a:extLst>
          </p:cNvPr>
          <p:cNvSpPr/>
          <p:nvPr/>
        </p:nvSpPr>
        <p:spPr>
          <a:xfrm>
            <a:off x="486137" y="1481559"/>
            <a:ext cx="11088547" cy="29052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3091731-6892-B5DD-3420-9C2765F5BC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133106"/>
              </p:ext>
            </p:extLst>
          </p:nvPr>
        </p:nvGraphicFramePr>
        <p:xfrm>
          <a:off x="381965" y="1476133"/>
          <a:ext cx="11632556" cy="2590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9344">
                  <a:extLst>
                    <a:ext uri="{9D8B030D-6E8A-4147-A177-3AD203B41FA5}">
                      <a16:colId xmlns:a16="http://schemas.microsoft.com/office/drawing/2014/main" val="2047729924"/>
                    </a:ext>
                  </a:extLst>
                </a:gridCol>
                <a:gridCol w="4406934">
                  <a:extLst>
                    <a:ext uri="{9D8B030D-6E8A-4147-A177-3AD203B41FA5}">
                      <a16:colId xmlns:a16="http://schemas.microsoft.com/office/drawing/2014/main" val="2011491350"/>
                    </a:ext>
                  </a:extLst>
                </a:gridCol>
                <a:gridCol w="2908139">
                  <a:extLst>
                    <a:ext uri="{9D8B030D-6E8A-4147-A177-3AD203B41FA5}">
                      <a16:colId xmlns:a16="http://schemas.microsoft.com/office/drawing/2014/main" val="321937101"/>
                    </a:ext>
                  </a:extLst>
                </a:gridCol>
                <a:gridCol w="2908139">
                  <a:extLst>
                    <a:ext uri="{9D8B030D-6E8A-4147-A177-3AD203B41FA5}">
                      <a16:colId xmlns:a16="http://schemas.microsoft.com/office/drawing/2014/main" val="3128938237"/>
                    </a:ext>
                  </a:extLst>
                </a:gridCol>
              </a:tblGrid>
              <a:tr h="182012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 b="1" dirty="0">
                          <a:effectLst/>
                        </a:rPr>
                        <a:t>Вариант</a:t>
                      </a:r>
                      <a:endParaRPr lang="ru-RU" sz="1600" b="1" i="0" dirty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 b="1">
                          <a:effectLst/>
                        </a:rPr>
                        <a:t>Когда подходит</a:t>
                      </a:r>
                      <a:endParaRPr lang="ru-RU" sz="1600" b="1" i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 b="1">
                          <a:effectLst/>
                        </a:rPr>
                        <a:t>Пример</a:t>
                      </a:r>
                      <a:endParaRPr lang="ru-RU" sz="1600" b="1" i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 b="1" dirty="0">
                          <a:effectLst/>
                        </a:rPr>
                        <a:t>Аналогия</a:t>
                      </a:r>
                      <a:endParaRPr lang="ru-RU" sz="1600" b="1" i="0" dirty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9942488"/>
                  </a:ext>
                </a:extLst>
              </a:tr>
              <a:tr h="182012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CSV / Excel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 dirty="0">
                          <a:effectLst/>
                        </a:rPr>
                        <a:t>до ~8 млн строк, разово</a:t>
                      </a:r>
                      <a:endParaRPr lang="ru-RU" sz="1600" b="0" i="0" dirty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students.csv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тетрадка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0950548"/>
                  </a:ext>
                </a:extLst>
              </a:tr>
              <a:tr h="314384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Parquet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те же данные, но в 5–10 раз меньше и быстрее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students.parquet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тетрадка со стенографией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5112074"/>
                  </a:ext>
                </a:extLst>
              </a:tr>
              <a:tr h="314384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SQL-БД (OLTP)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много мелких операций записи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PostgreSQL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картотека в регистратуре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0638282"/>
                  </a:ext>
                </a:extLst>
              </a:tr>
              <a:tr h="199865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DWH (OLAP)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тяжёлая аналитика по миллиардам строк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ClickHouse, Greenplum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 dirty="0">
                          <a:effectLst/>
                        </a:rPr>
                        <a:t>архив с быстрым поиском</a:t>
                      </a:r>
                      <a:endParaRPr lang="ru-RU" sz="1600" b="0" i="0" dirty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0757776"/>
                  </a:ext>
                </a:extLst>
              </a:tr>
              <a:tr h="199865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Data Lake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сырьё любого формата, включая картинки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S3 / MinIO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склад «пока не разбирали»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823744"/>
                  </a:ext>
                </a:extLst>
              </a:tr>
              <a:tr h="314384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NoSQL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 dirty="0">
                          <a:effectLst/>
                        </a:rPr>
                        <a:t>гибкая схема, вложенность</a:t>
                      </a:r>
                      <a:endParaRPr lang="ru-RU" sz="1600" b="0" i="0" dirty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MongoDB, Redis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 dirty="0">
                          <a:effectLst/>
                        </a:rPr>
                        <a:t>ящик с подписанными пакетами</a:t>
                      </a:r>
                      <a:endParaRPr lang="ru-RU" sz="1600" b="0" i="0" dirty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43367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B1176CF-906A-D973-D515-BB9A33703D4C}"/>
              </a:ext>
            </a:extLst>
          </p:cNvPr>
          <p:cNvSpPr txBox="1"/>
          <p:nvPr/>
        </p:nvSpPr>
        <p:spPr>
          <a:xfrm>
            <a:off x="1947441" y="4066933"/>
            <a:ext cx="60940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 rtl="0">
              <a:buNone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Online </a:t>
            </a:r>
            <a:r>
              <a:rPr lang="ru-RU" sz="1800" b="1" i="0" dirty="0" err="1">
                <a:solidFill>
                  <a:schemeClr val="tx1"/>
                </a:solidFill>
                <a:effectLst/>
                <a:latin typeface="+mn-lt"/>
              </a:rPr>
              <a:t>Transaction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 Processing</a:t>
            </a:r>
            <a:endParaRPr lang="ru-RU" sz="1200" b="1" i="0" dirty="0">
              <a:solidFill>
                <a:srgbClr val="222222"/>
              </a:solidFill>
              <a:effectLst/>
              <a:latin typeface="system-u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8A2690-167D-062B-FB9E-218B8A7D7A76}"/>
              </a:ext>
            </a:extLst>
          </p:cNvPr>
          <p:cNvSpPr txBox="1"/>
          <p:nvPr/>
        </p:nvSpPr>
        <p:spPr>
          <a:xfrm>
            <a:off x="7381755" y="4088369"/>
            <a:ext cx="3949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 rtl="0">
              <a:buNone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Online </a:t>
            </a:r>
            <a:r>
              <a:rPr lang="ru-RU" sz="1800" b="1" i="0" dirty="0" err="1">
                <a:solidFill>
                  <a:schemeClr val="tx1"/>
                </a:solidFill>
                <a:effectLst/>
                <a:latin typeface="+mn-lt"/>
              </a:rPr>
              <a:t>Analytical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 Processing</a:t>
            </a:r>
            <a:endParaRPr lang="ru-RU" sz="1200" b="1" i="0" dirty="0">
              <a:solidFill>
                <a:srgbClr val="222222"/>
              </a:solidFill>
              <a:effectLst/>
              <a:latin typeface="system-u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3CD26E-9D5D-FCC1-46DE-09872C0A2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D2F0EF0-F456-1A34-6403-2D2076484D32}"/>
              </a:ext>
            </a:extLst>
          </p:cNvPr>
          <p:cNvSpPr/>
          <p:nvPr/>
        </p:nvSpPr>
        <p:spPr>
          <a:xfrm>
            <a:off x="486137" y="1481559"/>
            <a:ext cx="11088547" cy="29052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E76E9D6C-DB43-2B40-60B0-2719416F4E5B}"/>
              </a:ext>
            </a:extLst>
          </p:cNvPr>
          <p:cNvGraphicFramePr>
            <a:graphicFrameLocks noGrp="1"/>
          </p:cNvGraphicFramePr>
          <p:nvPr/>
        </p:nvGraphicFramePr>
        <p:xfrm>
          <a:off x="381965" y="1476133"/>
          <a:ext cx="11632556" cy="2590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9344">
                  <a:extLst>
                    <a:ext uri="{9D8B030D-6E8A-4147-A177-3AD203B41FA5}">
                      <a16:colId xmlns:a16="http://schemas.microsoft.com/office/drawing/2014/main" val="2047729924"/>
                    </a:ext>
                  </a:extLst>
                </a:gridCol>
                <a:gridCol w="4406934">
                  <a:extLst>
                    <a:ext uri="{9D8B030D-6E8A-4147-A177-3AD203B41FA5}">
                      <a16:colId xmlns:a16="http://schemas.microsoft.com/office/drawing/2014/main" val="2011491350"/>
                    </a:ext>
                  </a:extLst>
                </a:gridCol>
                <a:gridCol w="2908139">
                  <a:extLst>
                    <a:ext uri="{9D8B030D-6E8A-4147-A177-3AD203B41FA5}">
                      <a16:colId xmlns:a16="http://schemas.microsoft.com/office/drawing/2014/main" val="321937101"/>
                    </a:ext>
                  </a:extLst>
                </a:gridCol>
                <a:gridCol w="2908139">
                  <a:extLst>
                    <a:ext uri="{9D8B030D-6E8A-4147-A177-3AD203B41FA5}">
                      <a16:colId xmlns:a16="http://schemas.microsoft.com/office/drawing/2014/main" val="3128938237"/>
                    </a:ext>
                  </a:extLst>
                </a:gridCol>
              </a:tblGrid>
              <a:tr h="182012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 b="1" dirty="0">
                          <a:effectLst/>
                        </a:rPr>
                        <a:t>Вариант</a:t>
                      </a:r>
                      <a:endParaRPr lang="ru-RU" sz="1600" b="1" i="0" dirty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 b="1">
                          <a:effectLst/>
                        </a:rPr>
                        <a:t>Когда подходит</a:t>
                      </a:r>
                      <a:endParaRPr lang="ru-RU" sz="1600" b="1" i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 b="1">
                          <a:effectLst/>
                        </a:rPr>
                        <a:t>Пример</a:t>
                      </a:r>
                      <a:endParaRPr lang="ru-RU" sz="1600" b="1" i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 b="1" dirty="0">
                          <a:effectLst/>
                        </a:rPr>
                        <a:t>Аналогия</a:t>
                      </a:r>
                      <a:endParaRPr lang="ru-RU" sz="1600" b="1" i="0" dirty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9942488"/>
                  </a:ext>
                </a:extLst>
              </a:tr>
              <a:tr h="182012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CSV / Excel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 dirty="0">
                          <a:effectLst/>
                        </a:rPr>
                        <a:t>до ~8 млн строк, разово</a:t>
                      </a:r>
                      <a:endParaRPr lang="ru-RU" sz="1600" b="0" i="0" dirty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students.csv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тетрадка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0950548"/>
                  </a:ext>
                </a:extLst>
              </a:tr>
              <a:tr h="314384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Parquet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те же данные, но в 5–10 раз меньше и быстрее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students.parquet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тетрадка со стенографией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5112074"/>
                  </a:ext>
                </a:extLst>
              </a:tr>
              <a:tr h="314384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SQL-БД (OLTP)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много мелких операций записи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PostgreSQL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картотека в регистратуре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0638282"/>
                  </a:ext>
                </a:extLst>
              </a:tr>
              <a:tr h="199865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DWH (OLAP)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тяжёлая аналитика по миллиардам строк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ClickHouse, Greenplum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 dirty="0">
                          <a:effectLst/>
                        </a:rPr>
                        <a:t>архив с быстрым поиском</a:t>
                      </a:r>
                      <a:endParaRPr lang="ru-RU" sz="1600" b="0" i="0" dirty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0757776"/>
                  </a:ext>
                </a:extLst>
              </a:tr>
              <a:tr h="199865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Data Lake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сырьё любого формата, включая картинки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S3 / MinIO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склад «пока не разбирали»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823744"/>
                  </a:ext>
                </a:extLst>
              </a:tr>
              <a:tr h="314384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NoSQL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 dirty="0">
                          <a:effectLst/>
                        </a:rPr>
                        <a:t>гибкая схема, вложенность</a:t>
                      </a:r>
                      <a:endParaRPr lang="ru-RU" sz="1600" b="0" i="0" dirty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>
                          <a:effectLst/>
                        </a:rPr>
                        <a:t>MongoDB, Redis</a:t>
                      </a:r>
                      <a:endParaRPr lang="ru-RU" sz="1600" b="0" i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ru-RU" sz="1600" dirty="0">
                          <a:effectLst/>
                        </a:rPr>
                        <a:t>ящик с подписанными пакетами</a:t>
                      </a:r>
                      <a:endParaRPr lang="ru-RU" sz="1600" b="0" i="0" dirty="0">
                        <a:solidFill>
                          <a:srgbClr val="252B37"/>
                        </a:solidFill>
                        <a:effectLst/>
                        <a:latin typeface="Int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43367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E47B8D1-BD2B-7F8F-87FF-8636490EBEAA}"/>
              </a:ext>
            </a:extLst>
          </p:cNvPr>
          <p:cNvSpPr txBox="1"/>
          <p:nvPr/>
        </p:nvSpPr>
        <p:spPr>
          <a:xfrm>
            <a:off x="1947441" y="4066933"/>
            <a:ext cx="60940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 rtl="0">
              <a:buNone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Online </a:t>
            </a:r>
            <a:r>
              <a:rPr lang="ru-RU" sz="1800" b="1" i="0" dirty="0" err="1">
                <a:solidFill>
                  <a:schemeClr val="tx1"/>
                </a:solidFill>
                <a:effectLst/>
                <a:latin typeface="+mn-lt"/>
              </a:rPr>
              <a:t>Transaction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 Processing</a:t>
            </a:r>
            <a:endParaRPr lang="ru-RU" sz="1200" b="1" i="0" dirty="0">
              <a:solidFill>
                <a:srgbClr val="222222"/>
              </a:solidFill>
              <a:effectLst/>
              <a:latin typeface="system-u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1F22BE-C03D-54A5-DDCF-054C78BBA5B8}"/>
              </a:ext>
            </a:extLst>
          </p:cNvPr>
          <p:cNvSpPr txBox="1"/>
          <p:nvPr/>
        </p:nvSpPr>
        <p:spPr>
          <a:xfrm>
            <a:off x="7381755" y="4088369"/>
            <a:ext cx="3949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 rtl="0">
              <a:buNone/>
            </a:pP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Online </a:t>
            </a:r>
            <a:r>
              <a:rPr lang="ru-RU" sz="1800" b="1" i="0" dirty="0" err="1">
                <a:solidFill>
                  <a:schemeClr val="tx1"/>
                </a:solidFill>
                <a:effectLst/>
                <a:latin typeface="+mn-lt"/>
              </a:rPr>
              <a:t>Analytical</a:t>
            </a:r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 Processing</a:t>
            </a:r>
            <a:endParaRPr lang="ru-RU" sz="1200" b="1" i="0" dirty="0">
              <a:solidFill>
                <a:srgbClr val="222222"/>
              </a:solidFill>
              <a:effectLst/>
              <a:latin typeface="system-ui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B0C7ACE-EA2E-386F-E78E-3A6A50CE537E}"/>
              </a:ext>
            </a:extLst>
          </p:cNvPr>
          <p:cNvSpPr/>
          <p:nvPr/>
        </p:nvSpPr>
        <p:spPr>
          <a:xfrm>
            <a:off x="381965" y="1476133"/>
            <a:ext cx="11632556" cy="26122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746A66-1013-BDA1-A390-82055D7304B1}"/>
              </a:ext>
            </a:extLst>
          </p:cNvPr>
          <p:cNvSpPr txBox="1"/>
          <p:nvPr/>
        </p:nvSpPr>
        <p:spPr>
          <a:xfrm>
            <a:off x="1261640" y="1593233"/>
            <a:ext cx="951438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Домашнее задание: определить что нужно вам для реализации задачи по проектной деятельности:</a:t>
            </a:r>
          </a:p>
          <a:p>
            <a:r>
              <a:rPr lang="en-US" sz="2800" b="1" dirty="0"/>
              <a:t>OLTP </a:t>
            </a:r>
            <a:endParaRPr lang="ru-RU" sz="2800" b="1" dirty="0"/>
          </a:p>
          <a:p>
            <a:r>
              <a:rPr lang="ru-RU" sz="2800" dirty="0"/>
              <a:t>Или</a:t>
            </a:r>
          </a:p>
          <a:p>
            <a:r>
              <a:rPr lang="en-US" sz="2800" b="1" dirty="0"/>
              <a:t>OLAP</a:t>
            </a:r>
            <a:r>
              <a:rPr lang="ru-RU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638807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Picture background">
            <a:extLst>
              <a:ext uri="{FF2B5EF4-FFF2-40B4-BE49-F238E27FC236}">
                <a16:creationId xmlns:a16="http://schemas.microsoft.com/office/drawing/2014/main" id="{A267445D-9EF3-5ECB-2EDC-CB5CD5216F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6392"/>
          <a:stretch>
            <a:fillRect/>
          </a:stretch>
        </p:blipFill>
        <p:spPr>
          <a:xfrm>
            <a:off x="6701700" y="780233"/>
            <a:ext cx="4618340" cy="47707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CF665E-C912-D909-7BD3-FF8E58166A27}"/>
              </a:ext>
            </a:extLst>
          </p:cNvPr>
          <p:cNvSpPr txBox="1"/>
          <p:nvPr/>
        </p:nvSpPr>
        <p:spPr>
          <a:xfrm>
            <a:off x="542544" y="1268618"/>
            <a:ext cx="609407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b="0" i="0" dirty="0">
                <a:solidFill>
                  <a:schemeClr val="tx1"/>
                </a:solidFill>
                <a:effectLst/>
                <a:latin typeface="+mn-lt"/>
              </a:rPr>
              <a:t>Представьте: преподаватель ставит оценку (OLTP). В этот же момент ректор запускает тяжелый аналитический запрос «Средний балл за 10 лет» (OLAP) по той же базе. 👉</a:t>
            </a:r>
            <a:endParaRPr lang="ru-RU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F7306C-4D7B-54A3-F20E-A1C9AECE8AC6}"/>
              </a:ext>
            </a:extLst>
          </p:cNvPr>
          <p:cNvSpPr txBox="1"/>
          <p:nvPr/>
        </p:nvSpPr>
        <p:spPr>
          <a:xfrm>
            <a:off x="6701700" y="5550933"/>
            <a:ext cx="60940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Результат: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База данных «встанет на колени». Преподаватель не сможет поставить оценку, система зависнет, студенты в панике.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7F43CC-E772-C865-41A8-D318734BD8BB}"/>
              </a:ext>
            </a:extLst>
          </p:cNvPr>
          <p:cNvSpPr txBox="1"/>
          <p:nvPr/>
        </p:nvSpPr>
        <p:spPr>
          <a:xfrm>
            <a:off x="477457" y="52877"/>
            <a:ext cx="1099305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 rtl="0">
              <a:buNone/>
            </a:pPr>
            <a:r>
              <a:rPr lang="ru-RU" sz="2800" b="1" i="0" dirty="0">
                <a:solidFill>
                  <a:schemeClr val="tx1"/>
                </a:solidFill>
                <a:effectLst/>
                <a:latin typeface="+mn-lt"/>
              </a:rPr>
              <a:t>Проблема «Всё в одном» и роль Инженера Данных</a:t>
            </a:r>
          </a:p>
          <a:p>
            <a:pPr indent="0" algn="l" rtl="0">
              <a:buNone/>
            </a:pPr>
            <a:r>
              <a:rPr lang="ru-RU" sz="2800" b="1" i="0" dirty="0">
                <a:solidFill>
                  <a:schemeClr val="tx1"/>
                </a:solidFill>
                <a:effectLst/>
                <a:latin typeface="+mn-lt"/>
              </a:rPr>
              <a:t>❌ Что будет, если запустить OLAP-запрос в OLTP-базе?</a:t>
            </a:r>
            <a:endParaRPr lang="ru-RU" b="1" i="0" dirty="0">
              <a:solidFill>
                <a:srgbClr val="222222"/>
              </a:solidFill>
              <a:effectLst/>
              <a:latin typeface="system-ui"/>
            </a:endParaRP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A398373E-5D45-DC21-B624-621B97ED80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2513626"/>
              </p:ext>
            </p:extLst>
          </p:nvPr>
        </p:nvGraphicFramePr>
        <p:xfrm>
          <a:off x="838200" y="3178333"/>
          <a:ext cx="4652100" cy="29260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550700">
                  <a:extLst>
                    <a:ext uri="{9D8B030D-6E8A-4147-A177-3AD203B41FA5}">
                      <a16:colId xmlns:a16="http://schemas.microsoft.com/office/drawing/2014/main" val="2470656139"/>
                    </a:ext>
                  </a:extLst>
                </a:gridCol>
                <a:gridCol w="1550700">
                  <a:extLst>
                    <a:ext uri="{9D8B030D-6E8A-4147-A177-3AD203B41FA5}">
                      <a16:colId xmlns:a16="http://schemas.microsoft.com/office/drawing/2014/main" val="3770710400"/>
                    </a:ext>
                  </a:extLst>
                </a:gridCol>
                <a:gridCol w="1550700">
                  <a:extLst>
                    <a:ext uri="{9D8B030D-6E8A-4147-A177-3AD203B41FA5}">
                      <a16:colId xmlns:a16="http://schemas.microsoft.com/office/drawing/2014/main" val="2226186794"/>
                    </a:ext>
                  </a:extLst>
                </a:gridCol>
              </a:tblGrid>
              <a:tr h="454126"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ru-RU" sz="1200" b="1" dirty="0">
                          <a:effectLst/>
                        </a:rPr>
                        <a:t>Характеристика</a:t>
                      </a:r>
                      <a:endParaRPr lang="ru-RU" sz="1200" b="1" i="0" dirty="0">
                        <a:solidFill>
                          <a:srgbClr val="222222"/>
                        </a:solidFill>
                        <a:effectLst/>
                        <a:latin typeface="system-ui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ru-RU" sz="1200" b="1" dirty="0">
                          <a:effectLst/>
                        </a:rPr>
                        <a:t>OLTP (Операционная)</a:t>
                      </a:r>
                      <a:endParaRPr lang="ru-RU" sz="1200" b="1" i="0" dirty="0">
                        <a:solidFill>
                          <a:srgbClr val="222222"/>
                        </a:solidFill>
                        <a:effectLst/>
                        <a:latin typeface="system-ui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ru-RU" sz="1200" b="1" dirty="0">
                          <a:effectLst/>
                        </a:rPr>
                        <a:t>OLAP (Аналитическая)</a:t>
                      </a:r>
                      <a:endParaRPr lang="ru-RU" sz="1200" b="1" i="0" dirty="0">
                        <a:solidFill>
                          <a:srgbClr val="222222"/>
                        </a:solidFill>
                        <a:effectLst/>
                        <a:latin typeface="system-ui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6952152"/>
                  </a:ext>
                </a:extLst>
              </a:tr>
              <a:tr h="454126"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ru-RU" sz="1200">
                          <a:effectLst/>
                        </a:rPr>
                        <a:t>Главная цель</a:t>
                      </a:r>
                      <a:endParaRPr lang="ru-RU" sz="1200" b="0" i="0">
                        <a:solidFill>
                          <a:srgbClr val="222222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ru-RU" sz="1200">
                          <a:effectLst/>
                        </a:rPr>
                        <a:t>Быстро провести операцию</a:t>
                      </a:r>
                      <a:endParaRPr lang="ru-RU" sz="1200" b="0" i="0">
                        <a:solidFill>
                          <a:srgbClr val="222222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ru-RU" sz="1200">
                          <a:effectLst/>
                        </a:rPr>
                        <a:t>Найти инсайт / тренд</a:t>
                      </a:r>
                      <a:endParaRPr lang="ru-RU" sz="1200" b="0" i="0">
                        <a:solidFill>
                          <a:srgbClr val="222222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0664707"/>
                  </a:ext>
                </a:extLst>
              </a:tr>
              <a:tr h="454126"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ru-RU" sz="1200">
                          <a:effectLst/>
                        </a:rPr>
                        <a:t>Операции</a:t>
                      </a:r>
                      <a:endParaRPr lang="ru-RU" sz="1200" b="0" i="0">
                        <a:solidFill>
                          <a:srgbClr val="222222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ru-RU" sz="1200">
                          <a:effectLst/>
                        </a:rPr>
                        <a:t>Много INSERT, UPDATE, DELETE</a:t>
                      </a:r>
                      <a:endParaRPr lang="ru-RU" sz="1200" b="0" i="0">
                        <a:solidFill>
                          <a:srgbClr val="222222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ru-RU" sz="1200">
                          <a:effectLst/>
                        </a:rPr>
                        <a:t>Почти только SELECT (чтение)</a:t>
                      </a:r>
                      <a:endParaRPr lang="ru-RU" sz="1200" b="0" i="0">
                        <a:solidFill>
                          <a:srgbClr val="222222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6181144"/>
                  </a:ext>
                </a:extLst>
              </a:tr>
              <a:tr h="454126"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ru-RU" sz="1200">
                          <a:effectLst/>
                        </a:rPr>
                        <a:t>Объем данных</a:t>
                      </a:r>
                      <a:endParaRPr lang="ru-RU" sz="1200" b="0" i="0">
                        <a:solidFill>
                          <a:srgbClr val="222222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ru-RU" sz="1200" dirty="0">
                          <a:effectLst/>
                        </a:rPr>
                        <a:t>Текущие, «живые» данные</a:t>
                      </a:r>
                      <a:endParaRPr lang="ru-RU" sz="1200" b="0" i="0" dirty="0">
                        <a:solidFill>
                          <a:srgbClr val="222222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ru-RU" sz="1200">
                          <a:effectLst/>
                        </a:rPr>
                        <a:t>Исторические данные за годы</a:t>
                      </a:r>
                      <a:endParaRPr lang="ru-RU" sz="1200" b="0" i="0">
                        <a:solidFill>
                          <a:srgbClr val="222222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7121142"/>
                  </a:ext>
                </a:extLst>
              </a:tr>
              <a:tr h="454126"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ru-RU" sz="1200">
                          <a:effectLst/>
                        </a:rPr>
                        <a:t>Кто пользуется</a:t>
                      </a:r>
                      <a:endParaRPr lang="ru-RU" sz="1200" b="0" i="0">
                        <a:solidFill>
                          <a:srgbClr val="222222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ru-RU" sz="1200">
                          <a:effectLst/>
                        </a:rPr>
                        <a:t>Кассиры, преподаватели, клиенты</a:t>
                      </a:r>
                      <a:endParaRPr lang="ru-RU" sz="1200" b="0" i="0">
                        <a:solidFill>
                          <a:srgbClr val="222222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ru-RU" sz="1200">
                          <a:effectLst/>
                        </a:rPr>
                        <a:t>Аналитики, ректорат, Data Scientists</a:t>
                      </a:r>
                      <a:endParaRPr lang="ru-RU" sz="1200" b="0" i="0">
                        <a:solidFill>
                          <a:srgbClr val="222222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4894209"/>
                  </a:ext>
                </a:extLst>
              </a:tr>
              <a:tr h="454126"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ru-RU" sz="1200">
                          <a:effectLst/>
                        </a:rPr>
                        <a:t>Аналогия</a:t>
                      </a:r>
                      <a:endParaRPr lang="ru-RU" sz="1200" b="0" i="0">
                        <a:solidFill>
                          <a:srgbClr val="222222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ru-RU" sz="1200">
                          <a:effectLst/>
                        </a:rPr>
                        <a:t>Спринт (бег на 100 метров) 🏃‍♂️</a:t>
                      </a:r>
                      <a:endParaRPr lang="ru-RU" sz="1200" b="0" i="0">
                        <a:solidFill>
                          <a:srgbClr val="222222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 rtl="0">
                        <a:buNone/>
                      </a:pPr>
                      <a:r>
                        <a:rPr lang="ru-RU" sz="1200" dirty="0">
                          <a:effectLst/>
                        </a:rPr>
                        <a:t>Марафон (бег на 42 км) 🏅</a:t>
                      </a:r>
                      <a:endParaRPr lang="ru-RU" sz="1200" b="0" i="0" dirty="0">
                        <a:solidFill>
                          <a:srgbClr val="222222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2183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99977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30AD68-9921-BABA-F988-16A8154121FD}"/>
              </a:ext>
            </a:extLst>
          </p:cNvPr>
          <p:cNvSpPr txBox="1"/>
          <p:nvPr/>
        </p:nvSpPr>
        <p:spPr>
          <a:xfrm>
            <a:off x="477457" y="1048964"/>
            <a:ext cx="1180328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 rtl="0">
              <a:buNone/>
            </a:pPr>
            <a:r>
              <a:rPr lang="ru-RU" sz="2800" b="1" i="0" dirty="0">
                <a:solidFill>
                  <a:schemeClr val="tx1"/>
                </a:solidFill>
                <a:effectLst/>
                <a:latin typeface="+mn-lt"/>
              </a:rPr>
              <a:t>И вот тут в игру вступаете ВЫ — Инженеры Данных!</a:t>
            </a:r>
            <a:r>
              <a:rPr lang="ru-RU" sz="2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endParaRPr lang="en-US" sz="2800" b="0" i="0" dirty="0">
              <a:solidFill>
                <a:schemeClr val="tx1"/>
              </a:solidFill>
              <a:effectLst/>
              <a:latin typeface="+mn-lt"/>
            </a:endParaRPr>
          </a:p>
          <a:p>
            <a:pPr indent="0" algn="l" rtl="0">
              <a:buNone/>
            </a:pPr>
            <a:endParaRPr lang="en-US" sz="2800" dirty="0"/>
          </a:p>
          <a:p>
            <a:pPr indent="0" algn="l" rtl="0">
              <a:buNone/>
            </a:pPr>
            <a:r>
              <a:rPr lang="ru-RU" sz="2800" b="0" i="0" dirty="0">
                <a:solidFill>
                  <a:schemeClr val="tx1"/>
                </a:solidFill>
                <a:effectLst/>
                <a:latin typeface="+mn-lt"/>
              </a:rPr>
              <a:t>Мы не заставляем OLTP делать аналитику. Мы строим </a:t>
            </a:r>
            <a:r>
              <a:rPr lang="ru-RU" sz="2800" b="1" i="0" dirty="0">
                <a:solidFill>
                  <a:schemeClr val="tx1"/>
                </a:solidFill>
                <a:effectLst/>
                <a:latin typeface="+mn-lt"/>
              </a:rPr>
              <a:t>мост (Data </a:t>
            </a:r>
            <a:r>
              <a:rPr lang="ru-RU" sz="2800" b="1" i="0" dirty="0" err="1">
                <a:solidFill>
                  <a:schemeClr val="tx1"/>
                </a:solidFill>
                <a:effectLst/>
                <a:latin typeface="+mn-lt"/>
              </a:rPr>
              <a:t>Pipeline</a:t>
            </a:r>
            <a:r>
              <a:rPr lang="ru-RU" sz="2800" b="1" i="0" dirty="0">
                <a:solidFill>
                  <a:schemeClr val="tx1"/>
                </a:solidFill>
                <a:effectLst/>
                <a:latin typeface="+mn-lt"/>
              </a:rPr>
              <a:t>)</a:t>
            </a:r>
            <a:r>
              <a:rPr lang="ru-RU" sz="2800" b="0" i="0" dirty="0">
                <a:solidFill>
                  <a:schemeClr val="tx1"/>
                </a:solidFill>
                <a:effectLst/>
                <a:latin typeface="+mn-lt"/>
              </a:rPr>
              <a:t>:</a:t>
            </a:r>
          </a:p>
          <a:p>
            <a:pPr marL="342900" marR="0" lvl="0" indent="-342900" algn="l" rtl="0">
              <a:buFont typeface="+mj-lt"/>
              <a:buAutoNum type="arabicPeriod"/>
            </a:pPr>
            <a:r>
              <a:rPr lang="ru-RU" sz="2800" b="1" i="0" dirty="0" err="1">
                <a:solidFill>
                  <a:schemeClr val="tx1"/>
                </a:solidFill>
                <a:effectLst/>
                <a:latin typeface="+mn-lt"/>
              </a:rPr>
              <a:t>Extract</a:t>
            </a:r>
            <a:r>
              <a:rPr lang="ru-RU" sz="2800" b="1" i="0" dirty="0">
                <a:solidFill>
                  <a:schemeClr val="tx1"/>
                </a:solidFill>
                <a:effectLst/>
                <a:latin typeface="+mn-lt"/>
              </a:rPr>
              <a:t> (Извлечь):</a:t>
            </a:r>
            <a:r>
              <a:rPr lang="ru-RU" sz="2800" b="0" i="0" dirty="0">
                <a:solidFill>
                  <a:schemeClr val="tx1"/>
                </a:solidFill>
                <a:effectLst/>
                <a:latin typeface="+mn-lt"/>
              </a:rPr>
              <a:t> Копируем данные из OLTP (где ставятся оценки).</a:t>
            </a:r>
          </a:p>
          <a:p>
            <a:pPr marL="342900" marR="0" lvl="0" indent="-342900" algn="l" rtl="0">
              <a:buFont typeface="+mj-lt"/>
              <a:buAutoNum type="arabicPeriod"/>
            </a:pPr>
            <a:r>
              <a:rPr lang="ru-RU" sz="2800" b="1" i="0" dirty="0" err="1">
                <a:solidFill>
                  <a:schemeClr val="tx1"/>
                </a:solidFill>
                <a:effectLst/>
                <a:latin typeface="+mn-lt"/>
              </a:rPr>
              <a:t>Transform</a:t>
            </a:r>
            <a:r>
              <a:rPr lang="ru-RU" sz="2800" b="1" i="0" dirty="0">
                <a:solidFill>
                  <a:schemeClr val="tx1"/>
                </a:solidFill>
                <a:effectLst/>
                <a:latin typeface="+mn-lt"/>
              </a:rPr>
              <a:t> (Преобразовать):</a:t>
            </a:r>
            <a:r>
              <a:rPr lang="ru-RU" sz="2800" b="0" i="0" dirty="0">
                <a:solidFill>
                  <a:schemeClr val="tx1"/>
                </a:solidFill>
                <a:effectLst/>
                <a:latin typeface="+mn-lt"/>
              </a:rPr>
              <a:t> Очищаем, приводим к единому виду.</a:t>
            </a:r>
          </a:p>
          <a:p>
            <a:pPr marL="342900" marR="0" lvl="0" indent="-342900" algn="l" rtl="0">
              <a:buFont typeface="+mj-lt"/>
              <a:buAutoNum type="arabicPeriod"/>
            </a:pPr>
            <a:r>
              <a:rPr lang="ru-RU" sz="2800" b="1" i="0" dirty="0" err="1">
                <a:solidFill>
                  <a:schemeClr val="tx1"/>
                </a:solidFill>
                <a:effectLst/>
                <a:latin typeface="+mn-lt"/>
              </a:rPr>
              <a:t>Load</a:t>
            </a:r>
            <a:r>
              <a:rPr lang="ru-RU" sz="2800" b="1" i="0" dirty="0">
                <a:solidFill>
                  <a:schemeClr val="tx1"/>
                </a:solidFill>
                <a:effectLst/>
                <a:latin typeface="+mn-lt"/>
              </a:rPr>
              <a:t> (Загрузить):</a:t>
            </a:r>
            <a:r>
              <a:rPr lang="ru-RU" sz="2800" b="0" i="0" dirty="0">
                <a:solidFill>
                  <a:schemeClr val="tx1"/>
                </a:solidFill>
                <a:effectLst/>
                <a:latin typeface="+mn-lt"/>
              </a:rPr>
              <a:t> Переносим в OLAP (хранилище данных / Data </a:t>
            </a:r>
            <a:r>
              <a:rPr lang="ru-RU" sz="2800" b="0" i="0" dirty="0" err="1">
                <a:solidFill>
                  <a:schemeClr val="tx1"/>
                </a:solidFill>
                <a:effectLst/>
                <a:latin typeface="+mn-lt"/>
              </a:rPr>
              <a:t>Warehouse</a:t>
            </a:r>
            <a:r>
              <a:rPr lang="ru-RU" sz="2800" b="0" i="0" dirty="0">
                <a:solidFill>
                  <a:schemeClr val="tx1"/>
                </a:solidFill>
                <a:effectLst/>
                <a:latin typeface="+mn-lt"/>
              </a:rPr>
              <a:t>)</a:t>
            </a:r>
            <a:endParaRPr lang="ru-RU" b="0" i="0" dirty="0">
              <a:solidFill>
                <a:srgbClr val="222222"/>
              </a:solidFill>
              <a:effectLst/>
              <a:latin typeface="system-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08211F-964A-8C38-35B3-EEE16047B50B}"/>
              </a:ext>
            </a:extLst>
          </p:cNvPr>
          <p:cNvSpPr txBox="1"/>
          <p:nvPr/>
        </p:nvSpPr>
        <p:spPr>
          <a:xfrm>
            <a:off x="477457" y="52877"/>
            <a:ext cx="109930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 rtl="0">
              <a:buNone/>
            </a:pPr>
            <a:r>
              <a:rPr lang="ru-RU" sz="2800" b="1" dirty="0"/>
              <a:t>Стартовая задача инженерии данных - </a:t>
            </a:r>
            <a:r>
              <a:rPr lang="en-US" sz="2800" b="1" dirty="0"/>
              <a:t>ETL</a:t>
            </a:r>
            <a:endParaRPr lang="ru-RU" b="1" i="0" dirty="0">
              <a:solidFill>
                <a:srgbClr val="222222"/>
              </a:solidFill>
              <a:effectLst/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15078448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BBCCBF-74C0-C782-E3B0-E274A84B2AA5}"/>
              </a:ext>
            </a:extLst>
          </p:cNvPr>
          <p:cNvSpPr txBox="1"/>
          <p:nvPr/>
        </p:nvSpPr>
        <p:spPr>
          <a:xfrm>
            <a:off x="3394277" y="1024756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i="0" dirty="0">
                <a:solidFill>
                  <a:schemeClr val="tx1"/>
                </a:solidFill>
                <a:effectLst/>
                <a:latin typeface="+mn-lt"/>
              </a:rPr>
              <a:t>DAG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— это </a:t>
            </a:r>
            <a:r>
              <a:rPr lang="ru-RU" sz="1800" b="1" i="0" dirty="0" err="1">
                <a:solidFill>
                  <a:schemeClr val="tx1"/>
                </a:solidFill>
                <a:effectLst/>
                <a:latin typeface="+mn-lt"/>
              </a:rPr>
              <a:t>D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irected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ru-RU" sz="1800" b="1" i="0" dirty="0" err="1">
                <a:solidFill>
                  <a:schemeClr val="tx1"/>
                </a:solidFill>
                <a:effectLst/>
                <a:latin typeface="+mn-lt"/>
              </a:rPr>
              <a:t>A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cyclic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ru-RU" sz="1800" b="1" i="0" dirty="0" err="1">
                <a:solidFill>
                  <a:schemeClr val="tx1"/>
                </a:solidFill>
                <a:effectLst/>
                <a:latin typeface="+mn-lt"/>
              </a:rPr>
              <a:t>G</a:t>
            </a:r>
            <a:r>
              <a:rPr lang="ru-RU" sz="1800" b="0" i="0" dirty="0" err="1">
                <a:solidFill>
                  <a:schemeClr val="tx1"/>
                </a:solidFill>
                <a:effectLst/>
                <a:latin typeface="+mn-lt"/>
              </a:rPr>
              <a:t>raph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ru-RU" sz="1800" b="0" i="0" dirty="0">
                <a:solidFill>
                  <a:schemeClr val="tx1"/>
                </a:solidFill>
                <a:effectLst/>
                <a:latin typeface="+mn-lt"/>
              </a:rPr>
              <a:t>Карта ваших задач</a:t>
            </a:r>
            <a:endParaRPr lang="ru-RU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C7D276-155A-9A99-DD0A-AE8F038D0E05}"/>
              </a:ext>
            </a:extLst>
          </p:cNvPr>
          <p:cNvSpPr txBox="1"/>
          <p:nvPr/>
        </p:nvSpPr>
        <p:spPr>
          <a:xfrm>
            <a:off x="813122" y="4220692"/>
            <a:ext cx="1152549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 rtl="0">
              <a:buNone/>
            </a:pPr>
            <a:r>
              <a:rPr lang="ru-RU" sz="2400" b="1" i="0" dirty="0" err="1">
                <a:solidFill>
                  <a:schemeClr val="tx1"/>
                </a:solidFill>
                <a:effectLst/>
                <a:latin typeface="+mn-lt"/>
              </a:rPr>
              <a:t>Airflow</a:t>
            </a:r>
            <a:r>
              <a:rPr lang="ru-RU" sz="2400" b="1" i="0" dirty="0">
                <a:solidFill>
                  <a:schemeClr val="tx1"/>
                </a:solidFill>
                <a:effectLst/>
                <a:latin typeface="+mn-lt"/>
              </a:rPr>
              <a:t> — это система </a:t>
            </a:r>
            <a:r>
              <a:rPr lang="ru-RU" sz="2400" b="1" i="0" dirty="0" err="1">
                <a:solidFill>
                  <a:schemeClr val="tx1"/>
                </a:solidFill>
                <a:effectLst/>
                <a:latin typeface="+mn-lt"/>
              </a:rPr>
              <a:t>оркестрации</a:t>
            </a:r>
            <a:r>
              <a:rPr lang="ru-RU" sz="2400" b="1" dirty="0"/>
              <a:t>, </a:t>
            </a:r>
            <a:r>
              <a:rPr lang="ru-RU" sz="2400" b="0" i="0" dirty="0">
                <a:solidFill>
                  <a:schemeClr val="tx1"/>
                </a:solidFill>
                <a:effectLst/>
                <a:latin typeface="+mn-lt"/>
              </a:rPr>
              <a:t>которая:</a:t>
            </a:r>
          </a:p>
          <a:p>
            <a:pPr marL="342900" marR="0" lvl="0" indent="-342900" algn="l" rtl="0">
              <a:buFont typeface="+mj-lt"/>
              <a:buAutoNum type="arabicPeriod"/>
            </a:pPr>
            <a:r>
              <a:rPr lang="ru-RU" sz="2400" b="0" i="0" dirty="0">
                <a:solidFill>
                  <a:schemeClr val="tx1"/>
                </a:solidFill>
                <a:effectLst/>
                <a:latin typeface="+mn-lt"/>
              </a:rPr>
              <a:t>Хранит ваши </a:t>
            </a:r>
            <a:r>
              <a:rPr lang="ru-RU" sz="2400" b="0" i="0" dirty="0" err="1">
                <a:solidFill>
                  <a:schemeClr val="tx1"/>
                </a:solidFill>
                <a:effectLst/>
                <a:latin typeface="+mn-lt"/>
              </a:rPr>
              <a:t>DAG'и</a:t>
            </a:r>
            <a:r>
              <a:rPr lang="ru-RU" sz="2400" b="0" i="0" dirty="0">
                <a:solidFill>
                  <a:schemeClr val="tx1"/>
                </a:solidFill>
                <a:effectLst/>
                <a:latin typeface="+mn-lt"/>
              </a:rPr>
              <a:t> (планы)</a:t>
            </a:r>
          </a:p>
          <a:p>
            <a:pPr marL="342900" marR="0" lvl="0" indent="-342900" algn="l" rtl="0">
              <a:buFont typeface="+mj-lt"/>
              <a:buAutoNum type="arabicPeriod"/>
            </a:pPr>
            <a:r>
              <a:rPr lang="ru-RU" sz="2400" b="0" i="0" dirty="0">
                <a:solidFill>
                  <a:schemeClr val="tx1"/>
                </a:solidFill>
                <a:effectLst/>
                <a:latin typeface="+mn-lt"/>
              </a:rPr>
              <a:t>Запускает задачи по расписанию или событию</a:t>
            </a:r>
          </a:p>
          <a:p>
            <a:pPr marL="342900" marR="0" lvl="0" indent="-342900" algn="l" rtl="0">
              <a:buFont typeface="+mj-lt"/>
              <a:buAutoNum type="arabicPeriod"/>
            </a:pPr>
            <a:r>
              <a:rPr lang="ru-RU" sz="2400" b="0" i="0" dirty="0">
                <a:solidFill>
                  <a:schemeClr val="tx1"/>
                </a:solidFill>
                <a:effectLst/>
                <a:latin typeface="+mn-lt"/>
              </a:rPr>
              <a:t>Следит за зависимостями (нельзя "Выйти" до "Одеться")</a:t>
            </a:r>
          </a:p>
          <a:p>
            <a:pPr marL="342900" marR="0" lvl="0" indent="-342900" algn="l" rtl="0">
              <a:buFont typeface="+mj-lt"/>
              <a:buAutoNum type="arabicPeriod"/>
            </a:pPr>
            <a:r>
              <a:rPr lang="ru-RU" sz="2400" b="0" i="0" dirty="0">
                <a:solidFill>
                  <a:schemeClr val="tx1"/>
                </a:solidFill>
                <a:effectLst/>
                <a:latin typeface="+mn-lt"/>
              </a:rPr>
              <a:t>Обрабатывает ошибки (</a:t>
            </a:r>
            <a:r>
              <a:rPr lang="ru-RU" sz="2400" b="0" i="0" dirty="0" err="1">
                <a:solidFill>
                  <a:schemeClr val="tx1"/>
                </a:solidFill>
                <a:effectLst/>
                <a:latin typeface="+mn-lt"/>
              </a:rPr>
              <a:t>retry</a:t>
            </a:r>
            <a:r>
              <a:rPr lang="ru-RU" sz="2400" b="0" i="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ru-RU" sz="2400" b="0" i="0" dirty="0" err="1">
                <a:solidFill>
                  <a:schemeClr val="tx1"/>
                </a:solidFill>
                <a:effectLst/>
                <a:latin typeface="+mn-lt"/>
              </a:rPr>
              <a:t>alert</a:t>
            </a:r>
            <a:r>
              <a:rPr lang="ru-RU" sz="2400" b="0" i="0" dirty="0">
                <a:solidFill>
                  <a:schemeClr val="tx1"/>
                </a:solidFill>
                <a:effectLst/>
                <a:latin typeface="+mn-lt"/>
              </a:rPr>
              <a:t>)</a:t>
            </a:r>
          </a:p>
          <a:p>
            <a:pPr marL="342900" marR="0" lvl="0" indent="-342900" algn="l" rtl="0">
              <a:buFont typeface="+mj-lt"/>
              <a:buAutoNum type="arabicPeriod"/>
            </a:pPr>
            <a:r>
              <a:rPr lang="ru-RU" sz="2400" b="0" i="0" dirty="0">
                <a:solidFill>
                  <a:schemeClr val="tx1"/>
                </a:solidFill>
                <a:effectLst/>
                <a:latin typeface="+mn-lt"/>
              </a:rPr>
              <a:t>Показывает вам красивый веб-интерфейс, где видно, что выполнилось, а что упало</a:t>
            </a:r>
            <a:endParaRPr lang="ru-RU" sz="1600" b="0" i="0" dirty="0">
              <a:solidFill>
                <a:srgbClr val="222222"/>
              </a:solidFill>
              <a:effectLst/>
              <a:latin typeface="system-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32DEDB-070A-AD7B-6583-73889684BB5B}"/>
              </a:ext>
            </a:extLst>
          </p:cNvPr>
          <p:cNvSpPr txBox="1"/>
          <p:nvPr/>
        </p:nvSpPr>
        <p:spPr>
          <a:xfrm>
            <a:off x="692070" y="528367"/>
            <a:ext cx="1080786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Знает что вы должны сделать в течении для </a:t>
            </a:r>
            <a:endParaRPr lang="ru-RU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Дает указание, в каком порядке выполнять задачи </a:t>
            </a:r>
            <a:r>
              <a:rPr lang="ru-RU" sz="2400" dirty="0"/>
              <a:t>(сначала моем руки, потом едим)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Проверяет, выполнилась ли задача </a:t>
            </a:r>
          </a:p>
          <a:p>
            <a:pPr lvl="0"/>
            <a:r>
              <a:rPr lang="ru-RU" sz="2400" b="1" dirty="0"/>
              <a:t>    </a:t>
            </a:r>
            <a:r>
              <a:rPr lang="ru-RU" sz="2400" dirty="0"/>
              <a:t>(не помоешь, не поешь)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Отправляет на повторное выполнение задачи, если что-то пошло не так</a:t>
            </a:r>
            <a:endParaRPr lang="ru-RU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Доводит до сведения, что что-то пошло не так</a:t>
            </a:r>
            <a:endParaRPr lang="ru-RU" sz="2400" dirty="0">
              <a:solidFill>
                <a:srgbClr val="222222"/>
              </a:solidFill>
              <a:latin typeface="system-ui"/>
            </a:endParaRPr>
          </a:p>
        </p:txBody>
      </p:sp>
      <p:sp>
        <p:nvSpPr>
          <p:cNvPr id="6" name="Стрелка: вниз 5">
            <a:extLst>
              <a:ext uri="{FF2B5EF4-FFF2-40B4-BE49-F238E27FC236}">
                <a16:creationId xmlns:a16="http://schemas.microsoft.com/office/drawing/2014/main" id="{19BF0BAF-E3EC-8315-0093-5E0BF5741CC0}"/>
              </a:ext>
            </a:extLst>
          </p:cNvPr>
          <p:cNvSpPr/>
          <p:nvPr/>
        </p:nvSpPr>
        <p:spPr>
          <a:xfrm>
            <a:off x="1354238" y="3206023"/>
            <a:ext cx="1030147" cy="914564"/>
          </a:xfrm>
          <a:prstGeom prst="down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78730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59152-73A1-BC7B-B2AA-8C6DB6839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17E09D5-804F-B9E3-7463-6B075CD1E52D}"/>
              </a:ext>
            </a:extLst>
          </p:cNvPr>
          <p:cNvSpPr txBox="1"/>
          <p:nvPr/>
        </p:nvSpPr>
        <p:spPr>
          <a:xfrm>
            <a:off x="651075" y="1659285"/>
            <a:ext cx="1108565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rtl="0"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chemeClr val="tx1"/>
                </a:solidFill>
                <a:effectLst/>
                <a:latin typeface="+mn-lt"/>
              </a:rPr>
              <a:t>Знает что вы должны сделать в течении для </a:t>
            </a:r>
            <a:endParaRPr lang="ru-RU" sz="2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 rtl="0"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chemeClr val="tx1"/>
                </a:solidFill>
                <a:effectLst/>
                <a:latin typeface="+mn-lt"/>
              </a:rPr>
              <a:t>Дает указание, в каком порядке выполнять задачи </a:t>
            </a:r>
            <a:r>
              <a:rPr lang="ru-RU" sz="2800" i="0" dirty="0">
                <a:solidFill>
                  <a:schemeClr val="tx1"/>
                </a:solidFill>
                <a:effectLst/>
                <a:latin typeface="+mn-lt"/>
              </a:rPr>
              <a:t>(сначала моем руки, потом едим)</a:t>
            </a:r>
          </a:p>
          <a:p>
            <a:pPr marL="342900" marR="0" lvl="0" indent="-342900" algn="l" rtl="0"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chemeClr val="tx1"/>
                </a:solidFill>
                <a:effectLst/>
                <a:latin typeface="+mn-lt"/>
              </a:rPr>
              <a:t>Проверяет, выполнилась ли задача </a:t>
            </a:r>
          </a:p>
          <a:p>
            <a:pPr marR="0" lvl="0" algn="l" rtl="0"/>
            <a:r>
              <a:rPr lang="ru-RU" sz="2800" b="1" dirty="0"/>
              <a:t>    </a:t>
            </a:r>
            <a:r>
              <a:rPr lang="ru-RU" sz="2800" dirty="0"/>
              <a:t>(не помоешь, не поешь)</a:t>
            </a:r>
            <a:endParaRPr lang="ru-RU" sz="2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 rtl="0">
              <a:buFont typeface="Arial" panose="020B0604020202020204" pitchFamily="34" charset="0"/>
              <a:buChar char="•"/>
            </a:pPr>
            <a:r>
              <a:rPr lang="ru-RU" sz="2800" b="1" dirty="0"/>
              <a:t>Отправляет на повторное выполнение задачи</a:t>
            </a:r>
            <a:r>
              <a:rPr lang="ru-RU" sz="2800" b="1" i="0" dirty="0">
                <a:solidFill>
                  <a:schemeClr val="tx1"/>
                </a:solidFill>
                <a:effectLst/>
                <a:latin typeface="+mn-lt"/>
              </a:rPr>
              <a:t>, если что-то пошло не так</a:t>
            </a:r>
            <a:endParaRPr lang="ru-RU" sz="2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 rtl="0">
              <a:buFont typeface="Arial" panose="020B0604020202020204" pitchFamily="34" charset="0"/>
              <a:buChar char="•"/>
            </a:pPr>
            <a:r>
              <a:rPr lang="ru-RU" sz="2800" b="1" dirty="0"/>
              <a:t>Доводит до сведения, что что-то пошло не так</a:t>
            </a:r>
            <a:endParaRPr lang="ru-RU" b="0" i="0" dirty="0">
              <a:solidFill>
                <a:srgbClr val="222222"/>
              </a:solidFill>
              <a:effectLst/>
              <a:latin typeface="system-u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B85C5F-CDFB-3DBF-A861-1A987BC74C34}"/>
              </a:ext>
            </a:extLst>
          </p:cNvPr>
          <p:cNvSpPr txBox="1"/>
          <p:nvPr/>
        </p:nvSpPr>
        <p:spPr>
          <a:xfrm>
            <a:off x="651076" y="173620"/>
            <a:ext cx="110856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/>
              <a:t>Вопрос, кто в вашей жизни делает следующие задачи?</a:t>
            </a:r>
          </a:p>
        </p:txBody>
      </p:sp>
    </p:spTree>
    <p:extLst>
      <p:ext uri="{BB962C8B-B14F-4D97-AF65-F5344CB8AC3E}">
        <p14:creationId xmlns:p14="http://schemas.microsoft.com/office/powerpoint/2010/main" val="20593078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3090</Words>
  <Application>Microsoft Office PowerPoint</Application>
  <PresentationFormat>Широкоэкранный</PresentationFormat>
  <Paragraphs>223</Paragraphs>
  <Slides>39</Slides>
  <Notes>27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39</vt:i4>
      </vt:variant>
    </vt:vector>
  </HeadingPairs>
  <TitlesOfParts>
    <vt:vector size="44" baseType="lpstr">
      <vt:lpstr>Arial</vt:lpstr>
      <vt:lpstr>Calibri</vt:lpstr>
      <vt:lpstr>Inter</vt:lpstr>
      <vt:lpstr>system-ui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Данные и инженерия данных</dc:title>
  <dc:subject>PptxGenJS Presentation</dc:subject>
  <dc:creator>Created by Marp</dc:creator>
  <cp:lastModifiedBy>Oesune</cp:lastModifiedBy>
  <cp:revision>18</cp:revision>
  <dcterms:created xsi:type="dcterms:W3CDTF">2026-09-02T12:45:20Z</dcterms:created>
  <dcterms:modified xsi:type="dcterms:W3CDTF">2026-09-02T16:09:21Z</dcterms:modified>
</cp:coreProperties>
</file>