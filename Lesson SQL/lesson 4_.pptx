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70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65" autoAdjust="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1579C1-3D46-416E-AE57-AD926F6CF531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10EA2FD3-2469-4A8E-A938-48CB90D10EF9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Данные живут в базах</a:t>
          </a:r>
          <a:br>
            <a:rPr lang="ru-RU" dirty="0"/>
          </a:br>
          <a:r>
            <a:rPr lang="ru-RU" b="0" i="0" dirty="0"/>
            <a:t>Excel не тянет миллионы строк.</a:t>
          </a:r>
          <a:br>
            <a:rPr lang="ru-RU" dirty="0"/>
          </a:br>
          <a:r>
            <a:rPr lang="ru-RU" b="0" i="0" dirty="0"/>
            <a:t>База </a:t>
          </a:r>
          <a:r>
            <a:rPr lang="ru-RU" b="0" dirty="0"/>
            <a:t>–</a:t>
          </a:r>
          <a:r>
            <a:rPr lang="ru-RU" b="0" i="0" dirty="0"/>
            <a:t> тянет.</a:t>
          </a:r>
          <a:endParaRPr lang="ru-RU" dirty="0"/>
        </a:p>
      </dgm:t>
    </dgm:pt>
    <dgm:pt modelId="{E9339CA1-70E3-448D-BD63-13F142DDA7E7}" type="parTrans" cxnId="{1BFDAB49-AF99-4585-A383-1B96E918A2EF}">
      <dgm:prSet/>
      <dgm:spPr/>
      <dgm:t>
        <a:bodyPr/>
        <a:lstStyle/>
        <a:p>
          <a:endParaRPr lang="ru-RU"/>
        </a:p>
      </dgm:t>
    </dgm:pt>
    <dgm:pt modelId="{64EB37D3-56C6-40F6-A99A-075310030ECD}" type="sibTrans" cxnId="{1BFDAB49-AF99-4585-A383-1B96E918A2EF}">
      <dgm:prSet/>
      <dgm:spPr/>
      <dgm:t>
        <a:bodyPr/>
        <a:lstStyle/>
        <a:p>
          <a:endParaRPr lang="ru-RU"/>
        </a:p>
      </dgm:t>
    </dgm:pt>
    <dgm:pt modelId="{3719AA8F-E256-4E9D-AA3C-D1AE06EDE56B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SQL быстрый</a:t>
          </a:r>
          <a:br>
            <a:rPr lang="ru-RU" dirty="0"/>
          </a:br>
          <a:r>
            <a:rPr lang="ru-RU" b="0" i="0" dirty="0"/>
            <a:t>Запрос по миллиону строк </a:t>
          </a:r>
          <a:r>
            <a:rPr lang="ru-RU" b="0" dirty="0"/>
            <a:t>–</a:t>
          </a:r>
          <a:r>
            <a:rPr lang="ru-RU" b="0" i="0" dirty="0"/>
            <a:t> секунды.</a:t>
          </a:r>
          <a:br>
            <a:rPr lang="ru-RU" dirty="0"/>
          </a:br>
          <a:r>
            <a:rPr lang="ru-RU" b="0" i="0" dirty="0"/>
            <a:t>В Excel такое займёт минуты.</a:t>
          </a:r>
          <a:endParaRPr lang="ru-RU" dirty="0"/>
        </a:p>
      </dgm:t>
    </dgm:pt>
    <dgm:pt modelId="{4EB6755B-4BFF-47ED-A5DE-5F97C419931B}" type="parTrans" cxnId="{CA16596F-A9DE-4D6D-B6D9-C55B6174CC5A}">
      <dgm:prSet/>
      <dgm:spPr/>
      <dgm:t>
        <a:bodyPr/>
        <a:lstStyle/>
        <a:p>
          <a:endParaRPr lang="ru-RU"/>
        </a:p>
      </dgm:t>
    </dgm:pt>
    <dgm:pt modelId="{881B0840-0671-4B73-9D22-9F40319D7736}" type="sibTrans" cxnId="{CA16596F-A9DE-4D6D-B6D9-C55B6174CC5A}">
      <dgm:prSet/>
      <dgm:spPr/>
      <dgm:t>
        <a:bodyPr/>
        <a:lstStyle/>
        <a:p>
          <a:endParaRPr lang="ru-RU"/>
        </a:p>
      </dgm:t>
    </dgm:pt>
    <dgm:pt modelId="{396A5B22-1352-4AAB-B8EF-A4B210A70A04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SQL </a:t>
          </a:r>
          <a:r>
            <a:rPr lang="ru-RU" b="1" dirty="0"/>
            <a:t>–</a:t>
          </a:r>
          <a:r>
            <a:rPr lang="ru-RU" b="1" i="0" dirty="0"/>
            <a:t> универсальный язык</a:t>
          </a:r>
          <a:br>
            <a:rPr lang="ru-RU" dirty="0"/>
          </a:br>
          <a:r>
            <a:rPr lang="ru-RU" b="0" i="0" dirty="0"/>
            <a:t>Его знают все: инженер, аналитик, учёный.</a:t>
          </a:r>
          <a:br>
            <a:rPr lang="ru-RU" dirty="0"/>
          </a:br>
          <a:r>
            <a:rPr lang="ru-RU" b="0" i="0" dirty="0"/>
            <a:t>Один язык </a:t>
          </a:r>
          <a:r>
            <a:rPr lang="ru-RU" b="0" dirty="0"/>
            <a:t>–</a:t>
          </a:r>
          <a:r>
            <a:rPr lang="ru-RU" b="0" i="0" dirty="0"/>
            <a:t> для всех.</a:t>
          </a:r>
          <a:endParaRPr lang="ru-RU" dirty="0"/>
        </a:p>
      </dgm:t>
    </dgm:pt>
    <dgm:pt modelId="{65C7B5E4-2D68-449C-9FEC-076D881A8614}" type="parTrans" cxnId="{99A6F89D-B8F2-4A84-9E9E-180A621D44C5}">
      <dgm:prSet/>
      <dgm:spPr/>
      <dgm:t>
        <a:bodyPr/>
        <a:lstStyle/>
        <a:p>
          <a:endParaRPr lang="ru-RU"/>
        </a:p>
      </dgm:t>
    </dgm:pt>
    <dgm:pt modelId="{BE5AE0C1-D020-4AC7-BF90-75234610C1F8}" type="sibTrans" cxnId="{99A6F89D-B8F2-4A84-9E9E-180A621D44C5}">
      <dgm:prSet/>
      <dgm:spPr/>
      <dgm:t>
        <a:bodyPr/>
        <a:lstStyle/>
        <a:p>
          <a:endParaRPr lang="ru-RU"/>
        </a:p>
      </dgm:t>
    </dgm:pt>
    <dgm:pt modelId="{1CE334D5-90CE-4F3A-B70C-4162DDA8EDD3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SQL повторяемый</a:t>
          </a:r>
          <a:br>
            <a:rPr lang="ru-RU" dirty="0"/>
          </a:br>
          <a:r>
            <a:rPr lang="ru-RU" b="0" i="0" dirty="0"/>
            <a:t>Один раз написал </a:t>
          </a:r>
          <a:r>
            <a:rPr lang="ru-RU" b="0" dirty="0"/>
            <a:t>–</a:t>
          </a:r>
          <a:r>
            <a:rPr lang="ru-RU" b="0" i="0" dirty="0"/>
            <a:t> работает всегда.</a:t>
          </a:r>
          <a:br>
            <a:rPr lang="ru-RU" dirty="0"/>
          </a:br>
          <a:r>
            <a:rPr lang="ru-RU" b="0" i="0" dirty="0"/>
            <a:t>Excel-отчёт придётся собирать заново.</a:t>
          </a:r>
          <a:endParaRPr lang="ru-RU" dirty="0"/>
        </a:p>
      </dgm:t>
    </dgm:pt>
    <dgm:pt modelId="{43E1704C-34BA-4D03-B295-28C8D898D515}" type="parTrans" cxnId="{065C9865-D34E-4B5C-85F3-FC7661106035}">
      <dgm:prSet/>
      <dgm:spPr/>
      <dgm:t>
        <a:bodyPr/>
        <a:lstStyle/>
        <a:p>
          <a:endParaRPr lang="ru-RU"/>
        </a:p>
      </dgm:t>
    </dgm:pt>
    <dgm:pt modelId="{422325F3-5243-47CC-9032-DEC8049FCBBA}" type="sibTrans" cxnId="{065C9865-D34E-4B5C-85F3-FC7661106035}">
      <dgm:prSet/>
      <dgm:spPr/>
      <dgm:t>
        <a:bodyPr/>
        <a:lstStyle/>
        <a:p>
          <a:endParaRPr lang="ru-RU"/>
        </a:p>
      </dgm:t>
    </dgm:pt>
    <dgm:pt modelId="{48A01B8A-58B8-4529-ACC0-EBD3EDAC757F}">
      <dgm:prSet phldrT="[Текст]"/>
      <dgm:spPr/>
      <dgm:t>
        <a:bodyPr/>
        <a:lstStyle/>
        <a:p>
          <a:pPr>
            <a:buNone/>
          </a:pPr>
          <a:r>
            <a:rPr lang="en-US" b="1" i="0" dirty="0"/>
            <a:t>SQL </a:t>
          </a:r>
          <a:r>
            <a:rPr lang="ru-RU" b="1" dirty="0"/>
            <a:t>–</a:t>
          </a:r>
          <a:r>
            <a:rPr lang="en-US" b="1" i="0" dirty="0"/>
            <a:t> </a:t>
          </a:r>
          <a:r>
            <a:rPr lang="ru-RU" b="1" i="0" dirty="0"/>
            <a:t>фундамент</a:t>
          </a:r>
          <a:br>
            <a:rPr lang="ru-RU" dirty="0"/>
          </a:br>
          <a:r>
            <a:rPr lang="en-US" b="0" i="0" dirty="0" err="1"/>
            <a:t>dbt</a:t>
          </a:r>
          <a:r>
            <a:rPr lang="en-US" b="0" i="0" dirty="0"/>
            <a:t>, Spark, Airflow </a:t>
          </a:r>
          <a:r>
            <a:rPr lang="ru-RU" b="0" dirty="0"/>
            <a:t>–</a:t>
          </a:r>
          <a:r>
            <a:rPr lang="en-US" b="0" i="0" dirty="0"/>
            <a:t> </a:t>
          </a:r>
          <a:r>
            <a:rPr lang="ru-RU" b="0" i="0" dirty="0"/>
            <a:t>всё внутри использует </a:t>
          </a:r>
          <a:r>
            <a:rPr lang="en-US" b="0" i="0" dirty="0"/>
            <a:t>SQL.</a:t>
          </a:r>
          <a:br>
            <a:rPr lang="en-US" dirty="0"/>
          </a:br>
          <a:r>
            <a:rPr lang="ru-RU" b="0" i="0" dirty="0"/>
            <a:t>Выучишь </a:t>
          </a:r>
          <a:r>
            <a:rPr lang="en-US" b="0" i="0" dirty="0"/>
            <a:t>SQL </a:t>
          </a:r>
          <a:r>
            <a:rPr lang="ru-RU" b="0" dirty="0"/>
            <a:t>–</a:t>
          </a:r>
          <a:r>
            <a:rPr lang="en-US" b="0" i="0" dirty="0"/>
            <a:t> </a:t>
          </a:r>
          <a:r>
            <a:rPr lang="ru-RU" b="0" i="0" dirty="0"/>
            <a:t>откроются все инструменты.</a:t>
          </a:r>
          <a:endParaRPr lang="ru-RU" dirty="0"/>
        </a:p>
      </dgm:t>
    </dgm:pt>
    <dgm:pt modelId="{855DD27F-242F-4F80-90EA-05C9ADEAEDA0}" type="parTrans" cxnId="{E12FFF6B-F993-46D3-BC3E-46D34CF1756F}">
      <dgm:prSet/>
      <dgm:spPr/>
      <dgm:t>
        <a:bodyPr/>
        <a:lstStyle/>
        <a:p>
          <a:endParaRPr lang="ru-RU"/>
        </a:p>
      </dgm:t>
    </dgm:pt>
    <dgm:pt modelId="{9D877F2C-DB2B-44D4-8CE7-4D78F0F4C544}" type="sibTrans" cxnId="{E12FFF6B-F993-46D3-BC3E-46D34CF1756F}">
      <dgm:prSet/>
      <dgm:spPr/>
      <dgm:t>
        <a:bodyPr/>
        <a:lstStyle/>
        <a:p>
          <a:endParaRPr lang="ru-RU"/>
        </a:p>
      </dgm:t>
    </dgm:pt>
    <dgm:pt modelId="{B3408E46-A0DE-43E2-A2BF-9CA3BBBA2B5E}" type="pres">
      <dgm:prSet presAssocID="{A51579C1-3D46-416E-AE57-AD926F6CF531}" presName="diagram" presStyleCnt="0">
        <dgm:presLayoutVars>
          <dgm:dir/>
          <dgm:resizeHandles val="exact"/>
        </dgm:presLayoutVars>
      </dgm:prSet>
      <dgm:spPr/>
    </dgm:pt>
    <dgm:pt modelId="{1CCE18F1-EE45-4440-BA0B-2EB694ABC6FF}" type="pres">
      <dgm:prSet presAssocID="{10EA2FD3-2469-4A8E-A938-48CB90D10EF9}" presName="node" presStyleLbl="node1" presStyleIdx="0" presStyleCnt="5">
        <dgm:presLayoutVars>
          <dgm:bulletEnabled val="1"/>
        </dgm:presLayoutVars>
      </dgm:prSet>
      <dgm:spPr/>
    </dgm:pt>
    <dgm:pt modelId="{9AC54316-D638-4C61-8AC8-EDFEBADE4B07}" type="pres">
      <dgm:prSet presAssocID="{64EB37D3-56C6-40F6-A99A-075310030ECD}" presName="sibTrans" presStyleCnt="0"/>
      <dgm:spPr/>
    </dgm:pt>
    <dgm:pt modelId="{5D111F89-75EE-45FE-8503-73B99AC3751E}" type="pres">
      <dgm:prSet presAssocID="{3719AA8F-E256-4E9D-AA3C-D1AE06EDE56B}" presName="node" presStyleLbl="node1" presStyleIdx="1" presStyleCnt="5">
        <dgm:presLayoutVars>
          <dgm:bulletEnabled val="1"/>
        </dgm:presLayoutVars>
      </dgm:prSet>
      <dgm:spPr/>
    </dgm:pt>
    <dgm:pt modelId="{B781A715-80D5-481E-9F9B-C95D2DC02D66}" type="pres">
      <dgm:prSet presAssocID="{881B0840-0671-4B73-9D22-9F40319D7736}" presName="sibTrans" presStyleCnt="0"/>
      <dgm:spPr/>
    </dgm:pt>
    <dgm:pt modelId="{862F380E-B215-416F-A018-5A787E364ABE}" type="pres">
      <dgm:prSet presAssocID="{396A5B22-1352-4AAB-B8EF-A4B210A70A04}" presName="node" presStyleLbl="node1" presStyleIdx="2" presStyleCnt="5">
        <dgm:presLayoutVars>
          <dgm:bulletEnabled val="1"/>
        </dgm:presLayoutVars>
      </dgm:prSet>
      <dgm:spPr/>
    </dgm:pt>
    <dgm:pt modelId="{FFF30667-365A-4A36-9EFB-BF5AE4C525D2}" type="pres">
      <dgm:prSet presAssocID="{BE5AE0C1-D020-4AC7-BF90-75234610C1F8}" presName="sibTrans" presStyleCnt="0"/>
      <dgm:spPr/>
    </dgm:pt>
    <dgm:pt modelId="{06AD1532-2962-4DFD-9F28-B48E2973CEFB}" type="pres">
      <dgm:prSet presAssocID="{1CE334D5-90CE-4F3A-B70C-4162DDA8EDD3}" presName="node" presStyleLbl="node1" presStyleIdx="3" presStyleCnt="5">
        <dgm:presLayoutVars>
          <dgm:bulletEnabled val="1"/>
        </dgm:presLayoutVars>
      </dgm:prSet>
      <dgm:spPr/>
    </dgm:pt>
    <dgm:pt modelId="{A2928FCD-F489-446D-9E40-2B6F5B53BD88}" type="pres">
      <dgm:prSet presAssocID="{422325F3-5243-47CC-9032-DEC8049FCBBA}" presName="sibTrans" presStyleCnt="0"/>
      <dgm:spPr/>
    </dgm:pt>
    <dgm:pt modelId="{91D8C9EE-B146-4086-A1E3-DF102C62AAE5}" type="pres">
      <dgm:prSet presAssocID="{48A01B8A-58B8-4529-ACC0-EBD3EDAC757F}" presName="node" presStyleLbl="node1" presStyleIdx="4" presStyleCnt="5">
        <dgm:presLayoutVars>
          <dgm:bulletEnabled val="1"/>
        </dgm:presLayoutVars>
      </dgm:prSet>
      <dgm:spPr/>
    </dgm:pt>
  </dgm:ptLst>
  <dgm:cxnLst>
    <dgm:cxn modelId="{4924F103-8AE7-4505-8C04-7ABB8E47B26C}" type="presOf" srcId="{A51579C1-3D46-416E-AE57-AD926F6CF531}" destId="{B3408E46-A0DE-43E2-A2BF-9CA3BBBA2B5E}" srcOrd="0" destOrd="0" presId="urn:microsoft.com/office/officeart/2005/8/layout/default"/>
    <dgm:cxn modelId="{37A8E60A-C89C-4B3C-A8F4-F6B736F9FA6E}" type="presOf" srcId="{3719AA8F-E256-4E9D-AA3C-D1AE06EDE56B}" destId="{5D111F89-75EE-45FE-8503-73B99AC3751E}" srcOrd="0" destOrd="0" presId="urn:microsoft.com/office/officeart/2005/8/layout/default"/>
    <dgm:cxn modelId="{065C9865-D34E-4B5C-85F3-FC7661106035}" srcId="{A51579C1-3D46-416E-AE57-AD926F6CF531}" destId="{1CE334D5-90CE-4F3A-B70C-4162DDA8EDD3}" srcOrd="3" destOrd="0" parTransId="{43E1704C-34BA-4D03-B295-28C8D898D515}" sibTransId="{422325F3-5243-47CC-9032-DEC8049FCBBA}"/>
    <dgm:cxn modelId="{1BFDAB49-AF99-4585-A383-1B96E918A2EF}" srcId="{A51579C1-3D46-416E-AE57-AD926F6CF531}" destId="{10EA2FD3-2469-4A8E-A938-48CB90D10EF9}" srcOrd="0" destOrd="0" parTransId="{E9339CA1-70E3-448D-BD63-13F142DDA7E7}" sibTransId="{64EB37D3-56C6-40F6-A99A-075310030ECD}"/>
    <dgm:cxn modelId="{E12FFF6B-F993-46D3-BC3E-46D34CF1756F}" srcId="{A51579C1-3D46-416E-AE57-AD926F6CF531}" destId="{48A01B8A-58B8-4529-ACC0-EBD3EDAC757F}" srcOrd="4" destOrd="0" parTransId="{855DD27F-242F-4F80-90EA-05C9ADEAEDA0}" sibTransId="{9D877F2C-DB2B-44D4-8CE7-4D78F0F4C544}"/>
    <dgm:cxn modelId="{CA16596F-A9DE-4D6D-B6D9-C55B6174CC5A}" srcId="{A51579C1-3D46-416E-AE57-AD926F6CF531}" destId="{3719AA8F-E256-4E9D-AA3C-D1AE06EDE56B}" srcOrd="1" destOrd="0" parTransId="{4EB6755B-4BFF-47ED-A5DE-5F97C419931B}" sibTransId="{881B0840-0671-4B73-9D22-9F40319D7736}"/>
    <dgm:cxn modelId="{1B10625A-6A75-4B1C-B792-5FB93FDC48BB}" type="presOf" srcId="{48A01B8A-58B8-4529-ACC0-EBD3EDAC757F}" destId="{91D8C9EE-B146-4086-A1E3-DF102C62AAE5}" srcOrd="0" destOrd="0" presId="urn:microsoft.com/office/officeart/2005/8/layout/default"/>
    <dgm:cxn modelId="{56E9CC8E-5FF3-4906-B56B-0BDD548305DE}" type="presOf" srcId="{10EA2FD3-2469-4A8E-A938-48CB90D10EF9}" destId="{1CCE18F1-EE45-4440-BA0B-2EB694ABC6FF}" srcOrd="0" destOrd="0" presId="urn:microsoft.com/office/officeart/2005/8/layout/default"/>
    <dgm:cxn modelId="{308C3394-A43B-4A74-BFBC-5FCACA2F060E}" type="presOf" srcId="{396A5B22-1352-4AAB-B8EF-A4B210A70A04}" destId="{862F380E-B215-416F-A018-5A787E364ABE}" srcOrd="0" destOrd="0" presId="urn:microsoft.com/office/officeart/2005/8/layout/default"/>
    <dgm:cxn modelId="{99A6F89D-B8F2-4A84-9E9E-180A621D44C5}" srcId="{A51579C1-3D46-416E-AE57-AD926F6CF531}" destId="{396A5B22-1352-4AAB-B8EF-A4B210A70A04}" srcOrd="2" destOrd="0" parTransId="{65C7B5E4-2D68-449C-9FEC-076D881A8614}" sibTransId="{BE5AE0C1-D020-4AC7-BF90-75234610C1F8}"/>
    <dgm:cxn modelId="{9FA232D3-E239-488D-92D8-27C5FD153594}" type="presOf" srcId="{1CE334D5-90CE-4F3A-B70C-4162DDA8EDD3}" destId="{06AD1532-2962-4DFD-9F28-B48E2973CEFB}" srcOrd="0" destOrd="0" presId="urn:microsoft.com/office/officeart/2005/8/layout/default"/>
    <dgm:cxn modelId="{2885BCC0-1870-49A9-8E46-72A9546255D5}" type="presParOf" srcId="{B3408E46-A0DE-43E2-A2BF-9CA3BBBA2B5E}" destId="{1CCE18F1-EE45-4440-BA0B-2EB694ABC6FF}" srcOrd="0" destOrd="0" presId="urn:microsoft.com/office/officeart/2005/8/layout/default"/>
    <dgm:cxn modelId="{7B568151-C053-42FD-A221-3268CB7A313D}" type="presParOf" srcId="{B3408E46-A0DE-43E2-A2BF-9CA3BBBA2B5E}" destId="{9AC54316-D638-4C61-8AC8-EDFEBADE4B07}" srcOrd="1" destOrd="0" presId="urn:microsoft.com/office/officeart/2005/8/layout/default"/>
    <dgm:cxn modelId="{4D0E93C1-78B4-4048-9AB2-2F0301BF763A}" type="presParOf" srcId="{B3408E46-A0DE-43E2-A2BF-9CA3BBBA2B5E}" destId="{5D111F89-75EE-45FE-8503-73B99AC3751E}" srcOrd="2" destOrd="0" presId="urn:microsoft.com/office/officeart/2005/8/layout/default"/>
    <dgm:cxn modelId="{94770146-A8AF-4586-BB79-F689BB64F5B6}" type="presParOf" srcId="{B3408E46-A0DE-43E2-A2BF-9CA3BBBA2B5E}" destId="{B781A715-80D5-481E-9F9B-C95D2DC02D66}" srcOrd="3" destOrd="0" presId="urn:microsoft.com/office/officeart/2005/8/layout/default"/>
    <dgm:cxn modelId="{B55AB354-8EFE-4B4D-888D-16DB66A78D97}" type="presParOf" srcId="{B3408E46-A0DE-43E2-A2BF-9CA3BBBA2B5E}" destId="{862F380E-B215-416F-A018-5A787E364ABE}" srcOrd="4" destOrd="0" presId="urn:microsoft.com/office/officeart/2005/8/layout/default"/>
    <dgm:cxn modelId="{9931BB0D-0FB3-40B3-8F38-9150E9172A7B}" type="presParOf" srcId="{B3408E46-A0DE-43E2-A2BF-9CA3BBBA2B5E}" destId="{FFF30667-365A-4A36-9EFB-BF5AE4C525D2}" srcOrd="5" destOrd="0" presId="urn:microsoft.com/office/officeart/2005/8/layout/default"/>
    <dgm:cxn modelId="{97F91B0A-C36D-4B51-BA3E-18B2C96AF0D9}" type="presParOf" srcId="{B3408E46-A0DE-43E2-A2BF-9CA3BBBA2B5E}" destId="{06AD1532-2962-4DFD-9F28-B48E2973CEFB}" srcOrd="6" destOrd="0" presId="urn:microsoft.com/office/officeart/2005/8/layout/default"/>
    <dgm:cxn modelId="{21B53503-D113-4884-B3B5-D5FFBDBE1FBF}" type="presParOf" srcId="{B3408E46-A0DE-43E2-A2BF-9CA3BBBA2B5E}" destId="{A2928FCD-F489-446D-9E40-2B6F5B53BD88}" srcOrd="7" destOrd="0" presId="urn:microsoft.com/office/officeart/2005/8/layout/default"/>
    <dgm:cxn modelId="{FAEF41A4-A2F7-43AE-9464-E85693D7704B}" type="presParOf" srcId="{B3408E46-A0DE-43E2-A2BF-9CA3BBBA2B5E}" destId="{91D8C9EE-B146-4086-A1E3-DF102C62AAE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F35F26-33D4-4981-838D-EF3D8F0E1AC1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BA23A9C8-74A3-40A8-A59B-F4FEC6082A9F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🎓 Не требует установки</a:t>
          </a:r>
          <a:br>
            <a:rPr lang="ru-RU" dirty="0"/>
          </a:br>
          <a:r>
            <a:rPr lang="ru-RU" b="0" i="0" dirty="0"/>
            <a:t>Никакого сервера. Никаких настроек. Файл и всё.</a:t>
          </a:r>
          <a:endParaRPr lang="ru-RU" dirty="0"/>
        </a:p>
      </dgm:t>
    </dgm:pt>
    <dgm:pt modelId="{C09CA25E-3B55-400F-8246-065F0D661AEF}" type="parTrans" cxnId="{AB87B2E4-1970-43DC-9D36-B11DA33B8D10}">
      <dgm:prSet/>
      <dgm:spPr/>
      <dgm:t>
        <a:bodyPr/>
        <a:lstStyle/>
        <a:p>
          <a:endParaRPr lang="ru-RU"/>
        </a:p>
      </dgm:t>
    </dgm:pt>
    <dgm:pt modelId="{57ED8B4F-BCCF-41A9-B875-AE8418904B5B}" type="sibTrans" cxnId="{AB87B2E4-1970-43DC-9D36-B11DA33B8D10}">
      <dgm:prSet/>
      <dgm:spPr/>
      <dgm:t>
        <a:bodyPr/>
        <a:lstStyle/>
        <a:p>
          <a:endParaRPr lang="ru-RU"/>
        </a:p>
      </dgm:t>
    </dgm:pt>
    <dgm:pt modelId="{230F2CAF-7451-4A78-B350-09E2A9B5C3D5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📦 Один файл</a:t>
          </a:r>
          <a:br>
            <a:rPr lang="ru-RU" dirty="0"/>
          </a:br>
          <a:r>
            <a:rPr lang="ru-RU" b="0" i="0" dirty="0" err="1"/>
            <a:t>transport.db</a:t>
          </a:r>
          <a:r>
            <a:rPr lang="ru-RU" b="0" i="0" dirty="0"/>
            <a:t> </a:t>
          </a:r>
          <a:r>
            <a:rPr lang="en-US" dirty="0"/>
            <a:t>–</a:t>
          </a:r>
          <a:r>
            <a:rPr lang="ru-RU" b="0" i="0" dirty="0"/>
            <a:t> 200 МБ, но это один файл. Можно отправить по почте.</a:t>
          </a:r>
          <a:endParaRPr lang="ru-RU" dirty="0"/>
        </a:p>
      </dgm:t>
    </dgm:pt>
    <dgm:pt modelId="{CD851234-D233-45C7-9686-43872A6BA3AF}" type="sibTrans" cxnId="{8C9FF8AF-9D0A-444E-8ACC-D5A863BF7AD2}">
      <dgm:prSet/>
      <dgm:spPr/>
      <dgm:t>
        <a:bodyPr/>
        <a:lstStyle/>
        <a:p>
          <a:endParaRPr lang="ru-RU"/>
        </a:p>
      </dgm:t>
    </dgm:pt>
    <dgm:pt modelId="{958BFD04-C214-4F9D-B079-4A40BC22026B}" type="parTrans" cxnId="{8C9FF8AF-9D0A-444E-8ACC-D5A863BF7AD2}">
      <dgm:prSet/>
      <dgm:spPr/>
      <dgm:t>
        <a:bodyPr/>
        <a:lstStyle/>
        <a:p>
          <a:endParaRPr lang="ru-RU"/>
        </a:p>
      </dgm:t>
    </dgm:pt>
    <dgm:pt modelId="{4EFD22B2-C825-4B3C-B5CE-DB7342BD369B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🐍 Встроен в Python</a:t>
          </a:r>
          <a:br>
            <a:rPr lang="ru-RU" dirty="0"/>
          </a:br>
          <a:r>
            <a:rPr lang="ru-RU" b="0" i="0" dirty="0"/>
            <a:t>Не надо ставить. Идёт в комплекте, как </a:t>
          </a:r>
          <a:r>
            <a:rPr lang="ru-RU" b="0" i="0" dirty="0" err="1"/>
            <a:t>math</a:t>
          </a:r>
          <a:r>
            <a:rPr lang="ru-RU" b="0" i="0" dirty="0"/>
            <a:t> или </a:t>
          </a:r>
          <a:r>
            <a:rPr lang="ru-RU" b="0" i="0" dirty="0" err="1"/>
            <a:t>os</a:t>
          </a:r>
          <a:r>
            <a:rPr lang="ru-RU" b="0" i="0" dirty="0"/>
            <a:t>.</a:t>
          </a:r>
          <a:endParaRPr lang="ru-RU" dirty="0"/>
        </a:p>
      </dgm:t>
    </dgm:pt>
    <dgm:pt modelId="{B505E812-507D-48EB-92E9-7B4FC56DFBCE}" type="sibTrans" cxnId="{25FBF792-9BAD-4CBB-AC6D-B4B62BB9F5B8}">
      <dgm:prSet/>
      <dgm:spPr/>
      <dgm:t>
        <a:bodyPr/>
        <a:lstStyle/>
        <a:p>
          <a:endParaRPr lang="ru-RU"/>
        </a:p>
      </dgm:t>
    </dgm:pt>
    <dgm:pt modelId="{A7CFC906-7822-4B6D-B91E-7A52F2452E11}" type="parTrans" cxnId="{25FBF792-9BAD-4CBB-AC6D-B4B62BB9F5B8}">
      <dgm:prSet/>
      <dgm:spPr/>
      <dgm:t>
        <a:bodyPr/>
        <a:lstStyle/>
        <a:p>
          <a:endParaRPr lang="ru-RU"/>
        </a:p>
      </dgm:t>
    </dgm:pt>
    <dgm:pt modelId="{0D50E296-F560-4356-90CE-47CD03BCD0B5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⚡ Синтаксис как у всех</a:t>
          </a:r>
          <a:br>
            <a:rPr lang="ru-RU" dirty="0"/>
          </a:br>
          <a:r>
            <a:rPr lang="ru-RU" b="0" i="0" dirty="0"/>
            <a:t>Тот же SQL, что в </a:t>
          </a:r>
          <a:r>
            <a:rPr lang="ru-RU" b="0" i="0" dirty="0" err="1"/>
            <a:t>PostgreSQL</a:t>
          </a:r>
          <a:r>
            <a:rPr lang="ru-RU" b="0" i="0" dirty="0"/>
            <a:t> или MySQL. Выучил на </a:t>
          </a:r>
          <a:r>
            <a:rPr lang="ru-RU" b="0" i="0" dirty="0" err="1"/>
            <a:t>SQLite</a:t>
          </a:r>
          <a:r>
            <a:rPr lang="ru-RU" b="0" i="0" dirty="0"/>
            <a:t> </a:t>
          </a:r>
          <a:r>
            <a:rPr lang="en-US" dirty="0"/>
            <a:t>–</a:t>
          </a:r>
          <a:r>
            <a:rPr lang="ru-RU" b="0" i="0" dirty="0"/>
            <a:t> знаешь везде.</a:t>
          </a:r>
          <a:endParaRPr lang="ru-RU" dirty="0"/>
        </a:p>
      </dgm:t>
    </dgm:pt>
    <dgm:pt modelId="{CC8BEAE1-8D01-4E80-BA6D-83353FEC2B3E}" type="sibTrans" cxnId="{E0400507-D5AC-45BE-895D-2A83CA9E9E4B}">
      <dgm:prSet/>
      <dgm:spPr/>
      <dgm:t>
        <a:bodyPr/>
        <a:lstStyle/>
        <a:p>
          <a:endParaRPr lang="ru-RU"/>
        </a:p>
      </dgm:t>
    </dgm:pt>
    <dgm:pt modelId="{2C377B79-64B7-40E0-AF74-F8306753A486}" type="parTrans" cxnId="{E0400507-D5AC-45BE-895D-2A83CA9E9E4B}">
      <dgm:prSet/>
      <dgm:spPr/>
      <dgm:t>
        <a:bodyPr/>
        <a:lstStyle/>
        <a:p>
          <a:endParaRPr lang="ru-RU"/>
        </a:p>
      </dgm:t>
    </dgm:pt>
    <dgm:pt modelId="{CF39DBAC-1B9D-4245-9EE1-3F64E13BC656}" type="pres">
      <dgm:prSet presAssocID="{B3F35F26-33D4-4981-838D-EF3D8F0E1AC1}" presName="diagram" presStyleCnt="0">
        <dgm:presLayoutVars>
          <dgm:dir/>
          <dgm:resizeHandles val="exact"/>
        </dgm:presLayoutVars>
      </dgm:prSet>
      <dgm:spPr/>
    </dgm:pt>
    <dgm:pt modelId="{61A63FBA-7D47-4B8C-9CDC-34F4E93D30CB}" type="pres">
      <dgm:prSet presAssocID="{BA23A9C8-74A3-40A8-A59B-F4FEC6082A9F}" presName="node" presStyleLbl="node1" presStyleIdx="0" presStyleCnt="4">
        <dgm:presLayoutVars>
          <dgm:bulletEnabled val="1"/>
        </dgm:presLayoutVars>
      </dgm:prSet>
      <dgm:spPr/>
    </dgm:pt>
    <dgm:pt modelId="{8A8B3AF1-109F-4D9C-AD3F-FC505CAC9968}" type="pres">
      <dgm:prSet presAssocID="{57ED8B4F-BCCF-41A9-B875-AE8418904B5B}" presName="sibTrans" presStyleCnt="0"/>
      <dgm:spPr/>
    </dgm:pt>
    <dgm:pt modelId="{A30EAFC4-CB23-407B-8CE1-A1B3F3B0EBA8}" type="pres">
      <dgm:prSet presAssocID="{230F2CAF-7451-4A78-B350-09E2A9B5C3D5}" presName="node" presStyleLbl="node1" presStyleIdx="1" presStyleCnt="4">
        <dgm:presLayoutVars>
          <dgm:bulletEnabled val="1"/>
        </dgm:presLayoutVars>
      </dgm:prSet>
      <dgm:spPr/>
    </dgm:pt>
    <dgm:pt modelId="{1795DC55-A817-4E62-9467-55B36ED1D7E0}" type="pres">
      <dgm:prSet presAssocID="{CD851234-D233-45C7-9686-43872A6BA3AF}" presName="sibTrans" presStyleCnt="0"/>
      <dgm:spPr/>
    </dgm:pt>
    <dgm:pt modelId="{C7609C55-F62B-4CDD-AD87-15D5E4F0D345}" type="pres">
      <dgm:prSet presAssocID="{4EFD22B2-C825-4B3C-B5CE-DB7342BD369B}" presName="node" presStyleLbl="node1" presStyleIdx="2" presStyleCnt="4">
        <dgm:presLayoutVars>
          <dgm:bulletEnabled val="1"/>
        </dgm:presLayoutVars>
      </dgm:prSet>
      <dgm:spPr/>
    </dgm:pt>
    <dgm:pt modelId="{3DC665B6-F57F-461A-B24D-46078646B055}" type="pres">
      <dgm:prSet presAssocID="{B505E812-507D-48EB-92E9-7B4FC56DFBCE}" presName="sibTrans" presStyleCnt="0"/>
      <dgm:spPr/>
    </dgm:pt>
    <dgm:pt modelId="{C3E75746-6799-4104-BFF5-B956333E527F}" type="pres">
      <dgm:prSet presAssocID="{0D50E296-F560-4356-90CE-47CD03BCD0B5}" presName="node" presStyleLbl="node1" presStyleIdx="3" presStyleCnt="4">
        <dgm:presLayoutVars>
          <dgm:bulletEnabled val="1"/>
        </dgm:presLayoutVars>
      </dgm:prSet>
      <dgm:spPr/>
    </dgm:pt>
  </dgm:ptLst>
  <dgm:cxnLst>
    <dgm:cxn modelId="{E0400507-D5AC-45BE-895D-2A83CA9E9E4B}" srcId="{B3F35F26-33D4-4981-838D-EF3D8F0E1AC1}" destId="{0D50E296-F560-4356-90CE-47CD03BCD0B5}" srcOrd="3" destOrd="0" parTransId="{2C377B79-64B7-40E0-AF74-F8306753A486}" sibTransId="{CC8BEAE1-8D01-4E80-BA6D-83353FEC2B3E}"/>
    <dgm:cxn modelId="{385D3C0F-0E98-4784-87A9-A330F6BC6429}" type="presOf" srcId="{0D50E296-F560-4356-90CE-47CD03BCD0B5}" destId="{C3E75746-6799-4104-BFF5-B956333E527F}" srcOrd="0" destOrd="0" presId="urn:microsoft.com/office/officeart/2005/8/layout/default"/>
    <dgm:cxn modelId="{42D6BB1B-256B-47F5-BF00-877F15E373EA}" type="presOf" srcId="{230F2CAF-7451-4A78-B350-09E2A9B5C3D5}" destId="{A30EAFC4-CB23-407B-8CE1-A1B3F3B0EBA8}" srcOrd="0" destOrd="0" presId="urn:microsoft.com/office/officeart/2005/8/layout/default"/>
    <dgm:cxn modelId="{7C08E060-689F-4559-A069-05CD55B58474}" type="presOf" srcId="{4EFD22B2-C825-4B3C-B5CE-DB7342BD369B}" destId="{C7609C55-F62B-4CDD-AD87-15D5E4F0D345}" srcOrd="0" destOrd="0" presId="urn:microsoft.com/office/officeart/2005/8/layout/default"/>
    <dgm:cxn modelId="{38487D43-A1D5-43B7-9868-3D8974A74237}" type="presOf" srcId="{B3F35F26-33D4-4981-838D-EF3D8F0E1AC1}" destId="{CF39DBAC-1B9D-4245-9EE1-3F64E13BC656}" srcOrd="0" destOrd="0" presId="urn:microsoft.com/office/officeart/2005/8/layout/default"/>
    <dgm:cxn modelId="{25FBF792-9BAD-4CBB-AC6D-B4B62BB9F5B8}" srcId="{B3F35F26-33D4-4981-838D-EF3D8F0E1AC1}" destId="{4EFD22B2-C825-4B3C-B5CE-DB7342BD369B}" srcOrd="2" destOrd="0" parTransId="{A7CFC906-7822-4B6D-B91E-7A52F2452E11}" sibTransId="{B505E812-507D-48EB-92E9-7B4FC56DFBCE}"/>
    <dgm:cxn modelId="{8C9FF8AF-9D0A-444E-8ACC-D5A863BF7AD2}" srcId="{B3F35F26-33D4-4981-838D-EF3D8F0E1AC1}" destId="{230F2CAF-7451-4A78-B350-09E2A9B5C3D5}" srcOrd="1" destOrd="0" parTransId="{958BFD04-C214-4F9D-B079-4A40BC22026B}" sibTransId="{CD851234-D233-45C7-9686-43872A6BA3AF}"/>
    <dgm:cxn modelId="{A6052EBF-C22D-40DA-9764-5CEB58076918}" type="presOf" srcId="{BA23A9C8-74A3-40A8-A59B-F4FEC6082A9F}" destId="{61A63FBA-7D47-4B8C-9CDC-34F4E93D30CB}" srcOrd="0" destOrd="0" presId="urn:microsoft.com/office/officeart/2005/8/layout/default"/>
    <dgm:cxn modelId="{AB87B2E4-1970-43DC-9D36-B11DA33B8D10}" srcId="{B3F35F26-33D4-4981-838D-EF3D8F0E1AC1}" destId="{BA23A9C8-74A3-40A8-A59B-F4FEC6082A9F}" srcOrd="0" destOrd="0" parTransId="{C09CA25E-3B55-400F-8246-065F0D661AEF}" sibTransId="{57ED8B4F-BCCF-41A9-B875-AE8418904B5B}"/>
    <dgm:cxn modelId="{48D44780-1483-49AC-AC30-22D3A402D331}" type="presParOf" srcId="{CF39DBAC-1B9D-4245-9EE1-3F64E13BC656}" destId="{61A63FBA-7D47-4B8C-9CDC-34F4E93D30CB}" srcOrd="0" destOrd="0" presId="urn:microsoft.com/office/officeart/2005/8/layout/default"/>
    <dgm:cxn modelId="{8B43A979-8494-43BD-8C8C-718FA19E3D0D}" type="presParOf" srcId="{CF39DBAC-1B9D-4245-9EE1-3F64E13BC656}" destId="{8A8B3AF1-109F-4D9C-AD3F-FC505CAC9968}" srcOrd="1" destOrd="0" presId="urn:microsoft.com/office/officeart/2005/8/layout/default"/>
    <dgm:cxn modelId="{1B7B5DB1-0924-4D59-BCD8-08511D2D0370}" type="presParOf" srcId="{CF39DBAC-1B9D-4245-9EE1-3F64E13BC656}" destId="{A30EAFC4-CB23-407B-8CE1-A1B3F3B0EBA8}" srcOrd="2" destOrd="0" presId="urn:microsoft.com/office/officeart/2005/8/layout/default"/>
    <dgm:cxn modelId="{AC82D093-B1ED-401A-B54A-378C593104F2}" type="presParOf" srcId="{CF39DBAC-1B9D-4245-9EE1-3F64E13BC656}" destId="{1795DC55-A817-4E62-9467-55B36ED1D7E0}" srcOrd="3" destOrd="0" presId="urn:microsoft.com/office/officeart/2005/8/layout/default"/>
    <dgm:cxn modelId="{9928BE8C-9B6C-4C06-9E91-1A975F141152}" type="presParOf" srcId="{CF39DBAC-1B9D-4245-9EE1-3F64E13BC656}" destId="{C7609C55-F62B-4CDD-AD87-15D5E4F0D345}" srcOrd="4" destOrd="0" presId="urn:microsoft.com/office/officeart/2005/8/layout/default"/>
    <dgm:cxn modelId="{59031503-4B99-4CCD-8BF6-592A3B806733}" type="presParOf" srcId="{CF39DBAC-1B9D-4245-9EE1-3F64E13BC656}" destId="{3DC665B6-F57F-461A-B24D-46078646B055}" srcOrd="5" destOrd="0" presId="urn:microsoft.com/office/officeart/2005/8/layout/default"/>
    <dgm:cxn modelId="{A5E3BDA1-90BE-4525-ABFA-4695606A92C1}" type="presParOf" srcId="{CF39DBAC-1B9D-4245-9EE1-3F64E13BC656}" destId="{C3E75746-6799-4104-BFF5-B956333E527F}" srcOrd="6" destOrd="0" presId="urn:microsoft.com/office/officeart/2005/8/layout/default"/>
  </dgm:cxnLst>
  <dgm:bg>
    <a:noFill/>
  </dgm:bg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E18F1-EE45-4440-BA0B-2EB694ABC6FF}">
      <dsp:nvSpPr>
        <dsp:cNvPr id="0" name=""/>
        <dsp:cNvSpPr/>
      </dsp:nvSpPr>
      <dsp:spPr>
        <a:xfrm>
          <a:off x="0" y="743445"/>
          <a:ext cx="3024443" cy="1814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i="0" kern="1200" dirty="0"/>
            <a:t>Данные живут в базах</a:t>
          </a:r>
          <a:br>
            <a:rPr lang="ru-RU" sz="2000" kern="1200" dirty="0"/>
          </a:br>
          <a:r>
            <a:rPr lang="ru-RU" sz="2000" b="0" i="0" kern="1200" dirty="0"/>
            <a:t>Excel не тянет миллионы строк.</a:t>
          </a:r>
          <a:br>
            <a:rPr lang="ru-RU" sz="2000" kern="1200" dirty="0"/>
          </a:br>
          <a:r>
            <a:rPr lang="ru-RU" sz="2000" b="0" i="0" kern="1200" dirty="0"/>
            <a:t>База </a:t>
          </a:r>
          <a:r>
            <a:rPr lang="ru-RU" sz="2000" b="0" kern="1200" dirty="0"/>
            <a:t>–</a:t>
          </a:r>
          <a:r>
            <a:rPr lang="ru-RU" sz="2000" b="0" i="0" kern="1200" dirty="0"/>
            <a:t> тянет.</a:t>
          </a:r>
          <a:endParaRPr lang="ru-RU" sz="2000" kern="1200" dirty="0"/>
        </a:p>
      </dsp:txBody>
      <dsp:txXfrm>
        <a:off x="0" y="743445"/>
        <a:ext cx="3024443" cy="1814666"/>
      </dsp:txXfrm>
    </dsp:sp>
    <dsp:sp modelId="{5D111F89-75EE-45FE-8503-73B99AC3751E}">
      <dsp:nvSpPr>
        <dsp:cNvPr id="0" name=""/>
        <dsp:cNvSpPr/>
      </dsp:nvSpPr>
      <dsp:spPr>
        <a:xfrm>
          <a:off x="3326887" y="743445"/>
          <a:ext cx="3024443" cy="1814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i="0" kern="1200" dirty="0"/>
            <a:t>SQL быстрый</a:t>
          </a:r>
          <a:br>
            <a:rPr lang="ru-RU" sz="2000" kern="1200" dirty="0"/>
          </a:br>
          <a:r>
            <a:rPr lang="ru-RU" sz="2000" b="0" i="0" kern="1200" dirty="0"/>
            <a:t>Запрос по миллиону строк </a:t>
          </a:r>
          <a:r>
            <a:rPr lang="ru-RU" sz="2000" b="0" kern="1200" dirty="0"/>
            <a:t>–</a:t>
          </a:r>
          <a:r>
            <a:rPr lang="ru-RU" sz="2000" b="0" i="0" kern="1200" dirty="0"/>
            <a:t> секунды.</a:t>
          </a:r>
          <a:br>
            <a:rPr lang="ru-RU" sz="2000" kern="1200" dirty="0"/>
          </a:br>
          <a:r>
            <a:rPr lang="ru-RU" sz="2000" b="0" i="0" kern="1200" dirty="0"/>
            <a:t>В Excel такое займёт минуты.</a:t>
          </a:r>
          <a:endParaRPr lang="ru-RU" sz="2000" kern="1200" dirty="0"/>
        </a:p>
      </dsp:txBody>
      <dsp:txXfrm>
        <a:off x="3326887" y="743445"/>
        <a:ext cx="3024443" cy="1814666"/>
      </dsp:txXfrm>
    </dsp:sp>
    <dsp:sp modelId="{862F380E-B215-416F-A018-5A787E364ABE}">
      <dsp:nvSpPr>
        <dsp:cNvPr id="0" name=""/>
        <dsp:cNvSpPr/>
      </dsp:nvSpPr>
      <dsp:spPr>
        <a:xfrm>
          <a:off x="6653775" y="743445"/>
          <a:ext cx="3024443" cy="1814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i="0" kern="1200" dirty="0"/>
            <a:t>SQL </a:t>
          </a:r>
          <a:r>
            <a:rPr lang="ru-RU" sz="2000" b="1" kern="1200" dirty="0"/>
            <a:t>–</a:t>
          </a:r>
          <a:r>
            <a:rPr lang="ru-RU" sz="2000" b="1" i="0" kern="1200" dirty="0"/>
            <a:t> универсальный язык</a:t>
          </a:r>
          <a:br>
            <a:rPr lang="ru-RU" sz="2000" kern="1200" dirty="0"/>
          </a:br>
          <a:r>
            <a:rPr lang="ru-RU" sz="2000" b="0" i="0" kern="1200" dirty="0"/>
            <a:t>Его знают все: инженер, аналитик, учёный.</a:t>
          </a:r>
          <a:br>
            <a:rPr lang="ru-RU" sz="2000" kern="1200" dirty="0"/>
          </a:br>
          <a:r>
            <a:rPr lang="ru-RU" sz="2000" b="0" i="0" kern="1200" dirty="0"/>
            <a:t>Один язык </a:t>
          </a:r>
          <a:r>
            <a:rPr lang="ru-RU" sz="2000" b="0" kern="1200" dirty="0"/>
            <a:t>–</a:t>
          </a:r>
          <a:r>
            <a:rPr lang="ru-RU" sz="2000" b="0" i="0" kern="1200" dirty="0"/>
            <a:t> для всех.</a:t>
          </a:r>
          <a:endParaRPr lang="ru-RU" sz="2000" kern="1200" dirty="0"/>
        </a:p>
      </dsp:txBody>
      <dsp:txXfrm>
        <a:off x="6653775" y="743445"/>
        <a:ext cx="3024443" cy="1814666"/>
      </dsp:txXfrm>
    </dsp:sp>
    <dsp:sp modelId="{06AD1532-2962-4DFD-9F28-B48E2973CEFB}">
      <dsp:nvSpPr>
        <dsp:cNvPr id="0" name=""/>
        <dsp:cNvSpPr/>
      </dsp:nvSpPr>
      <dsp:spPr>
        <a:xfrm>
          <a:off x="1663443" y="2860555"/>
          <a:ext cx="3024443" cy="1814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i="0" kern="1200" dirty="0"/>
            <a:t>SQL повторяемый</a:t>
          </a:r>
          <a:br>
            <a:rPr lang="ru-RU" sz="2000" kern="1200" dirty="0"/>
          </a:br>
          <a:r>
            <a:rPr lang="ru-RU" sz="2000" b="0" i="0" kern="1200" dirty="0"/>
            <a:t>Один раз написал </a:t>
          </a:r>
          <a:r>
            <a:rPr lang="ru-RU" sz="2000" b="0" kern="1200" dirty="0"/>
            <a:t>–</a:t>
          </a:r>
          <a:r>
            <a:rPr lang="ru-RU" sz="2000" b="0" i="0" kern="1200" dirty="0"/>
            <a:t> работает всегда.</a:t>
          </a:r>
          <a:br>
            <a:rPr lang="ru-RU" sz="2000" kern="1200" dirty="0"/>
          </a:br>
          <a:r>
            <a:rPr lang="ru-RU" sz="2000" b="0" i="0" kern="1200" dirty="0"/>
            <a:t>Excel-отчёт придётся собирать заново.</a:t>
          </a:r>
          <a:endParaRPr lang="ru-RU" sz="2000" kern="1200" dirty="0"/>
        </a:p>
      </dsp:txBody>
      <dsp:txXfrm>
        <a:off x="1663443" y="2860555"/>
        <a:ext cx="3024443" cy="1814666"/>
      </dsp:txXfrm>
    </dsp:sp>
    <dsp:sp modelId="{91D8C9EE-B146-4086-A1E3-DF102C62AAE5}">
      <dsp:nvSpPr>
        <dsp:cNvPr id="0" name=""/>
        <dsp:cNvSpPr/>
      </dsp:nvSpPr>
      <dsp:spPr>
        <a:xfrm>
          <a:off x="4990331" y="2860555"/>
          <a:ext cx="3024443" cy="18146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SQL </a:t>
          </a:r>
          <a:r>
            <a:rPr lang="ru-RU" sz="2000" b="1" kern="1200" dirty="0"/>
            <a:t>–</a:t>
          </a:r>
          <a:r>
            <a:rPr lang="en-US" sz="2000" b="1" i="0" kern="1200" dirty="0"/>
            <a:t> </a:t>
          </a:r>
          <a:r>
            <a:rPr lang="ru-RU" sz="2000" b="1" i="0" kern="1200" dirty="0"/>
            <a:t>фундамент</a:t>
          </a:r>
          <a:br>
            <a:rPr lang="ru-RU" sz="2000" kern="1200" dirty="0"/>
          </a:br>
          <a:r>
            <a:rPr lang="en-US" sz="2000" b="0" i="0" kern="1200" dirty="0" err="1"/>
            <a:t>dbt</a:t>
          </a:r>
          <a:r>
            <a:rPr lang="en-US" sz="2000" b="0" i="0" kern="1200" dirty="0"/>
            <a:t>, Spark, Airflow </a:t>
          </a:r>
          <a:r>
            <a:rPr lang="ru-RU" sz="2000" b="0" kern="1200" dirty="0"/>
            <a:t>–</a:t>
          </a:r>
          <a:r>
            <a:rPr lang="en-US" sz="2000" b="0" i="0" kern="1200" dirty="0"/>
            <a:t> </a:t>
          </a:r>
          <a:r>
            <a:rPr lang="ru-RU" sz="2000" b="0" i="0" kern="1200" dirty="0"/>
            <a:t>всё внутри использует </a:t>
          </a:r>
          <a:r>
            <a:rPr lang="en-US" sz="2000" b="0" i="0" kern="1200" dirty="0"/>
            <a:t>SQL.</a:t>
          </a:r>
          <a:br>
            <a:rPr lang="en-US" sz="2000" kern="1200" dirty="0"/>
          </a:br>
          <a:r>
            <a:rPr lang="ru-RU" sz="2000" b="0" i="0" kern="1200" dirty="0"/>
            <a:t>Выучишь </a:t>
          </a:r>
          <a:r>
            <a:rPr lang="en-US" sz="2000" b="0" i="0" kern="1200" dirty="0"/>
            <a:t>SQL </a:t>
          </a:r>
          <a:r>
            <a:rPr lang="ru-RU" sz="2000" b="0" kern="1200" dirty="0"/>
            <a:t>–</a:t>
          </a:r>
          <a:r>
            <a:rPr lang="en-US" sz="2000" b="0" i="0" kern="1200" dirty="0"/>
            <a:t> </a:t>
          </a:r>
          <a:r>
            <a:rPr lang="ru-RU" sz="2000" b="0" i="0" kern="1200" dirty="0"/>
            <a:t>откроются все инструменты.</a:t>
          </a:r>
          <a:endParaRPr lang="ru-RU" sz="2000" kern="1200" dirty="0"/>
        </a:p>
      </dsp:txBody>
      <dsp:txXfrm>
        <a:off x="4990331" y="2860555"/>
        <a:ext cx="3024443" cy="1814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63FBA-7D47-4B8C-9CDC-34F4E93D30CB}">
      <dsp:nvSpPr>
        <dsp:cNvPr id="0" name=""/>
        <dsp:cNvSpPr/>
      </dsp:nvSpPr>
      <dsp:spPr>
        <a:xfrm>
          <a:off x="3238" y="619557"/>
          <a:ext cx="2569171" cy="15415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 dirty="0"/>
            <a:t>🎓 Не требует установки</a:t>
          </a:r>
          <a:br>
            <a:rPr lang="ru-RU" sz="1800" kern="1200" dirty="0"/>
          </a:br>
          <a:r>
            <a:rPr lang="ru-RU" sz="1800" b="0" i="0" kern="1200" dirty="0"/>
            <a:t>Никакого сервера. Никаких настроек. Файл и всё.</a:t>
          </a:r>
          <a:endParaRPr lang="ru-RU" sz="1800" kern="1200" dirty="0"/>
        </a:p>
      </dsp:txBody>
      <dsp:txXfrm>
        <a:off x="3238" y="619557"/>
        <a:ext cx="2569171" cy="1541502"/>
      </dsp:txXfrm>
    </dsp:sp>
    <dsp:sp modelId="{A30EAFC4-CB23-407B-8CE1-A1B3F3B0EBA8}">
      <dsp:nvSpPr>
        <dsp:cNvPr id="0" name=""/>
        <dsp:cNvSpPr/>
      </dsp:nvSpPr>
      <dsp:spPr>
        <a:xfrm>
          <a:off x="2829327" y="619557"/>
          <a:ext cx="2569171" cy="15415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 dirty="0"/>
            <a:t>📦 Один файл</a:t>
          </a:r>
          <a:br>
            <a:rPr lang="ru-RU" sz="1800" kern="1200" dirty="0"/>
          </a:br>
          <a:r>
            <a:rPr lang="ru-RU" sz="1800" b="0" i="0" kern="1200" dirty="0" err="1"/>
            <a:t>transport.db</a:t>
          </a:r>
          <a:r>
            <a:rPr lang="ru-RU" sz="1800" b="0" i="0" kern="1200" dirty="0"/>
            <a:t> </a:t>
          </a:r>
          <a:r>
            <a:rPr lang="en-US" sz="1800" kern="1200" dirty="0"/>
            <a:t>–</a:t>
          </a:r>
          <a:r>
            <a:rPr lang="ru-RU" sz="1800" b="0" i="0" kern="1200" dirty="0"/>
            <a:t> 200 МБ, но это один файл. Можно отправить по почте.</a:t>
          </a:r>
          <a:endParaRPr lang="ru-RU" sz="1800" kern="1200" dirty="0"/>
        </a:p>
      </dsp:txBody>
      <dsp:txXfrm>
        <a:off x="2829327" y="619557"/>
        <a:ext cx="2569171" cy="1541502"/>
      </dsp:txXfrm>
    </dsp:sp>
    <dsp:sp modelId="{C7609C55-F62B-4CDD-AD87-15D5E4F0D345}">
      <dsp:nvSpPr>
        <dsp:cNvPr id="0" name=""/>
        <dsp:cNvSpPr/>
      </dsp:nvSpPr>
      <dsp:spPr>
        <a:xfrm>
          <a:off x="5655416" y="619557"/>
          <a:ext cx="2569171" cy="15415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 dirty="0"/>
            <a:t>🐍 Встроен в Python</a:t>
          </a:r>
          <a:br>
            <a:rPr lang="ru-RU" sz="1800" kern="1200" dirty="0"/>
          </a:br>
          <a:r>
            <a:rPr lang="ru-RU" sz="1800" b="0" i="0" kern="1200" dirty="0"/>
            <a:t>Не надо ставить. Идёт в комплекте, как </a:t>
          </a:r>
          <a:r>
            <a:rPr lang="ru-RU" sz="1800" b="0" i="0" kern="1200" dirty="0" err="1"/>
            <a:t>math</a:t>
          </a:r>
          <a:r>
            <a:rPr lang="ru-RU" sz="1800" b="0" i="0" kern="1200" dirty="0"/>
            <a:t> или </a:t>
          </a:r>
          <a:r>
            <a:rPr lang="ru-RU" sz="1800" b="0" i="0" kern="1200" dirty="0" err="1"/>
            <a:t>os</a:t>
          </a:r>
          <a:r>
            <a:rPr lang="ru-RU" sz="1800" b="0" i="0" kern="1200" dirty="0"/>
            <a:t>.</a:t>
          </a:r>
          <a:endParaRPr lang="ru-RU" sz="1800" kern="1200" dirty="0"/>
        </a:p>
      </dsp:txBody>
      <dsp:txXfrm>
        <a:off x="5655416" y="619557"/>
        <a:ext cx="2569171" cy="1541502"/>
      </dsp:txXfrm>
    </dsp:sp>
    <dsp:sp modelId="{C3E75746-6799-4104-BFF5-B956333E527F}">
      <dsp:nvSpPr>
        <dsp:cNvPr id="0" name=""/>
        <dsp:cNvSpPr/>
      </dsp:nvSpPr>
      <dsp:spPr>
        <a:xfrm>
          <a:off x="8481504" y="619557"/>
          <a:ext cx="2569171" cy="15415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 dirty="0"/>
            <a:t>⚡ Синтаксис как у всех</a:t>
          </a:r>
          <a:br>
            <a:rPr lang="ru-RU" sz="1800" kern="1200" dirty="0"/>
          </a:br>
          <a:r>
            <a:rPr lang="ru-RU" sz="1800" b="0" i="0" kern="1200" dirty="0"/>
            <a:t>Тот же SQL, что в </a:t>
          </a:r>
          <a:r>
            <a:rPr lang="ru-RU" sz="1800" b="0" i="0" kern="1200" dirty="0" err="1"/>
            <a:t>PostgreSQL</a:t>
          </a:r>
          <a:r>
            <a:rPr lang="ru-RU" sz="1800" b="0" i="0" kern="1200" dirty="0"/>
            <a:t> или MySQL. Выучил на </a:t>
          </a:r>
          <a:r>
            <a:rPr lang="ru-RU" sz="1800" b="0" i="0" kern="1200" dirty="0" err="1"/>
            <a:t>SQLite</a:t>
          </a:r>
          <a:r>
            <a:rPr lang="ru-RU" sz="1800" b="0" i="0" kern="1200" dirty="0"/>
            <a:t> </a:t>
          </a:r>
          <a:r>
            <a:rPr lang="en-US" sz="1800" kern="1200" dirty="0"/>
            <a:t>–</a:t>
          </a:r>
          <a:r>
            <a:rPr lang="ru-RU" sz="1800" b="0" i="0" kern="1200" dirty="0"/>
            <a:t> знаешь везде.</a:t>
          </a:r>
          <a:endParaRPr lang="ru-RU" sz="1800" kern="1200" dirty="0"/>
        </a:p>
      </dsp:txBody>
      <dsp:txXfrm>
        <a:off x="8481504" y="619557"/>
        <a:ext cx="2569171" cy="1541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0E4CA-EAE5-4610-A98B-54A44AD2C484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87F2-A3F6-4BCF-933A-DC96E0B634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40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46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00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887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90C9-5BF4-7D34-E7FB-ED7D2E79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A6AED1-A090-440C-C3C0-234F377F8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C279F6-63BF-8C58-4CB4-919161E3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997072-F4B8-684B-3147-07BDC574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899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228A-8ECB-2CC4-F38B-49435F14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3A2C0D-D633-F574-B43D-0FCB5B9A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C67CFD-0A2D-5956-CD85-AA2FC3F0F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BF3CE4-F77F-0EAF-A6D9-390DC67ED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261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70663-3CDB-9376-351D-1B596001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57CE8C-88BA-EEAA-507A-5E8F733FC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0D14974-6C0C-1522-CB09-238A1D96E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22C6A3-E7B0-C5AB-F620-35D2B3725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821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3927-9840-16DE-A5FB-9F1D0C8A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8571F8-AAC7-E2EB-9694-B98FFB91B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4B169AD-308F-B824-A992-3FB0BC63C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CDC37A-B2BE-42A8-900B-5632B063F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310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7EB0-09E9-CBEB-BD1A-78CCA7F2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4CECB5-043D-D33D-23F3-625B45A7A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443C90-094F-BC5C-FB76-58F303644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0FA3C6-6422-FFB7-31B0-5D20A4F7A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87F2-A3F6-4BCF-933A-DC96E0B634E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812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E7C6-CF3E-7532-FD70-44CE60816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F0B306-736A-75F4-9439-964B4AE8C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CD4EBD-4652-B682-60A2-9842D45EF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66BE3F-EFE5-8AA5-AE97-0382D4C82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87F2-A3F6-4BCF-933A-DC96E0B634E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439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E7C6-CF3E-7532-FD70-44CE60816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F0B306-736A-75F4-9439-964B4AE8C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CD4EBD-4652-B682-60A2-9842D45EF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66BE3F-EFE5-8AA5-AE97-0382D4C82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87F2-A3F6-4BCF-933A-DC96E0B634E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638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4DD4-4D28-6F1F-0535-81405399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524B9B-9445-C3DA-BF68-40707DA44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F108648-D14B-0ECB-E517-674E03F6E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AEB8F2-51C3-51E0-D8C7-689E6A56E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87F2-A3F6-4BCF-933A-DC96E0B634E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078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5ABA-B422-FE61-553C-640AD76C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5A394B-FEB1-D171-6DFB-166E7953C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DAD2A1-86E2-A21C-21C8-946DA0F27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8B3ED8-2979-9EE6-7A65-7DFA77197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87F2-A3F6-4BCF-933A-DC96E0B634E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391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63D8-1326-60CD-5DC7-868ED55F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C5DF8DF-22EB-90CC-3E93-832026464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B3E3E51-34FC-F2F8-4FD9-B8B6CCBCE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C7CB9B-1EE7-0575-7838-93D1BB394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87F2-A3F6-4BCF-933A-DC96E0B634E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567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E9DA1-E280-7809-3F05-F5349AD05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26FB77-C4BE-15B5-A531-9467915A6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A7009B-9999-5A46-61DF-75BEF9FA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0A37A3-89D1-DD81-0552-6F43CE38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5F3565-2E0F-FF91-DE4D-A7174847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60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897D7-4349-9BD6-BD7F-71E8F310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27DF78-99D5-F4E6-F36E-D52E75CB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4CBD90-BEF5-C5C5-FA12-B5B6E6AB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84BF6A-0E06-7A13-A32B-F43D05D5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2BE111-EC10-0A16-D347-7F7DEA8B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03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E6106-731A-D934-F242-A1C28210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56A9CA-69EB-3794-2FFD-A49353F48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F3781-E0B6-085D-EFFB-91EC170A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5169E-F1B2-3AEB-105D-236D66AB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7A9679-D15E-160E-57AE-523108A2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86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094C4-7421-2BE1-DFD2-D4A5FF2B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1517DD-6A0A-C9EE-9C78-F5A815AFE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1B0AB7-3E13-CDED-8914-A20B38963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2AB1E3-31EA-95EB-DCA1-BA2EF728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9F1C01-259C-842A-1CD1-B096311E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8C00F2-21B5-E050-BBC9-2C2B905B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28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4D8CD-A9E5-5EB5-E5D0-C4D1BA93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CE5B01-E98B-1999-DC2F-5521C52C2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8A37A3-A28F-0E00-6E31-454935406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9F2EC5-D778-D443-A2FC-2D4F22223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9B2AB2-9E1D-C1F3-3F07-89FFB2DEB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C898A3-23FA-4315-4F14-78D32355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45A308-F977-C6D5-E9EE-270485F2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6059B2-7526-C2B2-8F87-955BA03B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04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DE39E-3CBA-7387-5145-66389D10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01E127-8045-D71F-18EE-9C5636E9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14FFBE-E37C-55F1-0C7C-D671AF2D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E4E146-AB0A-87D4-F948-5CB4797F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20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873F4A-E34F-F598-F58D-288C1D5B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8BB699-CA68-D796-770F-B9D1D343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2F3EB7-07FE-8985-9906-FC246864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05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E02FFA-6432-13BF-AC1C-A3F7366E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FC667-3A7C-3D37-E233-49D46105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F5A000-A3ED-E98A-4F20-21EFAAAB9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B7FE8-3056-59C9-8F7C-CBC212FA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04E473-7856-7B51-6B5B-BF1DCBFE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466B81-58E0-F6B7-17EE-A0697659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6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46EB3-19C9-ABE5-898C-FCE53859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7340CE-1B19-31BB-9969-0E31E3C1D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D28B45-0B9F-28BB-3052-23006F2C1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C5EEAA-1A99-F809-433A-4913FBBD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DA8445-9293-9DFF-4760-76A8CD1A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7A84DE-7BD9-AE2E-C237-1D9AE580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60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4953E-4272-1628-8586-D75E6761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120D1B-2B74-0E8D-C507-85CCB6F41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3B7C18-FBB2-C975-4F8D-FD788D0E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41E212-C038-146B-5BD8-E2B27BC0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4481A8-852A-E25C-CE2C-34F4537C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2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1345EA2-66AD-5DDF-7D31-30F0F4872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E0BE87-5A58-7D7E-B763-F08FE40BB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634380-CD46-4D81-45DF-B3AFB77D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3CD19B-BC26-1F9C-74FF-F6E06D45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135942-EB31-78D1-040D-4F1BBE3C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88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9BB1C-6F68-FC5C-026C-F43C8EA0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56C49D-C8FB-116F-06D5-BCB62AB37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D2C9D3-6A36-4AA7-C971-D6D112012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38737-53D0-46E4-99A1-FFEBD9131E8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D0D3B7-6470-39EF-BCCD-3C6A30A9D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4AC224-D577-2943-584A-718EC1FB4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2C0C8-B10A-4285-910F-228D1279E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47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DB3C019-EB97-53F1-45F4-994DCF5A8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r="4638" b="9092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B695E-982A-00B5-D649-5EEC94759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ru-RU" sz="4400" b="1" dirty="0"/>
              <a:t>SQL –  язык инженера данных</a:t>
            </a:r>
            <a:br>
              <a:rPr lang="ru-RU" sz="4400" dirty="0"/>
            </a:br>
            <a:r>
              <a:rPr lang="ru-RU" sz="4400" dirty="0"/>
              <a:t>Практическое занятие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69106E-468D-B9B2-D7C6-41B11B950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Дисциплина: Инженерия данных на транспорте</a:t>
            </a:r>
            <a:br>
              <a:rPr lang="ru-RU" sz="2000" dirty="0"/>
            </a:br>
            <a:r>
              <a:rPr lang="ru-RU" sz="2000" dirty="0"/>
              <a:t>1 курс, 1 семестр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529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B34E-927E-5664-E128-76543C6C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1A0E0-4770-7ED6-C617-7476EA73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ru-RU" b="1" dirty="0"/>
              <a:t>Что мы будем делать сегодня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51ABA2A-98A7-549D-A851-6512CD638457}"/>
              </a:ext>
            </a:extLst>
          </p:cNvPr>
          <p:cNvSpPr/>
          <p:nvPr/>
        </p:nvSpPr>
        <p:spPr>
          <a:xfrm>
            <a:off x="902110" y="1690687"/>
            <a:ext cx="3040626" cy="38645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185B829-BEFF-50C3-512F-A60D907D9A78}"/>
              </a:ext>
            </a:extLst>
          </p:cNvPr>
          <p:cNvSpPr/>
          <p:nvPr/>
        </p:nvSpPr>
        <p:spPr>
          <a:xfrm>
            <a:off x="8249264" y="1690687"/>
            <a:ext cx="3040626" cy="3864539"/>
          </a:xfrm>
          <a:prstGeom prst="roundRect">
            <a:avLst>
              <a:gd name="adj" fmla="val 3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167D16-21AB-6671-440A-979B7FCF713B}"/>
              </a:ext>
            </a:extLst>
          </p:cNvPr>
          <p:cNvSpPr/>
          <p:nvPr/>
        </p:nvSpPr>
        <p:spPr>
          <a:xfrm>
            <a:off x="793954" y="1606999"/>
            <a:ext cx="776749" cy="33475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F66FCFF-A4B4-A5A1-1BDA-C48A999B120C}"/>
              </a:ext>
            </a:extLst>
          </p:cNvPr>
          <p:cNvSpPr/>
          <p:nvPr/>
        </p:nvSpPr>
        <p:spPr>
          <a:xfrm>
            <a:off x="4613916" y="1690688"/>
            <a:ext cx="3099361" cy="38645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A38C30-8A01-DFC9-A5E6-465BDD952E58}"/>
              </a:ext>
            </a:extLst>
          </p:cNvPr>
          <p:cNvSpPr/>
          <p:nvPr/>
        </p:nvSpPr>
        <p:spPr>
          <a:xfrm>
            <a:off x="4478722" y="1614087"/>
            <a:ext cx="776749" cy="33475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0A97CC-EA27-BA43-A18B-C5B893E0C469}"/>
              </a:ext>
            </a:extLst>
          </p:cNvPr>
          <p:cNvSpPr/>
          <p:nvPr/>
        </p:nvSpPr>
        <p:spPr>
          <a:xfrm>
            <a:off x="8087031" y="1606999"/>
            <a:ext cx="776749" cy="33475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6C4EF202-6BE2-99BE-F2EA-7309018A1E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E85EA0F-8B0D-A9F2-3804-F9213A8B1B6E}"/>
              </a:ext>
            </a:extLst>
          </p:cNvPr>
          <p:cNvSpPr txBox="1"/>
          <p:nvPr/>
        </p:nvSpPr>
        <p:spPr>
          <a:xfrm>
            <a:off x="924233" y="2067897"/>
            <a:ext cx="30185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1. Поймём, зачем нужен SQL</a:t>
            </a:r>
          </a:p>
          <a:p>
            <a:endParaRPr lang="ru-RU" dirty="0"/>
          </a:p>
          <a:p>
            <a:r>
              <a:rPr lang="ru-RU" dirty="0"/>
              <a:t>- Как база данных хранит информацию</a:t>
            </a:r>
          </a:p>
          <a:p>
            <a:endParaRPr lang="ru-RU" dirty="0"/>
          </a:p>
          <a:p>
            <a:r>
              <a:rPr lang="ru-RU" dirty="0"/>
              <a:t>- Чем SQL отличается от Excel</a:t>
            </a:r>
          </a:p>
          <a:p>
            <a:endParaRPr lang="ru-RU" dirty="0"/>
          </a:p>
          <a:p>
            <a:r>
              <a:rPr lang="ru-RU" dirty="0"/>
              <a:t>- Кто такой инженер данных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E07CF-A719-F805-F664-08211E767681}"/>
              </a:ext>
            </a:extLst>
          </p:cNvPr>
          <p:cNvSpPr txBox="1"/>
          <p:nvPr/>
        </p:nvSpPr>
        <p:spPr>
          <a:xfrm>
            <a:off x="4613916" y="2067897"/>
            <a:ext cx="30993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2. Соберём свой «мини-склад» данных</a:t>
            </a:r>
          </a:p>
          <a:p>
            <a:endParaRPr lang="ru-RU" dirty="0"/>
          </a:p>
          <a:p>
            <a:r>
              <a:rPr lang="ru-RU" dirty="0"/>
              <a:t>- Возьмём Excel с осмотрами станций</a:t>
            </a:r>
          </a:p>
          <a:p>
            <a:endParaRPr lang="ru-RU" dirty="0"/>
          </a:p>
          <a:p>
            <a:r>
              <a:rPr lang="ru-RU" dirty="0"/>
              <a:t>- Загрузим его в базу </a:t>
            </a:r>
            <a:r>
              <a:rPr lang="ru-RU" dirty="0" err="1"/>
              <a:t>SQLite</a:t>
            </a:r>
            <a:endParaRPr lang="ru-RU" dirty="0"/>
          </a:p>
          <a:p>
            <a:endParaRPr lang="ru-RU" dirty="0"/>
          </a:p>
          <a:p>
            <a:r>
              <a:rPr lang="ru-RU" dirty="0"/>
              <a:t>- Получим 12 112 записей для анализа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2B72B-D020-DDA3-8D0D-0A2F2C3F4C52}"/>
              </a:ext>
            </a:extLst>
          </p:cNvPr>
          <p:cNvSpPr txBox="1"/>
          <p:nvPr/>
        </p:nvSpPr>
        <p:spPr>
          <a:xfrm>
            <a:off x="8249264" y="2067897"/>
            <a:ext cx="30185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3. Напишем SQL-запросы и сделаем выводы</a:t>
            </a:r>
          </a:p>
          <a:p>
            <a:endParaRPr lang="ru-RU" dirty="0"/>
          </a:p>
          <a:p>
            <a:r>
              <a:rPr lang="ru-RU" dirty="0"/>
              <a:t>- Топ станций по числу нарушений</a:t>
            </a:r>
          </a:p>
          <a:p>
            <a:endParaRPr lang="ru-RU" dirty="0"/>
          </a:p>
          <a:p>
            <a:r>
              <a:rPr lang="ru-RU" dirty="0"/>
              <a:t>- Топ видов нарушений</a:t>
            </a:r>
          </a:p>
          <a:p>
            <a:endParaRPr lang="ru-RU" dirty="0"/>
          </a:p>
          <a:p>
            <a:r>
              <a:rPr lang="ru-RU" dirty="0"/>
              <a:t>- Поиск ошибок в данных</a:t>
            </a:r>
          </a:p>
          <a:p>
            <a:endParaRPr lang="ru-RU" dirty="0"/>
          </a:p>
          <a:p>
            <a:r>
              <a:rPr lang="ru-RU" dirty="0"/>
              <a:t>- Среднее время устранения и </a:t>
            </a:r>
            <a:r>
              <a:rPr lang="ru-RU" dirty="0" err="1"/>
              <a:t>тд</a:t>
            </a:r>
            <a:r>
              <a:rPr lang="ru-RU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44C404-DE28-E455-7898-382A0413279A}"/>
              </a:ext>
            </a:extLst>
          </p:cNvPr>
          <p:cNvSpPr txBox="1"/>
          <p:nvPr/>
        </p:nvSpPr>
        <p:spPr>
          <a:xfrm>
            <a:off x="481780" y="5873259"/>
            <a:ext cx="10785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Результат: вы сами напишете 9 SQL-запросов к реальным данным железной дороги.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8E0381D-1936-59C0-B602-019E7F2ABB9D}"/>
              </a:ext>
            </a:extLst>
          </p:cNvPr>
          <p:cNvCxnSpPr/>
          <p:nvPr/>
        </p:nvCxnSpPr>
        <p:spPr>
          <a:xfrm>
            <a:off x="403122" y="6019400"/>
            <a:ext cx="0" cy="53871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8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9657-4109-7EA4-3C57-53DC6987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975C0-F44A-6668-6E3F-53DFBD58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ru-RU" b="1" dirty="0"/>
              <a:t>Зачем </a:t>
            </a:r>
            <a:r>
              <a:rPr lang="en-US" b="1" dirty="0"/>
              <a:t>SQL </a:t>
            </a:r>
            <a:r>
              <a:rPr lang="ru-RU" b="1" dirty="0"/>
              <a:t>инженеру данных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0DB2A913-4C24-66FB-16B3-734609554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6BE7E265-21DB-91F7-FC06-20B3DA5360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C7B21258-6D1D-C791-95B4-87AE8B70B1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151343"/>
              </p:ext>
            </p:extLst>
          </p:nvPr>
        </p:nvGraphicFramePr>
        <p:xfrm>
          <a:off x="1256890" y="1074208"/>
          <a:ext cx="967821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0921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5580-3601-5F44-3545-5417DA5C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232CB9-091B-473D-BA85-A7AB122BB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22"/>
          <a:stretch>
            <a:fillRect/>
          </a:stretch>
        </p:blipFill>
        <p:spPr>
          <a:xfrm>
            <a:off x="5685925" y="2265894"/>
            <a:ext cx="5794463" cy="14788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AC530-0BC2-783C-139F-7C20F745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ru-RU" b="1" dirty="0"/>
              <a:t>Что такое база данных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1126ED55-37F7-029E-E262-E9E86360E5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999CBF80-2AEB-D44D-8ECB-415C426C9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5DEB1B-F1EE-FBB1-BACC-47AB7D83A611}"/>
              </a:ext>
            </a:extLst>
          </p:cNvPr>
          <p:cNvSpPr/>
          <p:nvPr/>
        </p:nvSpPr>
        <p:spPr>
          <a:xfrm>
            <a:off x="5685925" y="2617271"/>
            <a:ext cx="5794462" cy="318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165A4F-48F1-5513-060A-38C3BEBB8EC3}"/>
              </a:ext>
            </a:extLst>
          </p:cNvPr>
          <p:cNvSpPr/>
          <p:nvPr/>
        </p:nvSpPr>
        <p:spPr>
          <a:xfrm>
            <a:off x="5905502" y="2273254"/>
            <a:ext cx="761627" cy="1478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3511F-35B1-9D38-FEC1-FDFD7E5FC9C1}"/>
              </a:ext>
            </a:extLst>
          </p:cNvPr>
          <p:cNvSpPr txBox="1"/>
          <p:nvPr/>
        </p:nvSpPr>
        <p:spPr>
          <a:xfrm>
            <a:off x="5730792" y="3694246"/>
            <a:ext cx="11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колонка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D509CE-7009-E88E-32DC-DBB054A36600}"/>
              </a:ext>
            </a:extLst>
          </p:cNvPr>
          <p:cNvSpPr txBox="1"/>
          <p:nvPr/>
        </p:nvSpPr>
        <p:spPr>
          <a:xfrm>
            <a:off x="235974" y="1517283"/>
            <a:ext cx="5230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b="0" dirty="0"/>
              <a:t>⚙️ </a:t>
            </a:r>
            <a:r>
              <a:rPr lang="ru-RU" dirty="0"/>
              <a:t>СУБД</a:t>
            </a:r>
            <a:br>
              <a:rPr lang="ru-RU" b="0" dirty="0"/>
            </a:br>
            <a:br>
              <a:rPr lang="en-US" b="0" dirty="0"/>
            </a:br>
            <a:endParaRPr lang="en-US" b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9D43EB-9A80-D5A1-EA2C-F2C93F5600FB}"/>
              </a:ext>
            </a:extLst>
          </p:cNvPr>
          <p:cNvSpPr txBox="1"/>
          <p:nvPr/>
        </p:nvSpPr>
        <p:spPr>
          <a:xfrm>
            <a:off x="235974" y="2724844"/>
            <a:ext cx="5230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0"/>
            </a:lvl1pPr>
          </a:lstStyle>
          <a:p>
            <a:r>
              <a:rPr lang="ru-RU" dirty="0"/>
              <a:t>🗄️ </a:t>
            </a:r>
            <a:r>
              <a:rPr lang="ru-RU" b="1" dirty="0"/>
              <a:t>База данных (БД)</a:t>
            </a:r>
            <a:br>
              <a:rPr lang="ru-RU" dirty="0"/>
            </a:b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46217D-19A6-2D4E-2134-68B7FC6E3EA4}"/>
              </a:ext>
            </a:extLst>
          </p:cNvPr>
          <p:cNvSpPr txBox="1"/>
          <p:nvPr/>
        </p:nvSpPr>
        <p:spPr>
          <a:xfrm>
            <a:off x="5685926" y="4063578"/>
            <a:ext cx="5794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Строка = одна запись (одно нарушение)</a:t>
            </a:r>
          </a:p>
          <a:p>
            <a:pPr algn="ctr"/>
            <a:r>
              <a:rPr lang="ru-RU" dirty="0"/>
              <a:t>Колонка = одно поле (станция, дата, статус)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51E4ED-E3E7-9C7A-F57A-8E9F5EDC2E97}"/>
              </a:ext>
            </a:extLst>
          </p:cNvPr>
          <p:cNvSpPr txBox="1"/>
          <p:nvPr/>
        </p:nvSpPr>
        <p:spPr>
          <a:xfrm>
            <a:off x="235974" y="4286803"/>
            <a:ext cx="523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📏 </a:t>
            </a:r>
            <a:r>
              <a:rPr lang="ru-RU" b="1" dirty="0"/>
              <a:t>Типы данных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58BEA24-0904-4E15-60AA-0F8D3E71A44F}"/>
              </a:ext>
            </a:extLst>
          </p:cNvPr>
          <p:cNvSpPr/>
          <p:nvPr/>
        </p:nvSpPr>
        <p:spPr>
          <a:xfrm>
            <a:off x="11141175" y="2676362"/>
            <a:ext cx="678426" cy="207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80205-FD44-2776-3E97-414D949D6219}"/>
              </a:ext>
            </a:extLst>
          </p:cNvPr>
          <p:cNvSpPr txBox="1"/>
          <p:nvPr/>
        </p:nvSpPr>
        <p:spPr>
          <a:xfrm>
            <a:off x="10780948" y="2555558"/>
            <a:ext cx="149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&lt;-- </a:t>
            </a:r>
            <a:r>
              <a:rPr lang="ru-RU" b="1" dirty="0">
                <a:solidFill>
                  <a:srgbClr val="FF0000"/>
                </a:solidFill>
              </a:rPr>
              <a:t>строка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A61203-BC4B-416E-8B67-2E03456077E2}"/>
              </a:ext>
            </a:extLst>
          </p:cNvPr>
          <p:cNvSpPr txBox="1"/>
          <p:nvPr/>
        </p:nvSpPr>
        <p:spPr>
          <a:xfrm>
            <a:off x="235974" y="1830814"/>
            <a:ext cx="614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/>
              <a:t>Система управления базами данных.</a:t>
            </a:r>
            <a:br>
              <a:rPr lang="ru-RU" b="0" dirty="0"/>
            </a:br>
            <a:r>
              <a:rPr lang="en-US" b="0" dirty="0"/>
              <a:t>PostgreSQL · MySQL · SQLite · </a:t>
            </a:r>
            <a:r>
              <a:rPr lang="en-US" b="0" dirty="0" err="1"/>
              <a:t>ClickHouse</a:t>
            </a:r>
            <a:r>
              <a:rPr lang="en-US" b="0" dirty="0"/>
              <a:t>.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769FE2-C33B-4F96-86CD-6998842F9E13}"/>
              </a:ext>
            </a:extLst>
          </p:cNvPr>
          <p:cNvSpPr txBox="1"/>
          <p:nvPr/>
        </p:nvSpPr>
        <p:spPr>
          <a:xfrm>
            <a:off x="235974" y="3099560"/>
            <a:ext cx="4915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Организованное хранилище данных.</a:t>
            </a:r>
            <a:br>
              <a:rPr lang="ru-RU" dirty="0"/>
            </a:br>
            <a:r>
              <a:rPr lang="ru-RU" dirty="0"/>
              <a:t>Один файл </a:t>
            </a:r>
            <a:r>
              <a:rPr lang="ru-RU" dirty="0" err="1">
                <a:highlight>
                  <a:srgbClr val="C0C0C0"/>
                </a:highlight>
              </a:rPr>
              <a:t>transport.db</a:t>
            </a:r>
            <a:r>
              <a:rPr lang="ru-RU" dirty="0">
                <a:highlight>
                  <a:srgbClr val="C0C0C0"/>
                </a:highlight>
              </a:rPr>
              <a:t> </a:t>
            </a:r>
            <a:r>
              <a:rPr lang="ru-RU" dirty="0"/>
              <a:t>вместо миллионов строк Excel.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337E56-5AF0-4423-8C54-861671753E70}"/>
              </a:ext>
            </a:extLst>
          </p:cNvPr>
          <p:cNvSpPr txBox="1"/>
          <p:nvPr/>
        </p:nvSpPr>
        <p:spPr>
          <a:xfrm>
            <a:off x="235974" y="4611728"/>
            <a:ext cx="4915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 каждой колонки свой тип: INT · TEXT · DATE.</a:t>
            </a:r>
          </a:p>
          <a:p>
            <a:r>
              <a:rPr lang="ru-RU" dirty="0"/>
              <a:t>В Excel можно написать «вчера» в колонку с датой. В базе </a:t>
            </a:r>
            <a:r>
              <a:rPr lang="ru-RU" b="0" dirty="0"/>
              <a:t>–</a:t>
            </a:r>
            <a:r>
              <a:rPr lang="ru-RU" dirty="0"/>
              <a:t> нельзя.</a:t>
            </a:r>
          </a:p>
        </p:txBody>
      </p:sp>
    </p:spTree>
    <p:extLst>
      <p:ext uri="{BB962C8B-B14F-4D97-AF65-F5344CB8AC3E}">
        <p14:creationId xmlns:p14="http://schemas.microsoft.com/office/powerpoint/2010/main" val="3742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045F-E535-8AED-FA5E-F6115DA6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2BAD4-356F-2AAB-D9C4-B851DB95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en-US" b="1" dirty="0"/>
              <a:t>SQL: </a:t>
            </a:r>
            <a:r>
              <a:rPr lang="ru-RU" b="1" dirty="0"/>
              <a:t>четыре группы команд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4F7D5D85-E3BC-0222-9F38-F00B7C553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7712F3F2-7719-E3DD-EC59-3D639EECB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00ED9FD-52BF-885F-775E-68F4F4A0B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70121"/>
              </p:ext>
            </p:extLst>
          </p:nvPr>
        </p:nvGraphicFramePr>
        <p:xfrm>
          <a:off x="380178" y="1580944"/>
          <a:ext cx="11418531" cy="4672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177">
                  <a:extLst>
                    <a:ext uri="{9D8B030D-6E8A-4147-A177-3AD203B41FA5}">
                      <a16:colId xmlns:a16="http://schemas.microsoft.com/office/drawing/2014/main" val="3537560740"/>
                    </a:ext>
                  </a:extLst>
                </a:gridCol>
                <a:gridCol w="3806177">
                  <a:extLst>
                    <a:ext uri="{9D8B030D-6E8A-4147-A177-3AD203B41FA5}">
                      <a16:colId xmlns:a16="http://schemas.microsoft.com/office/drawing/2014/main" val="710128330"/>
                    </a:ext>
                  </a:extLst>
                </a:gridCol>
                <a:gridCol w="3806177">
                  <a:extLst>
                    <a:ext uri="{9D8B030D-6E8A-4147-A177-3AD203B41FA5}">
                      <a16:colId xmlns:a16="http://schemas.microsoft.com/office/drawing/2014/main" val="4248129143"/>
                    </a:ext>
                  </a:extLst>
                </a:gridCol>
              </a:tblGrid>
              <a:tr h="74679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800" b="1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Группа</a:t>
                      </a: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800" b="1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Что делает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800" b="1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Примеры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17426"/>
                  </a:ext>
                </a:extLst>
              </a:tr>
              <a:tr h="9813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1" dirty="0">
                          <a:effectLst/>
                          <a:latin typeface="+mj-lt"/>
                        </a:rPr>
                        <a:t>DDL</a:t>
                      </a:r>
                      <a:endParaRPr lang="en-US" sz="2800" b="0" dirty="0"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+mn-lt"/>
                        </a:rPr>
                        <a:t>Создаёт структуру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CREATE TABLE</a:t>
                      </a:r>
                      <a:r>
                        <a:rPr lang="en-US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ALTER</a:t>
                      </a:r>
                      <a:r>
                        <a:rPr lang="en-US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DROP</a:t>
                      </a:r>
                    </a:p>
                  </a:txBody>
                  <a:tcPr marL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006136"/>
                  </a:ext>
                </a:extLst>
              </a:tr>
              <a:tr h="9813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1" dirty="0">
                          <a:effectLst/>
                          <a:latin typeface="+mj-lt"/>
                        </a:rPr>
                        <a:t>DML</a:t>
                      </a:r>
                      <a:endParaRPr lang="en-US" sz="2800" b="0" dirty="0"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+mn-lt"/>
                        </a:rPr>
                        <a:t>Изменяет данные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INSERT</a:t>
                      </a:r>
                      <a:r>
                        <a:rPr lang="en-US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UPDATE</a:t>
                      </a:r>
                      <a:r>
                        <a:rPr lang="en-US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DELETE</a:t>
                      </a:r>
                    </a:p>
                  </a:txBody>
                  <a:tcPr marL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448202"/>
                  </a:ext>
                </a:extLst>
              </a:tr>
              <a:tr h="9813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1" dirty="0">
                          <a:effectLst/>
                          <a:latin typeface="+mj-lt"/>
                        </a:rPr>
                        <a:t>DQL</a:t>
                      </a:r>
                      <a:endParaRPr lang="en-US" sz="2800" b="0" dirty="0"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+mn-lt"/>
                        </a:rPr>
                        <a:t>Читает данные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SELECT</a:t>
                      </a:r>
                    </a:p>
                  </a:txBody>
                  <a:tcPr marL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477087"/>
                  </a:ext>
                </a:extLst>
              </a:tr>
              <a:tr h="9813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1" dirty="0">
                          <a:effectLst/>
                          <a:latin typeface="+mj-lt"/>
                        </a:rPr>
                        <a:t>DCL</a:t>
                      </a:r>
                      <a:endParaRPr lang="en-US" sz="2800" b="0" dirty="0"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+mn-lt"/>
                        </a:rPr>
                        <a:t>Управляет доступом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GRANT</a:t>
                      </a:r>
                      <a:r>
                        <a:rPr lang="en-US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n-US" b="0" dirty="0">
                          <a:effectLst/>
                          <a:highlight>
                            <a:srgbClr val="C0C0C0"/>
                          </a:highlight>
                          <a:latin typeface="+mn-lt"/>
                        </a:rPr>
                        <a:t>REVOKE</a:t>
                      </a:r>
                    </a:p>
                  </a:txBody>
                  <a:tcPr marL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201646"/>
                  </a:ext>
                </a:extLst>
              </a:tr>
            </a:tbl>
          </a:graphicData>
        </a:graphic>
      </p:graphicFrame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4872770-C71A-72F0-02B1-CE1744B91174}"/>
              </a:ext>
            </a:extLst>
          </p:cNvPr>
          <p:cNvSpPr/>
          <p:nvPr/>
        </p:nvSpPr>
        <p:spPr>
          <a:xfrm>
            <a:off x="235974" y="1580943"/>
            <a:ext cx="11720052" cy="4672373"/>
          </a:xfrm>
          <a:prstGeom prst="roundRect">
            <a:avLst>
              <a:gd name="adj" fmla="val 3712"/>
            </a:avLst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2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E2D5-8A01-8CA3-F60A-2231CD4C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9B060F-D27D-FFF3-66D7-773A1A03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en-US" b="1" dirty="0"/>
              <a:t>SELECT: </a:t>
            </a:r>
            <a:r>
              <a:rPr lang="ru-RU" b="1" dirty="0"/>
              <a:t>базовый синтаксис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50C9A832-9C8F-6594-421B-4B8008770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D42E711A-4E30-B213-618F-314E8A504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947378BF-C187-AA75-DF08-CF21A9715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655670"/>
              </p:ext>
            </p:extLst>
          </p:nvPr>
        </p:nvGraphicFramePr>
        <p:xfrm>
          <a:off x="350681" y="2103472"/>
          <a:ext cx="5843642" cy="3218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821">
                  <a:extLst>
                    <a:ext uri="{9D8B030D-6E8A-4147-A177-3AD203B41FA5}">
                      <a16:colId xmlns:a16="http://schemas.microsoft.com/office/drawing/2014/main" val="3537560740"/>
                    </a:ext>
                  </a:extLst>
                </a:gridCol>
                <a:gridCol w="2921821">
                  <a:extLst>
                    <a:ext uri="{9D8B030D-6E8A-4147-A177-3AD203B41FA5}">
                      <a16:colId xmlns:a16="http://schemas.microsoft.com/office/drawing/2014/main" val="710128330"/>
                    </a:ext>
                  </a:extLst>
                </a:gridCol>
              </a:tblGrid>
              <a:tr h="5363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SELECT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(колонки) 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← 🟦 что показать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006136"/>
                  </a:ext>
                </a:extLst>
              </a:tr>
              <a:tr h="5363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FROM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(таблица)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← 🟩 откуда взять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448202"/>
                  </a:ext>
                </a:extLst>
              </a:tr>
              <a:tr h="5363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WHERE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(условие) 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← 🟨 что оставить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477087"/>
                  </a:ext>
                </a:extLst>
              </a:tr>
              <a:tr h="5363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GROUP BY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(колонка) 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← 🟧 как сгруппировать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201646"/>
                  </a:ext>
                </a:extLst>
              </a:tr>
              <a:tr h="5363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ORDER BY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(колонка) 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← 🟪 как отсортировать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922928"/>
                  </a:ext>
                </a:extLst>
              </a:tr>
              <a:tr h="5363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LIMIT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(число)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← 🟥 сколько оставить</a:t>
                      </a:r>
                    </a:p>
                  </a:txBody>
                  <a:tcPr marL="121920" marR="121920" marT="76200" marB="762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971321"/>
                  </a:ext>
                </a:extLst>
              </a:tr>
            </a:tbl>
          </a:graphicData>
        </a:graphic>
      </p:graphicFrame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0F6B8AF-940C-3E8B-5F13-08B0A494113C}"/>
              </a:ext>
            </a:extLst>
          </p:cNvPr>
          <p:cNvSpPr/>
          <p:nvPr/>
        </p:nvSpPr>
        <p:spPr>
          <a:xfrm>
            <a:off x="350681" y="2103472"/>
            <a:ext cx="5843642" cy="3218196"/>
          </a:xfrm>
          <a:prstGeom prst="roundRect">
            <a:avLst>
              <a:gd name="adj" fmla="val 3712"/>
            </a:avLst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6808C-D341-923D-3087-68263362C415}"/>
              </a:ext>
            </a:extLst>
          </p:cNvPr>
          <p:cNvSpPr txBox="1"/>
          <p:nvPr/>
        </p:nvSpPr>
        <p:spPr>
          <a:xfrm>
            <a:off x="532170" y="1312557"/>
            <a:ext cx="5230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sz="2400" dirty="0"/>
              <a:t>Структура запроса:</a:t>
            </a:r>
            <a:endParaRPr lang="en-US" sz="2400" dirty="0"/>
          </a:p>
        </p:txBody>
      </p:sp>
      <p:pic>
        <p:nvPicPr>
          <p:cNvPr id="22" name="Рисунок 21" descr="Восклицательный знак со сплошной заливкой">
            <a:extLst>
              <a:ext uri="{FF2B5EF4-FFF2-40B4-BE49-F238E27FC236}">
                <a16:creationId xmlns:a16="http://schemas.microsoft.com/office/drawing/2014/main" id="{860AFCCF-A648-E8F4-AD9C-1A2914EF4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244" y="1264858"/>
            <a:ext cx="579878" cy="57987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DB1CD3-D20D-1D6E-B2FD-C3CD7004EE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547" y="2076838"/>
            <a:ext cx="5370623" cy="1597871"/>
          </a:xfrm>
          <a:prstGeom prst="roundRect">
            <a:avLst>
              <a:gd name="adj" fmla="val 5555"/>
            </a:avLst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8B8DA5-BDC4-6350-6E33-F939B330C0FC}"/>
              </a:ext>
            </a:extLst>
          </p:cNvPr>
          <p:cNvSpPr txBox="1"/>
          <p:nvPr/>
        </p:nvSpPr>
        <p:spPr>
          <a:xfrm>
            <a:off x="6552547" y="1312557"/>
            <a:ext cx="5230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sz="2400" dirty="0"/>
              <a:t>Пример запроса: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61CB8-1BC7-4399-907D-32BD585E30B2}"/>
              </a:ext>
            </a:extLst>
          </p:cNvPr>
          <p:cNvSpPr txBox="1"/>
          <p:nvPr/>
        </p:nvSpPr>
        <p:spPr>
          <a:xfrm>
            <a:off x="6552546" y="4453449"/>
            <a:ext cx="5370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0"/>
            </a:lvl1pPr>
          </a:lstStyle>
          <a:p>
            <a:r>
              <a:rPr lang="ru-RU" dirty="0"/>
              <a:t>Выбери станцию и количество. Из нарушений. Сгруппируй по станции. Отсортируй по количеству. Оставь 10.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A6875-970C-4881-85A5-516B0F6A16C8}"/>
              </a:ext>
            </a:extLst>
          </p:cNvPr>
          <p:cNvSpPr txBox="1"/>
          <p:nvPr/>
        </p:nvSpPr>
        <p:spPr>
          <a:xfrm>
            <a:off x="6552547" y="3852943"/>
            <a:ext cx="5230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sz="2400" dirty="0"/>
              <a:t>Запрос читается как: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960F7-A0B6-43EA-ACFB-6A5D333C5D30}"/>
              </a:ext>
            </a:extLst>
          </p:cNvPr>
          <p:cNvSpPr txBox="1"/>
          <p:nvPr/>
        </p:nvSpPr>
        <p:spPr>
          <a:xfrm>
            <a:off x="414183" y="5611661"/>
            <a:ext cx="6821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⚠️  Порядок написания ≠ порядок выполнения</a:t>
            </a:r>
          </a:p>
          <a:p>
            <a:r>
              <a:rPr lang="ru-RU" b="1" dirty="0"/>
              <a:t>FROM → WHERE → GROUP BY → SELECT → ORDER BY → LIMIT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9946D8CE-7EB3-45A8-9103-6DFF56EEA300}"/>
              </a:ext>
            </a:extLst>
          </p:cNvPr>
          <p:cNvCxnSpPr/>
          <p:nvPr/>
        </p:nvCxnSpPr>
        <p:spPr>
          <a:xfrm>
            <a:off x="389819" y="5655713"/>
            <a:ext cx="0" cy="53871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48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BFA6-54E9-B297-A1C5-3D3B418D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B1935-4857-4C30-19B7-42F4DF79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en-US" b="1" dirty="0"/>
              <a:t>WHERE: </a:t>
            </a:r>
            <a:r>
              <a:rPr lang="ru-RU" b="1" dirty="0"/>
              <a:t>фильтрация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2D269EC1-6B82-F4B7-B39F-FBEEC4F38C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09F112-F6F7-CF02-1749-5A6CE83BFB88}"/>
              </a:ext>
            </a:extLst>
          </p:cNvPr>
          <p:cNvSpPr txBox="1"/>
          <p:nvPr/>
        </p:nvSpPr>
        <p:spPr>
          <a:xfrm>
            <a:off x="235974" y="1390182"/>
            <a:ext cx="7207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WHERE – как сито: пропускает только подходящие строки</a:t>
            </a: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1DF7257-5632-281E-ED78-D92953F19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91017"/>
              </p:ext>
            </p:extLst>
          </p:nvPr>
        </p:nvGraphicFramePr>
        <p:xfrm>
          <a:off x="350684" y="1842043"/>
          <a:ext cx="7092335" cy="4429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316">
                  <a:extLst>
                    <a:ext uri="{9D8B030D-6E8A-4147-A177-3AD203B41FA5}">
                      <a16:colId xmlns:a16="http://schemas.microsoft.com/office/drawing/2014/main" val="2046678500"/>
                    </a:ext>
                  </a:extLst>
                </a:gridCol>
                <a:gridCol w="2074606">
                  <a:extLst>
                    <a:ext uri="{9D8B030D-6E8A-4147-A177-3AD203B41FA5}">
                      <a16:colId xmlns:a16="http://schemas.microsoft.com/office/drawing/2014/main" val="3043563952"/>
                    </a:ext>
                  </a:extLst>
                </a:gridCol>
                <a:gridCol w="3844413">
                  <a:extLst>
                    <a:ext uri="{9D8B030D-6E8A-4147-A177-3AD203B41FA5}">
                      <a16:colId xmlns:a16="http://schemas.microsoft.com/office/drawing/2014/main" val="2570265812"/>
                    </a:ext>
                  </a:extLst>
                </a:gridCol>
              </a:tblGrid>
              <a:tr h="39992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Оператор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Значение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Пример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995916"/>
                  </a:ext>
                </a:extLst>
              </a:tr>
              <a:tr h="39992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=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равно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Статус = 'УСТРАНЕН'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212653"/>
                  </a:ext>
                </a:extLst>
              </a:tr>
              <a:tr h="39992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&lt;&gt;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не равно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Статус &lt;&gt; 'УСТРАНЕН'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736127"/>
                  </a:ext>
                </a:extLst>
              </a:tr>
              <a:tr h="39992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&gt; &lt;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больше / меньше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"Крайний срок" &gt; '2019-04-10'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176100"/>
                  </a:ext>
                </a:extLst>
              </a:tr>
              <a:tr h="54767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&gt;= &lt;=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больше/меньше или равно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+mn-lt"/>
                        </a:rPr>
                        <a:t>attempt &gt;= 2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0758"/>
                  </a:ext>
                </a:extLst>
              </a:tr>
              <a:tr h="5983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+mn-lt"/>
                        </a:rPr>
                        <a:t>BETWEEN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в диапазоне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"Дата осмотра" </a:t>
                      </a:r>
                      <a:r>
                        <a:rPr lang="en-US" sz="1600" b="0" dirty="0">
                          <a:effectLst/>
                          <a:latin typeface="+mn-lt"/>
                        </a:rPr>
                        <a:t>BETWEEN '2019-04-01' AND '2019-04-30'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889847"/>
                  </a:ext>
                </a:extLst>
              </a:tr>
              <a:tr h="5983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+mn-lt"/>
                        </a:rPr>
                        <a:t>IN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одно из списка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Статус </a:t>
                      </a:r>
                      <a:r>
                        <a:rPr lang="en-US" sz="1600" b="0" dirty="0">
                          <a:effectLst/>
                          <a:latin typeface="+mn-lt"/>
                        </a:rPr>
                        <a:t>IN ('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ЗАКРЫТО','УСТРАНЕН')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193796"/>
                  </a:ext>
                </a:extLst>
              </a:tr>
              <a:tr h="59838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+mn-lt"/>
                        </a:rPr>
                        <a:t>LIKE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+mn-lt"/>
                        </a:rPr>
                        <a:t>по шаблону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"Осмотр проводил" LIKE 'Сотрудник_1%'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569195"/>
                  </a:ext>
                </a:extLst>
              </a:tr>
              <a:tr h="39992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+mn-lt"/>
                        </a:rPr>
                        <a:t>IS NULL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пустое значение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</a:rPr>
                        <a:t>Причина </a:t>
                      </a:r>
                      <a:r>
                        <a:rPr lang="en-US" sz="1600" b="0" dirty="0">
                          <a:effectLst/>
                          <a:latin typeface="+mn-lt"/>
                        </a:rPr>
                        <a:t>IS NULL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418723"/>
                  </a:ext>
                </a:extLst>
              </a:tr>
            </a:tbl>
          </a:graphicData>
        </a:graphic>
      </p:graphicFrame>
      <p:pic>
        <p:nvPicPr>
          <p:cNvPr id="10" name="Рисунок 9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ACEF60-9756-D0EA-21B3-BCAA9E3ED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14"/>
          <a:stretch>
            <a:fillRect/>
          </a:stretch>
        </p:blipFill>
        <p:spPr>
          <a:xfrm>
            <a:off x="7639664" y="2772281"/>
            <a:ext cx="4286865" cy="2552921"/>
          </a:xfrm>
          <a:prstGeom prst="roundRect">
            <a:avLst>
              <a:gd name="adj" fmla="val 5555"/>
            </a:avLst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C2A0DC-DC15-A37D-AD2E-94EEE885938A}"/>
              </a:ext>
            </a:extLst>
          </p:cNvPr>
          <p:cNvSpPr txBox="1"/>
          <p:nvPr/>
        </p:nvSpPr>
        <p:spPr>
          <a:xfrm>
            <a:off x="7639664" y="2314670"/>
            <a:ext cx="3849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 запросов: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42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7D52-FA13-2885-4FB9-90EF7925D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1E35B-AE75-DF1E-3DE6-E9B5A210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ru-RU" b="1" dirty="0"/>
              <a:t>Частые ошибки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CFEA4BF8-C9BA-02AD-2C28-FAAA04A83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2E5022AF-0B97-1847-8CD7-97C2D017C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0EA6A4-A76A-5172-C693-D362598C8652}"/>
              </a:ext>
            </a:extLst>
          </p:cNvPr>
          <p:cNvSpPr/>
          <p:nvPr/>
        </p:nvSpPr>
        <p:spPr>
          <a:xfrm>
            <a:off x="540774" y="1848465"/>
            <a:ext cx="4817807" cy="81607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D482F04-43B3-2548-B088-3561B69A2621}"/>
              </a:ext>
            </a:extLst>
          </p:cNvPr>
          <p:cNvSpPr/>
          <p:nvPr/>
        </p:nvSpPr>
        <p:spPr>
          <a:xfrm>
            <a:off x="6096000" y="1848464"/>
            <a:ext cx="4817807" cy="81607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25371D1-2D81-5240-FEB1-1CC86E6FAD9B}"/>
              </a:ext>
            </a:extLst>
          </p:cNvPr>
          <p:cNvSpPr/>
          <p:nvPr/>
        </p:nvSpPr>
        <p:spPr>
          <a:xfrm>
            <a:off x="540774" y="3944067"/>
            <a:ext cx="4817807" cy="81607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616B357-3C69-3A8A-3FBC-B6498A7C0E41}"/>
              </a:ext>
            </a:extLst>
          </p:cNvPr>
          <p:cNvSpPr/>
          <p:nvPr/>
        </p:nvSpPr>
        <p:spPr>
          <a:xfrm>
            <a:off x="6096000" y="3944066"/>
            <a:ext cx="4817807" cy="81607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C173E-D32B-F7E6-DCEE-A5C260A27DBA}"/>
              </a:ext>
            </a:extLst>
          </p:cNvPr>
          <p:cNvSpPr txBox="1"/>
          <p:nvPr/>
        </p:nvSpPr>
        <p:spPr>
          <a:xfrm>
            <a:off x="1388806" y="2056447"/>
            <a:ext cx="34683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WHERE </a:t>
            </a:r>
            <a:r>
              <a:rPr lang="ru-RU" sz="2000" b="1" dirty="0"/>
              <a:t>Статус = УСТРАНЕН</a:t>
            </a:r>
          </a:p>
        </p:txBody>
      </p:sp>
      <p:pic>
        <p:nvPicPr>
          <p:cNvPr id="15" name="Рисунок 14" descr="Закрыть со сплошной заливкой">
            <a:extLst>
              <a:ext uri="{FF2B5EF4-FFF2-40B4-BE49-F238E27FC236}">
                <a16:creationId xmlns:a16="http://schemas.microsoft.com/office/drawing/2014/main" id="{47EA908B-7279-7A49-F3A4-DD193DBA2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848" y="1929481"/>
            <a:ext cx="631345" cy="631345"/>
          </a:xfrm>
          <a:prstGeom prst="rect">
            <a:avLst/>
          </a:prstGeom>
        </p:spPr>
      </p:pic>
      <p:pic>
        <p:nvPicPr>
          <p:cNvPr id="17" name="Рисунок 16" descr="Закрыть со сплошной заливкой">
            <a:extLst>
              <a:ext uri="{FF2B5EF4-FFF2-40B4-BE49-F238E27FC236}">
                <a16:creationId xmlns:a16="http://schemas.microsoft.com/office/drawing/2014/main" id="{172624DF-80B8-2FC1-9F5F-F026BFFA1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847" y="4036431"/>
            <a:ext cx="631345" cy="631345"/>
          </a:xfrm>
          <a:prstGeom prst="rect">
            <a:avLst/>
          </a:prstGeom>
        </p:spPr>
      </p:pic>
      <p:pic>
        <p:nvPicPr>
          <p:cNvPr id="20" name="Рисунок 19" descr="Флажок со сплошной заливкой">
            <a:extLst>
              <a:ext uri="{FF2B5EF4-FFF2-40B4-BE49-F238E27FC236}">
                <a16:creationId xmlns:a16="http://schemas.microsoft.com/office/drawing/2014/main" id="{FE27FC06-5963-2C40-153F-F9C530049B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4879" y="1929480"/>
            <a:ext cx="631345" cy="631345"/>
          </a:xfrm>
          <a:prstGeom prst="rect">
            <a:avLst/>
          </a:prstGeom>
        </p:spPr>
      </p:pic>
      <p:pic>
        <p:nvPicPr>
          <p:cNvPr id="21" name="Рисунок 20" descr="Флажок со сплошной заливкой">
            <a:extLst>
              <a:ext uri="{FF2B5EF4-FFF2-40B4-BE49-F238E27FC236}">
                <a16:creationId xmlns:a16="http://schemas.microsoft.com/office/drawing/2014/main" id="{2E8CE971-5EF7-3539-876A-44891A46D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4879" y="4036431"/>
            <a:ext cx="631345" cy="6313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C97FAC8-F2C6-2A13-4D33-BE1BFB817ADF}"/>
              </a:ext>
            </a:extLst>
          </p:cNvPr>
          <p:cNvSpPr txBox="1"/>
          <p:nvPr/>
        </p:nvSpPr>
        <p:spPr>
          <a:xfrm>
            <a:off x="7013708" y="2056447"/>
            <a:ext cx="36207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WHERE </a:t>
            </a:r>
            <a:r>
              <a:rPr lang="ru-RU" sz="2000" b="1" dirty="0"/>
              <a:t>Статус = 'УСТРАНЕН'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AEACDE-052E-B8B4-5F3A-172A99EC32E2}"/>
              </a:ext>
            </a:extLst>
          </p:cNvPr>
          <p:cNvSpPr txBox="1"/>
          <p:nvPr/>
        </p:nvSpPr>
        <p:spPr>
          <a:xfrm>
            <a:off x="1384265" y="4036431"/>
            <a:ext cx="4156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SELECT </a:t>
            </a:r>
            <a:r>
              <a:rPr lang="ru-RU" b="1" dirty="0"/>
              <a:t>Станция, перегон </a:t>
            </a:r>
            <a:r>
              <a:rPr lang="en-US" b="1" dirty="0"/>
              <a:t>FROM inspections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30666A-2E64-F242-07D1-5DACD9E813F3}"/>
              </a:ext>
            </a:extLst>
          </p:cNvPr>
          <p:cNvSpPr txBox="1"/>
          <p:nvPr/>
        </p:nvSpPr>
        <p:spPr>
          <a:xfrm>
            <a:off x="7013708" y="4028937"/>
            <a:ext cx="4047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SELECT "</a:t>
            </a:r>
            <a:r>
              <a:rPr lang="ru-RU" b="1" dirty="0"/>
              <a:t>Станция, перегон" </a:t>
            </a:r>
            <a:r>
              <a:rPr lang="en-US" b="1" dirty="0"/>
              <a:t>FROM inspections</a:t>
            </a:r>
            <a:endParaRPr lang="ru-RU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8FE74-CC35-7381-71EF-36B91C77F4EC}"/>
              </a:ext>
            </a:extLst>
          </p:cNvPr>
          <p:cNvSpPr txBox="1"/>
          <p:nvPr/>
        </p:nvSpPr>
        <p:spPr>
          <a:xfrm>
            <a:off x="2712473" y="2872523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База подумает, что УСТРАНЕН – это имя колонки. Одинарные кавычки – это текст.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BC5782-8B6B-B77B-4546-D0ADE284D020}"/>
              </a:ext>
            </a:extLst>
          </p:cNvPr>
          <p:cNvSpPr txBox="1"/>
          <p:nvPr/>
        </p:nvSpPr>
        <p:spPr>
          <a:xfrm>
            <a:off x="2712474" y="5107412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База подумает, что это две колонки. </a:t>
            </a:r>
          </a:p>
          <a:p>
            <a:pPr algn="ctr"/>
            <a:r>
              <a:rPr lang="ru-RU" dirty="0"/>
              <a:t>Двойные кавычки – для имён колонок с пробелами.</a:t>
            </a:r>
          </a:p>
        </p:txBody>
      </p:sp>
    </p:spTree>
    <p:extLst>
      <p:ext uri="{BB962C8B-B14F-4D97-AF65-F5344CB8AC3E}">
        <p14:creationId xmlns:p14="http://schemas.microsoft.com/office/powerpoint/2010/main" val="89935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  <p:bldP spid="35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956B-C335-2D38-72EF-0F1B2A78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3B88A-C07F-FB3D-259C-257A54C7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ru-RU" b="1" dirty="0"/>
              <a:t>GROUP BY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0AB5DE26-2A15-1360-825C-D0E26C252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3A691B28-5FB6-985A-A616-78CEE58230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B5E35E-32BD-4AF1-A4DD-B856736BF135}"/>
              </a:ext>
            </a:extLst>
          </p:cNvPr>
          <p:cNvSpPr txBox="1"/>
          <p:nvPr/>
        </p:nvSpPr>
        <p:spPr>
          <a:xfrm>
            <a:off x="235973" y="1455648"/>
            <a:ext cx="11464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– это оператор, который «</a:t>
            </a:r>
            <a:r>
              <a:rPr lang="ru-RU" dirty="0" err="1"/>
              <a:t>схлопывает</a:t>
            </a:r>
            <a:r>
              <a:rPr lang="ru-RU" dirty="0"/>
              <a:t>» строки в группы по одинаковому значению в колонке.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DFAFE8-A4DD-4017-8166-6C5FD4E7D483}"/>
              </a:ext>
            </a:extLst>
          </p:cNvPr>
          <p:cNvSpPr txBox="1"/>
          <p:nvPr/>
        </p:nvSpPr>
        <p:spPr>
          <a:xfrm>
            <a:off x="235974" y="1778966"/>
            <a:ext cx="949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Обычно используется вместе с агрегатными функциями: </a:t>
            </a:r>
            <a:r>
              <a:rPr lang="ru-RU" dirty="0">
                <a:highlight>
                  <a:srgbClr val="C0C0C0"/>
                </a:highlight>
              </a:rPr>
              <a:t>COUNT</a:t>
            </a:r>
            <a:r>
              <a:rPr lang="ru-RU" dirty="0"/>
              <a:t>, </a:t>
            </a:r>
            <a:r>
              <a:rPr lang="ru-RU" dirty="0">
                <a:highlight>
                  <a:srgbClr val="C0C0C0"/>
                </a:highlight>
              </a:rPr>
              <a:t>SUM</a:t>
            </a:r>
            <a:r>
              <a:rPr lang="ru-RU" dirty="0"/>
              <a:t>, </a:t>
            </a:r>
            <a:r>
              <a:rPr lang="ru-RU" dirty="0">
                <a:highlight>
                  <a:srgbClr val="C0C0C0"/>
                </a:highlight>
              </a:rPr>
              <a:t>AVG</a:t>
            </a:r>
            <a:r>
              <a:rPr lang="ru-RU" dirty="0"/>
              <a:t>, </a:t>
            </a:r>
            <a:r>
              <a:rPr lang="ru-RU" dirty="0">
                <a:highlight>
                  <a:srgbClr val="C0C0C0"/>
                </a:highlight>
              </a:rPr>
              <a:t>MIN</a:t>
            </a:r>
            <a:r>
              <a:rPr lang="ru-RU" dirty="0"/>
              <a:t>, </a:t>
            </a:r>
            <a:r>
              <a:rPr lang="ru-RU" dirty="0">
                <a:highlight>
                  <a:srgbClr val="C0C0C0"/>
                </a:highlight>
              </a:rPr>
              <a:t>MAX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41E2C7-1E82-4161-9A17-D243DB30977A}"/>
              </a:ext>
            </a:extLst>
          </p:cNvPr>
          <p:cNvSpPr txBox="1"/>
          <p:nvPr/>
        </p:nvSpPr>
        <p:spPr>
          <a:xfrm>
            <a:off x="235974" y="2319831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Например, сгруппируем нарушения по станции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C2A6868-08BE-4CF0-96FD-C34737F51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79" y="2859653"/>
            <a:ext cx="4999451" cy="2505075"/>
          </a:xfrm>
          <a:prstGeom prst="rect">
            <a:avLst/>
          </a:prstGeom>
        </p:spPr>
      </p:pic>
      <p:sp>
        <p:nvSpPr>
          <p:cNvPr id="31" name="Стрелка: вправо 30">
            <a:extLst>
              <a:ext uri="{FF2B5EF4-FFF2-40B4-BE49-F238E27FC236}">
                <a16:creationId xmlns:a16="http://schemas.microsoft.com/office/drawing/2014/main" id="{6BCE0BEC-20F5-4507-AB4B-608D233799F3}"/>
              </a:ext>
            </a:extLst>
          </p:cNvPr>
          <p:cNvSpPr/>
          <p:nvPr/>
        </p:nvSpPr>
        <p:spPr>
          <a:xfrm>
            <a:off x="5982895" y="3932417"/>
            <a:ext cx="2308194" cy="23847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3216D32-1FA0-4870-BF38-13483B7FB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053" y="2859652"/>
            <a:ext cx="2799098" cy="250507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5E12A8A-0538-4415-824D-C2F1F4BC4B8D}"/>
              </a:ext>
            </a:extLst>
          </p:cNvPr>
          <p:cNvSpPr txBox="1"/>
          <p:nvPr/>
        </p:nvSpPr>
        <p:spPr>
          <a:xfrm>
            <a:off x="6555122" y="3572973"/>
            <a:ext cx="1163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GROUP BY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12A3F5-B68C-47AD-A79E-D667296E6490}"/>
              </a:ext>
            </a:extLst>
          </p:cNvPr>
          <p:cNvSpPr txBox="1"/>
          <p:nvPr/>
        </p:nvSpPr>
        <p:spPr>
          <a:xfrm>
            <a:off x="417250" y="5559755"/>
            <a:ext cx="7812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GROUP BY «</a:t>
            </a:r>
            <a:r>
              <a:rPr lang="ru-RU" dirty="0" err="1"/>
              <a:t>схлопывает</a:t>
            </a:r>
            <a:r>
              <a:rPr lang="ru-RU" dirty="0"/>
              <a:t>» все строки с одинаковой станцией в одну –</a:t>
            </a:r>
          </a:p>
          <a:p>
            <a:r>
              <a:rPr lang="ru-RU" dirty="0"/>
              <a:t>а COUNT(*) считает, сколько строк было в каждой группе.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3E4A6FFF-69A8-42BE-A2A8-BFB656A69B5B}"/>
              </a:ext>
            </a:extLst>
          </p:cNvPr>
          <p:cNvCxnSpPr/>
          <p:nvPr/>
        </p:nvCxnSpPr>
        <p:spPr>
          <a:xfrm>
            <a:off x="344891" y="5605224"/>
            <a:ext cx="0" cy="53871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25093780-409D-4364-87C9-D7A68F960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747" y="4278646"/>
            <a:ext cx="2422490" cy="740243"/>
          </a:xfrm>
          <a:prstGeom prst="rect">
            <a:avLst/>
          </a:prstGeom>
        </p:spPr>
      </p:pic>
      <p:sp>
        <p:nvSpPr>
          <p:cNvPr id="41" name="Левая фигурная скобка 40">
            <a:extLst>
              <a:ext uri="{FF2B5EF4-FFF2-40B4-BE49-F238E27FC236}">
                <a16:creationId xmlns:a16="http://schemas.microsoft.com/office/drawing/2014/main" id="{9897788F-86EE-403A-8CAB-960B34EC03E6}"/>
              </a:ext>
            </a:extLst>
          </p:cNvPr>
          <p:cNvSpPr/>
          <p:nvPr/>
        </p:nvSpPr>
        <p:spPr>
          <a:xfrm>
            <a:off x="491232" y="2859652"/>
            <a:ext cx="221941" cy="250507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BCBEAB-91CF-4FF0-B12C-5E1B9D35CAA4}"/>
              </a:ext>
            </a:extLst>
          </p:cNvPr>
          <p:cNvSpPr txBox="1"/>
          <p:nvPr/>
        </p:nvSpPr>
        <p:spPr>
          <a:xfrm rot="16200000">
            <a:off x="-545078" y="3895995"/>
            <a:ext cx="152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12 121 </a:t>
            </a:r>
            <a:r>
              <a:rPr lang="ru-RU" dirty="0">
                <a:solidFill>
                  <a:srgbClr val="FF0000"/>
                </a:solidFill>
              </a:rPr>
              <a:t>строка</a:t>
            </a:r>
            <a:endParaRPr lang="ru-RU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43" name="Левая фигурная скобка 42">
            <a:extLst>
              <a:ext uri="{FF2B5EF4-FFF2-40B4-BE49-F238E27FC236}">
                <a16:creationId xmlns:a16="http://schemas.microsoft.com/office/drawing/2014/main" id="{971AA731-B0EE-4234-996F-3ACB1E9FF025}"/>
              </a:ext>
            </a:extLst>
          </p:cNvPr>
          <p:cNvSpPr/>
          <p:nvPr/>
        </p:nvSpPr>
        <p:spPr>
          <a:xfrm flipH="1">
            <a:off x="11419144" y="2859652"/>
            <a:ext cx="221941" cy="2505074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D35FB6-C026-4BAB-878C-4F959A7E5F6E}"/>
              </a:ext>
            </a:extLst>
          </p:cNvPr>
          <p:cNvSpPr txBox="1"/>
          <p:nvPr/>
        </p:nvSpPr>
        <p:spPr>
          <a:xfrm rot="5400000" flipH="1">
            <a:off x="11125271" y="3924803"/>
            <a:ext cx="152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112 групп</a:t>
            </a:r>
            <a:endParaRPr lang="ru-RU" dirty="0">
              <a:solidFill>
                <a:srgbClr val="00B05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059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956B-C335-2D38-72EF-0F1B2A78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3B88A-C07F-FB3D-259C-257A54C7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ORDER BY + LIMIT</a:t>
            </a:r>
            <a:endParaRPr lang="ru-RU" b="1" dirty="0"/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0AB5DE26-2A15-1360-825C-D0E26C252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3A691B28-5FB6-985A-A616-78CEE58230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B5E35E-32BD-4AF1-A4DD-B856736BF135}"/>
              </a:ext>
            </a:extLst>
          </p:cNvPr>
          <p:cNvSpPr txBox="1"/>
          <p:nvPr/>
        </p:nvSpPr>
        <p:spPr>
          <a:xfrm>
            <a:off x="235973" y="1455648"/>
            <a:ext cx="11464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ORDER BY – сортирует строки по колонке.</a:t>
            </a:r>
          </a:p>
          <a:p>
            <a:r>
              <a:rPr lang="ru-RU" dirty="0"/>
              <a:t>LIMIT – оставляет только N строк.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41E2C7-1E82-4161-9A17-D243DB30977A}"/>
              </a:ext>
            </a:extLst>
          </p:cNvPr>
          <p:cNvSpPr txBox="1"/>
          <p:nvPr/>
        </p:nvSpPr>
        <p:spPr>
          <a:xfrm>
            <a:off x="235974" y="2116654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Например, топ-5 станций по числу нарушений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E907415-19D8-48AA-B482-E5A7F899A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89" y="2547752"/>
            <a:ext cx="3189648" cy="2854600"/>
          </a:xfrm>
          <a:prstGeom prst="rect">
            <a:avLst/>
          </a:prstGeom>
        </p:spPr>
      </p:pic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64C277CE-9933-4832-8B0D-6C5D3797C3AF}"/>
              </a:ext>
            </a:extLst>
          </p:cNvPr>
          <p:cNvSpPr/>
          <p:nvPr/>
        </p:nvSpPr>
        <p:spPr>
          <a:xfrm>
            <a:off x="4373541" y="3371217"/>
            <a:ext cx="2308194" cy="23847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EA1825-A1F9-4F8E-AD61-E163EE6F81C3}"/>
              </a:ext>
            </a:extLst>
          </p:cNvPr>
          <p:cNvSpPr txBox="1"/>
          <p:nvPr/>
        </p:nvSpPr>
        <p:spPr>
          <a:xfrm>
            <a:off x="4527151" y="2982613"/>
            <a:ext cx="2000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ORDER BY + LIMIT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A7CF02B-4A06-47E0-994F-06A04C0F18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489"/>
          <a:stretch/>
        </p:blipFill>
        <p:spPr>
          <a:xfrm>
            <a:off x="4038595" y="3766085"/>
            <a:ext cx="2978086" cy="91452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E6333F4-840A-4DB4-9EDB-9C684C8F0CB5}"/>
              </a:ext>
            </a:extLst>
          </p:cNvPr>
          <p:cNvSpPr txBox="1"/>
          <p:nvPr/>
        </p:nvSpPr>
        <p:spPr>
          <a:xfrm>
            <a:off x="417250" y="5559755"/>
            <a:ext cx="7812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12 112 → 5. Мы не потеряли данные –</a:t>
            </a:r>
          </a:p>
          <a:p>
            <a:r>
              <a:rPr lang="ru-RU" dirty="0"/>
              <a:t>мы получили ответ на конкретный вопрос.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DD5836A-F034-429E-B307-D4130049EEEF}"/>
              </a:ext>
            </a:extLst>
          </p:cNvPr>
          <p:cNvCxnSpPr/>
          <p:nvPr/>
        </p:nvCxnSpPr>
        <p:spPr>
          <a:xfrm>
            <a:off x="344891" y="5605224"/>
            <a:ext cx="0" cy="53871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57FA4F4-E970-4BE1-BEBF-4D35E3DD01DB}"/>
              </a:ext>
            </a:extLst>
          </p:cNvPr>
          <p:cNvSpPr/>
          <p:nvPr/>
        </p:nvSpPr>
        <p:spPr>
          <a:xfrm>
            <a:off x="4038595" y="4323425"/>
            <a:ext cx="2978086" cy="339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35EA632-2A1E-4E55-8704-DD68DC68A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740" y="2972281"/>
            <a:ext cx="4202028" cy="200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5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27BC-421D-D4BF-495F-1CF50244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B2AD0-97E3-428A-99FB-FAC67FC0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en-US" b="1" dirty="0"/>
              <a:t>SQLite: </a:t>
            </a:r>
            <a:r>
              <a:rPr lang="ru-RU" b="1" dirty="0"/>
              <a:t>база без сервера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BFA7EEEF-C4FE-9489-E526-0E4EB46A6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9700B4-B2A0-B6B1-CB91-5A97EFDFBE7D}"/>
              </a:ext>
            </a:extLst>
          </p:cNvPr>
          <p:cNvSpPr txBox="1"/>
          <p:nvPr/>
        </p:nvSpPr>
        <p:spPr>
          <a:xfrm>
            <a:off x="235974" y="1404882"/>
            <a:ext cx="9714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База </a:t>
            </a:r>
            <a:r>
              <a:rPr lang="ru-RU" dirty="0" err="1"/>
              <a:t>SQLite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это просто файл. Скопировал </a:t>
            </a:r>
            <a:r>
              <a:rPr lang="en-US" dirty="0"/>
              <a:t>–</a:t>
            </a:r>
            <a:r>
              <a:rPr lang="ru-RU" dirty="0"/>
              <a:t> перенёс. Удалил </a:t>
            </a:r>
            <a:r>
              <a:rPr lang="en-US" dirty="0"/>
              <a:t>–</a:t>
            </a:r>
            <a:r>
              <a:rPr lang="ru-RU" dirty="0"/>
              <a:t> база исчезла.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8397A2-8314-5222-C4CE-DD5F1D174558}"/>
              </a:ext>
            </a:extLst>
          </p:cNvPr>
          <p:cNvSpPr txBox="1"/>
          <p:nvPr/>
        </p:nvSpPr>
        <p:spPr>
          <a:xfrm>
            <a:off x="235974" y="180875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Почему </a:t>
            </a:r>
            <a:r>
              <a:rPr lang="ru-RU" b="1" dirty="0" err="1"/>
              <a:t>SQLite</a:t>
            </a:r>
            <a:r>
              <a:rPr lang="ru-RU" b="1" dirty="0"/>
              <a:t> – идеален для обучения?</a:t>
            </a:r>
          </a:p>
        </p:txBody>
      </p:sp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7C288932-A10C-D5B3-70F0-A56424470D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1477164"/>
              </p:ext>
            </p:extLst>
          </p:nvPr>
        </p:nvGraphicFramePr>
        <p:xfrm>
          <a:off x="235974" y="1774214"/>
          <a:ext cx="11053915" cy="2780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A4FEF1D-4912-83D8-53FD-918EC9621CAF}"/>
              </a:ext>
            </a:extLst>
          </p:cNvPr>
          <p:cNvSpPr txBox="1"/>
          <p:nvPr/>
        </p:nvSpPr>
        <p:spPr>
          <a:xfrm>
            <a:off x="235974" y="411612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Подключение в </a:t>
            </a:r>
            <a:r>
              <a:rPr lang="en-US" b="1" dirty="0"/>
              <a:t>Python – </a:t>
            </a:r>
            <a:r>
              <a:rPr lang="ru-RU" b="1" dirty="0"/>
              <a:t>код</a:t>
            </a:r>
          </a:p>
        </p:txBody>
      </p:sp>
      <p:pic>
        <p:nvPicPr>
          <p:cNvPr id="26" name="Рисунок 2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85AC94-4157-B540-2D05-6BE47F0766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4589369"/>
            <a:ext cx="10163887" cy="181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46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EB49-E40D-74DB-7E86-63967670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2FDDC-F2AC-34D0-71D7-F74B08D7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en-US" b="1" dirty="0"/>
              <a:t>SQLite: </a:t>
            </a:r>
            <a:r>
              <a:rPr lang="ru-RU" b="1" dirty="0"/>
              <a:t>база без сервера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09351BBE-CE5B-2D5A-1963-4F94ECE3B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078943CC-A604-1F09-BC2B-3C148057A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3F30C-E330-3C31-C932-2040251B141F}"/>
              </a:ext>
            </a:extLst>
          </p:cNvPr>
          <p:cNvSpPr txBox="1"/>
          <p:nvPr/>
        </p:nvSpPr>
        <p:spPr>
          <a:xfrm>
            <a:off x="235975" y="2055813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Задача: Сколько всего нарушений в данных?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167F6-C360-B357-5ACB-599E405E6C66}"/>
              </a:ext>
            </a:extLst>
          </p:cNvPr>
          <p:cNvSpPr txBox="1"/>
          <p:nvPr/>
        </p:nvSpPr>
        <p:spPr>
          <a:xfrm>
            <a:off x="235975" y="2522078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🟦 Что мы хотим?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A4F5F-F90E-D29E-C2FC-60AAB7E77B69}"/>
              </a:ext>
            </a:extLst>
          </p:cNvPr>
          <p:cNvSpPr txBox="1"/>
          <p:nvPr/>
        </p:nvSpPr>
        <p:spPr>
          <a:xfrm>
            <a:off x="235975" y="2988343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Посчитать </a:t>
            </a:r>
            <a:r>
              <a:rPr lang="ru-RU" b="1" dirty="0"/>
              <a:t>все строки</a:t>
            </a:r>
            <a:r>
              <a:rPr lang="ru-RU" dirty="0"/>
              <a:t> в таблице.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B364C-64EC-6AC3-50C9-033B55DCC2FD}"/>
              </a:ext>
            </a:extLst>
          </p:cNvPr>
          <p:cNvSpPr txBox="1"/>
          <p:nvPr/>
        </p:nvSpPr>
        <p:spPr>
          <a:xfrm>
            <a:off x="235974" y="3452612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🟩 Что для этого нужно?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A4F6A-6D2A-546A-D0CB-49E2F83CF8AA}"/>
              </a:ext>
            </a:extLst>
          </p:cNvPr>
          <p:cNvSpPr txBox="1"/>
          <p:nvPr/>
        </p:nvSpPr>
        <p:spPr>
          <a:xfrm>
            <a:off x="235974" y="3916881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/>
            </a:lvl1pPr>
          </a:lstStyle>
          <a:p>
            <a:r>
              <a:rPr lang="ru-RU" dirty="0"/>
              <a:t>Агрегатная функция </a:t>
            </a:r>
            <a:r>
              <a:rPr lang="ru-RU" dirty="0">
                <a:highlight>
                  <a:srgbClr val="C0C0C0"/>
                </a:highlight>
              </a:rPr>
              <a:t>COUNT(*)</a:t>
            </a:r>
            <a:r>
              <a:rPr lang="ru-RU" dirty="0"/>
              <a:t> – считает строки.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92869-854B-87A9-AD95-BDEA059F587B}"/>
              </a:ext>
            </a:extLst>
          </p:cNvPr>
          <p:cNvSpPr txBox="1"/>
          <p:nvPr/>
        </p:nvSpPr>
        <p:spPr>
          <a:xfrm>
            <a:off x="235974" y="4381150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🟨 Откуда берём?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6547D3-1DDE-956D-3EA1-BB037872CD90}"/>
              </a:ext>
            </a:extLst>
          </p:cNvPr>
          <p:cNvSpPr txBox="1"/>
          <p:nvPr/>
        </p:nvSpPr>
        <p:spPr>
          <a:xfrm>
            <a:off x="235974" y="4845419"/>
            <a:ext cx="586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 таблицы </a:t>
            </a:r>
            <a:r>
              <a:rPr lang="ru-RU" dirty="0" err="1"/>
              <a:t>inspections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1A3444-48BB-1210-E73B-F1F9C5EC24D6}"/>
              </a:ext>
            </a:extLst>
          </p:cNvPr>
          <p:cNvSpPr txBox="1"/>
          <p:nvPr/>
        </p:nvSpPr>
        <p:spPr>
          <a:xfrm>
            <a:off x="6096000" y="1323579"/>
            <a:ext cx="5971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Решение: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C99FD1-5F31-2468-EB6A-D8E042063184}"/>
              </a:ext>
            </a:extLst>
          </p:cNvPr>
          <p:cNvSpPr txBox="1"/>
          <p:nvPr/>
        </p:nvSpPr>
        <p:spPr>
          <a:xfrm>
            <a:off x="6096000" y="3186484"/>
            <a:ext cx="5971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Ответ: 12 112 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A8B4722D-EA08-E6F2-DD81-42FB73D0A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245" y="1662061"/>
            <a:ext cx="5196947" cy="1526167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5CD73B-7DC6-879A-BF28-0BE5023FEE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245" y="3971040"/>
            <a:ext cx="5200429" cy="225570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FD46CD-84A1-293D-5177-EF1CEDE1CAAB}"/>
              </a:ext>
            </a:extLst>
          </p:cNvPr>
          <p:cNvSpPr txBox="1"/>
          <p:nvPr/>
        </p:nvSpPr>
        <p:spPr>
          <a:xfrm>
            <a:off x="6096000" y="3592504"/>
            <a:ext cx="5971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Шаблон для следующих решений:</a:t>
            </a:r>
          </a:p>
        </p:txBody>
      </p:sp>
    </p:spTree>
    <p:extLst>
      <p:ext uri="{BB962C8B-B14F-4D97-AF65-F5344CB8AC3E}">
        <p14:creationId xmlns:p14="http://schemas.microsoft.com/office/powerpoint/2010/main" val="8827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27" grpId="0"/>
      <p:bldP spid="30" grpId="0"/>
      <p:bldP spid="31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973D-C95F-E260-2947-A9D989B4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66D6E-4CB6-5571-380F-E2A7F7A9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365125"/>
            <a:ext cx="11053915" cy="1325563"/>
          </a:xfrm>
        </p:spPr>
        <p:txBody>
          <a:bodyPr/>
          <a:lstStyle/>
          <a:p>
            <a:r>
              <a:rPr lang="ru-RU" b="1" dirty="0"/>
              <a:t>Практические задания</a:t>
            </a:r>
          </a:p>
        </p:txBody>
      </p:sp>
      <p:pic>
        <p:nvPicPr>
          <p:cNvPr id="16" name="Picture 2" descr="Picture background">
            <a:extLst>
              <a:ext uri="{FF2B5EF4-FFF2-40B4-BE49-F238E27FC236}">
                <a16:creationId xmlns:a16="http://schemas.microsoft.com/office/drawing/2014/main" id="{0780239E-D1A2-0273-1546-6EB322981D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0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CB850E6A-76AB-0C6A-DAFE-B4C13ABDA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4" t="70902" r="4638" b="9092"/>
          <a:stretch>
            <a:fillRect/>
          </a:stretch>
        </p:blipFill>
        <p:spPr bwMode="auto">
          <a:xfrm>
            <a:off x="0" y="6492875"/>
            <a:ext cx="12192000" cy="37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94829B-EE85-4EF0-AA01-38B3976EA156}"/>
              </a:ext>
            </a:extLst>
          </p:cNvPr>
          <p:cNvSpPr txBox="1"/>
          <p:nvPr/>
        </p:nvSpPr>
        <p:spPr>
          <a:xfrm>
            <a:off x="235974" y="1506022"/>
            <a:ext cx="156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🟢 Разминка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4DF48F-4B1F-40E4-AD00-C8C3E495294E}"/>
              </a:ext>
            </a:extLst>
          </p:cNvPr>
          <p:cNvSpPr txBox="1"/>
          <p:nvPr/>
        </p:nvSpPr>
        <p:spPr>
          <a:xfrm>
            <a:off x="235974" y="2039844"/>
            <a:ext cx="4467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Записи с непустой «Причиной»</a:t>
            </a:r>
          </a:p>
          <a:p>
            <a:r>
              <a:rPr lang="ru-RU" dirty="0"/>
              <a:t>2. «Крайний срок» после 15 апреля 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F5127-568A-4308-9BFA-C63630F223FA}"/>
              </a:ext>
            </a:extLst>
          </p:cNvPr>
          <p:cNvSpPr txBox="1"/>
          <p:nvPr/>
        </p:nvSpPr>
        <p:spPr>
          <a:xfrm>
            <a:off x="235974" y="3040040"/>
            <a:ext cx="5639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🟡 Средний уровень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9392C6-E76E-422A-8CE1-C0222710F395}"/>
              </a:ext>
            </a:extLst>
          </p:cNvPr>
          <p:cNvSpPr txBox="1"/>
          <p:nvPr/>
        </p:nvSpPr>
        <p:spPr>
          <a:xfrm>
            <a:off x="235974" y="3573863"/>
            <a:ext cx="61033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3. Топ-7 станций по числу нарушений со статусом «ЗАКРЫТО»</a:t>
            </a:r>
          </a:p>
          <a:p>
            <a:r>
              <a:rPr lang="ru-RU" dirty="0"/>
              <a:t>4. Топ-3 группы с пустой «Причиной»</a:t>
            </a:r>
          </a:p>
          <a:p>
            <a:r>
              <a:rPr lang="ru-RU" dirty="0"/>
              <a:t>5. Устранили раньше крайнего срока</a:t>
            </a:r>
          </a:p>
          <a:p>
            <a:r>
              <a:rPr lang="ru-RU" dirty="0"/>
              <a:t>6. Топ-5 сотрудников на «станция_0»</a:t>
            </a:r>
          </a:p>
          <a:p>
            <a:r>
              <a:rPr lang="ru-RU" dirty="0"/>
              <a:t>7. Нарушения за май 2019</a:t>
            </a:r>
          </a:p>
          <a:p>
            <a:r>
              <a:rPr lang="ru-RU" dirty="0"/>
              <a:t>8. «УСТРАНЕН», но без даты устранения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D47507-3FE7-4089-87CF-9E4F3CA99812}"/>
              </a:ext>
            </a:extLst>
          </p:cNvPr>
          <p:cNvSpPr txBox="1"/>
          <p:nvPr/>
        </p:nvSpPr>
        <p:spPr>
          <a:xfrm>
            <a:off x="6339372" y="1506022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🔴 Сложные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08350B-5964-474C-B642-6ADFEA53878F}"/>
              </a:ext>
            </a:extLst>
          </p:cNvPr>
          <p:cNvSpPr txBox="1"/>
          <p:nvPr/>
        </p:nvSpPr>
        <p:spPr>
          <a:xfrm>
            <a:off x="6339372" y="2039843"/>
            <a:ext cx="6232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9*. Топ-5 станций с самым долгим средним сроком устранения</a:t>
            </a:r>
          </a:p>
        </p:txBody>
      </p:sp>
    </p:spTree>
    <p:extLst>
      <p:ext uri="{BB962C8B-B14F-4D97-AF65-F5344CB8AC3E}">
        <p14:creationId xmlns:p14="http://schemas.microsoft.com/office/powerpoint/2010/main" val="34109572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996</Words>
  <Application>Microsoft Office PowerPoint</Application>
  <PresentationFormat>Широкоэкранный</PresentationFormat>
  <Paragraphs>179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quote-cjk-patch</vt:lpstr>
      <vt:lpstr>Тема Office</vt:lpstr>
      <vt:lpstr>SQL –  язык инженера данных Практическое занятие</vt:lpstr>
      <vt:lpstr>Что мы будем делать сегодня</vt:lpstr>
      <vt:lpstr>Зачем SQL инженеру данных</vt:lpstr>
      <vt:lpstr>Что такое база данных</vt:lpstr>
      <vt:lpstr>SQL: четыре группы команд</vt:lpstr>
      <vt:lpstr>SELECT: базовый синтаксис</vt:lpstr>
      <vt:lpstr>WHERE: фильтрация</vt:lpstr>
      <vt:lpstr>Частые ошибки</vt:lpstr>
      <vt:lpstr>GROUP BY</vt:lpstr>
      <vt:lpstr>ORDER BY + LIMIT</vt:lpstr>
      <vt:lpstr>SQLite: база без сервера</vt:lpstr>
      <vt:lpstr>SQLite: база без сервера</vt:lpstr>
      <vt:lpstr>Практические задания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–  язык инженера данных Практическое занятие</dc:title>
  <dc:creator>Софья Николаева</dc:creator>
  <cp:lastModifiedBy>Николаева Софья Алексеевна</cp:lastModifiedBy>
  <cp:revision>101</cp:revision>
  <dcterms:created xsi:type="dcterms:W3CDTF">2026-10-11T08:14:31Z</dcterms:created>
  <dcterms:modified xsi:type="dcterms:W3CDTF">2026-10-15T07:37:22Z</dcterms:modified>
</cp:coreProperties>
</file>