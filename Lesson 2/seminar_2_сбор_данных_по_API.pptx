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9" r:id="rId3"/>
    <p:sldId id="270" r:id="rId4"/>
    <p:sldId id="271" r:id="rId5"/>
    <p:sldId id="274" r:id="rId6"/>
    <p:sldId id="273" r:id="rId7"/>
    <p:sldId id="272" r:id="rId8"/>
    <p:sldId id="275" r:id="rId9"/>
    <p:sldId id="258" r:id="rId10"/>
    <p:sldId id="259" r:id="rId11"/>
    <p:sldId id="276" r:id="rId12"/>
    <p:sldId id="277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8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03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50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idata.mos.ru/v1/datasets?api_key=XXXX&amp;$inlinecount=allpages" TargetMode="External"/><Relationship Id="rId2" Type="http://schemas.openxmlformats.org/officeDocument/2006/relationships/hyperlink" Target="https://apidata.mos.ru/v1/datasets?api_key=XXXX&amp;$top=10&amp;$skip=20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pidata.mos.ru/v1/datasets/2356/rows?api_key=XXXX&amp;$filter=CategoryId" TargetMode="External"/><Relationship Id="rId4" Type="http://schemas.openxmlformats.org/officeDocument/2006/relationships/hyperlink" Target="https://apidata.mos.ru/v1/datasets/2356/rows?api_key=XXXX&amp;$top=100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2FD0188-E63C-E623-DD39-B0E05DCDD9A6}"/>
              </a:ext>
            </a:extLst>
          </p:cNvPr>
          <p:cNvSpPr/>
          <p:nvPr/>
        </p:nvSpPr>
        <p:spPr>
          <a:xfrm>
            <a:off x="513184" y="559837"/>
            <a:ext cx="10095722" cy="951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0365B-57EB-F5BF-D912-E50DFF76A349}"/>
              </a:ext>
            </a:extLst>
          </p:cNvPr>
          <p:cNvSpPr txBox="1"/>
          <p:nvPr/>
        </p:nvSpPr>
        <p:spPr>
          <a:xfrm>
            <a:off x="513184" y="0"/>
            <a:ext cx="111656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Инструменты </a:t>
            </a:r>
            <a:r>
              <a:rPr lang="en-US" sz="4000" b="1" dirty="0"/>
              <a:t>python, </a:t>
            </a:r>
            <a:r>
              <a:rPr lang="ru-RU" sz="4000" b="1" dirty="0"/>
              <a:t>используемые для сбора данных из открытых источников по </a:t>
            </a:r>
            <a:r>
              <a:rPr lang="en-US" sz="4000" b="1" dirty="0"/>
              <a:t>API</a:t>
            </a:r>
            <a:endParaRPr lang="ru-RU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F12F7-4A6F-1CFB-D852-3705887CC932}"/>
              </a:ext>
            </a:extLst>
          </p:cNvPr>
          <p:cNvSpPr txBox="1"/>
          <p:nvPr/>
        </p:nvSpPr>
        <p:spPr>
          <a:xfrm>
            <a:off x="6565740" y="2379564"/>
            <a:ext cx="5286736" cy="41113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API (Application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Programming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Interface)</a:t>
            </a: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API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(программный интерфейс приложения) — это набор правил и соглашений, по которым одна программа может обращаться к другой программе (обычно к серверу) для получения или передачи данных, без необходимости знать внутреннее устройство этой другой программы.</a:t>
            </a: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 контексте сбора данных из открытых источников API — это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"дверь", через которую сервер разрешает внешним программам (в том числе написанным на Python) забирать данные в структурированном виде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(обычно JSON), вместо того чтобы вручную открывать веб-страницу в браузере и копировать текст оттуда.</a:t>
            </a:r>
            <a:endParaRPr lang="ru-RU" sz="1050" b="0" i="0" dirty="0">
              <a:solidFill>
                <a:srgbClr val="252B37"/>
              </a:solidFill>
              <a:effectLst/>
              <a:latin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816F44-E416-E7C5-43E0-A01C55EC2911}"/>
              </a:ext>
            </a:extLst>
          </p:cNvPr>
          <p:cNvSpPr txBox="1"/>
          <p:nvPr/>
        </p:nvSpPr>
        <p:spPr>
          <a:xfrm>
            <a:off x="4165921" y="107560"/>
            <a:ext cx="7964346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Ключевые понятия</a:t>
            </a:r>
          </a:p>
          <a:p>
            <a:pPr indent="0" algn="l">
              <a:spcAft>
                <a:spcPts val="9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URL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адрес ресурса в интернете, например https://apidata.mos.ru/v1/datasets. Содержит адрес сервера и параметры запроса.</a:t>
            </a:r>
          </a:p>
          <a:p>
            <a:pPr indent="0" algn="l">
              <a:spcAft>
                <a:spcPts val="9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Запрос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сообщение от клиента к серверу с просьбой предоставить или изменить данные. Бывает GET (данные в URL) и POST (данные в теле).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C65459C-C27C-8594-911A-3FE8860E1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213" y="0"/>
            <a:ext cx="2934764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A72343-4FE5-D0DA-945F-54A4890E53FF}"/>
              </a:ext>
            </a:extLst>
          </p:cNvPr>
          <p:cNvSpPr txBox="1"/>
          <p:nvPr/>
        </p:nvSpPr>
        <p:spPr>
          <a:xfrm>
            <a:off x="4227653" y="5265256"/>
            <a:ext cx="7740569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900"/>
              </a:spcAft>
              <a:buNone/>
            </a:pP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DataFrame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табличная структура данных (строки и столбцы) в библиотеке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polars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удобная для анализа и обработки.</a:t>
            </a:r>
          </a:p>
          <a:p>
            <a:pPr indent="0" algn="l">
              <a:spcAft>
                <a:spcPts val="9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HTML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язык разметки веб-страниц. В текстовых полях API может встречаться "сырая" HTML-разметка (теги, сущности), которую нужно очищать перед анализом.</a:t>
            </a:r>
            <a:endParaRPr lang="ru-RU" sz="105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F84223-C6DE-6674-8151-D8ECA5034DE2}"/>
              </a:ext>
            </a:extLst>
          </p:cNvPr>
          <p:cNvSpPr txBox="1"/>
          <p:nvPr/>
        </p:nvSpPr>
        <p:spPr>
          <a:xfrm>
            <a:off x="4469757" y="2637240"/>
            <a:ext cx="61461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9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Сервер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программа, которая принимает запросы и возвращает ответ (Response) с данными, обычно в формате JSON.</a:t>
            </a:r>
            <a:endParaRPr lang="en-US" sz="18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2E3573C-5F18-C35F-2676-2D5E3A3FA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854" y="1656016"/>
            <a:ext cx="53149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98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1FF93EA-50EF-6D9E-A2F5-BCAC7B9D8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965773"/>
              </p:ext>
            </p:extLst>
          </p:nvPr>
        </p:nvGraphicFramePr>
        <p:xfrm>
          <a:off x="4227654" y="1787057"/>
          <a:ext cx="7593955" cy="469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63">
                  <a:extLst>
                    <a:ext uri="{9D8B030D-6E8A-4147-A177-3AD203B41FA5}">
                      <a16:colId xmlns:a16="http://schemas.microsoft.com/office/drawing/2014/main" val="159435562"/>
                    </a:ext>
                  </a:extLst>
                </a:gridCol>
                <a:gridCol w="1249004">
                  <a:extLst>
                    <a:ext uri="{9D8B030D-6E8A-4147-A177-3AD203B41FA5}">
                      <a16:colId xmlns:a16="http://schemas.microsoft.com/office/drawing/2014/main" val="4266441626"/>
                    </a:ext>
                  </a:extLst>
                </a:gridCol>
                <a:gridCol w="2177102">
                  <a:extLst>
                    <a:ext uri="{9D8B030D-6E8A-4147-A177-3AD203B41FA5}">
                      <a16:colId xmlns:a16="http://schemas.microsoft.com/office/drawing/2014/main" val="2475074368"/>
                    </a:ext>
                  </a:extLst>
                </a:gridCol>
                <a:gridCol w="2245486">
                  <a:extLst>
                    <a:ext uri="{9D8B030D-6E8A-4147-A177-3AD203B41FA5}">
                      <a16:colId xmlns:a16="http://schemas.microsoft.com/office/drawing/2014/main" val="1468962450"/>
                    </a:ext>
                  </a:extLst>
                </a:gridCol>
              </a:tblGrid>
              <a:tr h="306701">
                <a:tc>
                  <a:txBody>
                    <a:bodyPr/>
                    <a:lstStyle/>
                    <a:p>
                      <a:pPr marL="0" marR="0" indent="0" algn="ctr" fontAlgn="t">
                        <a:buNone/>
                      </a:pPr>
                      <a:r>
                        <a:rPr lang="ru-RU" sz="1600" b="1" dirty="0">
                          <a:effectLst/>
                        </a:rPr>
                        <a:t>Часть</a:t>
                      </a:r>
                      <a:endParaRPr lang="ru-RU" sz="1600" b="1" i="0" dirty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buNone/>
                      </a:pPr>
                      <a:r>
                        <a:rPr lang="ru-RU" sz="1600" b="1" dirty="0">
                          <a:effectLst/>
                        </a:rPr>
                        <a:t>Название</a:t>
                      </a:r>
                      <a:endParaRPr lang="ru-RU" sz="1600" b="1" i="0" dirty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buNone/>
                      </a:pPr>
                      <a:r>
                        <a:rPr lang="ru-RU" sz="1600" b="1" dirty="0">
                          <a:effectLst/>
                        </a:rPr>
                        <a:t>Пример</a:t>
                      </a:r>
                      <a:endParaRPr lang="ru-RU" sz="1600" b="1" i="0" dirty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t">
                        <a:buNone/>
                      </a:pPr>
                      <a:r>
                        <a:rPr lang="ru-RU" sz="1600" b="1" dirty="0">
                          <a:effectLst/>
                        </a:rPr>
                        <a:t>Назначение</a:t>
                      </a:r>
                      <a:endParaRPr lang="ru-RU" sz="1600" b="1" i="0" dirty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868884"/>
                  </a:ext>
                </a:extLst>
              </a:tr>
              <a:tr h="892221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https://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протокол (схема)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https, http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способ передачи данных (защищённый/незащищённый)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560986"/>
                  </a:ext>
                </a:extLst>
              </a:tr>
              <a:tr h="501874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apidata.mos.ru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хост (домен)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адрес сервера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к какому серверу обращаться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959642"/>
                  </a:ext>
                </a:extLst>
              </a:tr>
              <a:tr h="69704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/v1/datasets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путь (</a:t>
                      </a:r>
                      <a:r>
                        <a:rPr lang="ru-RU" sz="1600" dirty="0" err="1">
                          <a:effectLst/>
                        </a:rPr>
                        <a:t>path</a:t>
                      </a:r>
                      <a:r>
                        <a:rPr lang="ru-RU" sz="1600" dirty="0">
                          <a:effectLst/>
                        </a:rPr>
                        <a:t>)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конкретный ресурс на сервере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какой именно ресурс/эндпоинт запрашивается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576171"/>
                  </a:ext>
                </a:extLst>
              </a:tr>
              <a:tr h="892221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?...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query string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параметры после знака ?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дополнительные условия запроса (фильтры, ключи, пагинация)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029845"/>
                  </a:ext>
                </a:extLst>
              </a:tr>
              <a:tr h="501874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&amp;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разделитель параметров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между api_key=... и $top=...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отделяет один параметр от другого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Golo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626782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525D6E-5CB3-E5EB-8C96-2E0427F75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46" y="0"/>
            <a:ext cx="293476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5CCF4C-610B-08F9-C7C3-763DAC226019}"/>
              </a:ext>
            </a:extLst>
          </p:cNvPr>
          <p:cNvSpPr txBox="1"/>
          <p:nvPr/>
        </p:nvSpPr>
        <p:spPr>
          <a:xfrm>
            <a:off x="4227654" y="107560"/>
            <a:ext cx="79643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Ключевые понятия</a:t>
            </a:r>
          </a:p>
          <a:p>
            <a:pPr indent="0" algn="l">
              <a:spcAft>
                <a:spcPts val="9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URL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адрес ресурса в интернете, например https://apidata.mos.ru/v1/datasets. Содержит адрес сервера и параметры запроса.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CFFE371-AE84-D6BD-4258-3F76A1F18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156" y="970070"/>
            <a:ext cx="53149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7C8212-480B-42BE-1890-C0A54991915E}"/>
              </a:ext>
            </a:extLst>
          </p:cNvPr>
          <p:cNvSpPr txBox="1"/>
          <p:nvPr/>
        </p:nvSpPr>
        <p:spPr>
          <a:xfrm>
            <a:off x="778398" y="22063"/>
            <a:ext cx="10900458" cy="5604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900"/>
              </a:spcBef>
              <a:spcAft>
                <a:spcPts val="450"/>
              </a:spcAft>
              <a:buNone/>
            </a:pPr>
            <a:r>
              <a:rPr lang="ru-RU" sz="1600" b="1" i="0" dirty="0">
                <a:solidFill>
                  <a:schemeClr val="tx1"/>
                </a:solidFill>
                <a:effectLst/>
                <a:latin typeface="+mn-lt"/>
              </a:rPr>
              <a:t>Примеры с разными параметрами</a:t>
            </a: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1" i="0" dirty="0">
                <a:solidFill>
                  <a:schemeClr val="tx1"/>
                </a:solidFill>
                <a:effectLst/>
                <a:latin typeface="+mn-lt"/>
              </a:rPr>
              <a:t>1. Базовый запрос списка датасетов:</a:t>
            </a:r>
            <a:endParaRPr lang="ru-RU" sz="16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https://apidata.mos.ru/v1/datasets?api_key=XXXX</a:t>
            </a: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Только ключ авторизации, без фильтров — вернутся все доступные записи (или дефолтная порция).</a:t>
            </a: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1" i="0" dirty="0">
                <a:solidFill>
                  <a:schemeClr val="tx1"/>
                </a:solidFill>
                <a:effectLst/>
                <a:latin typeface="+mn-lt"/>
              </a:rPr>
              <a:t>2. Пагинация (ограничение количества и смещение):</a:t>
            </a:r>
            <a:endParaRPr lang="ru-RU" sz="16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  <a:hlinkClick r:id="rId2"/>
              </a:rPr>
              <a:t>https://apidata.mos.ru/v1/datasets?api_key=XXXX&amp;$top=10&amp;$skip=20</a:t>
            </a:r>
            <a:endParaRPr lang="ru-RU" sz="16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$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top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=10 — вернуть только 10 записей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$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skip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=20 — пропустить первые 20 записей (для постраничной загрузки)</a:t>
            </a: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1" i="0" dirty="0">
                <a:solidFill>
                  <a:schemeClr val="tx1"/>
                </a:solidFill>
                <a:effectLst/>
                <a:latin typeface="+mn-lt"/>
              </a:rPr>
              <a:t>3. Подсчёт общего количества записей:</a:t>
            </a:r>
            <a:endParaRPr lang="ru-RU" sz="16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  <a:hlinkClick r:id="rId3"/>
              </a:rPr>
              <a:t>https://apidata.mos.ru/v1/datasets?api_key=XXXX&amp;$inlinecount=allpages</a:t>
            </a:r>
            <a:endParaRPr lang="ru-RU" sz="16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$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inlinecount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allpages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 — включить в ответ общее количество элементов, а не только текущую порцию</a:t>
            </a: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1" i="0" dirty="0">
                <a:solidFill>
                  <a:schemeClr val="tx1"/>
                </a:solidFill>
                <a:effectLst/>
                <a:latin typeface="+mn-lt"/>
              </a:rPr>
              <a:t>4. Получение строк конкретного датасета по 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+mn-lt"/>
              </a:rPr>
              <a:t>id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+mn-lt"/>
              </a:rPr>
              <a:t>path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+mn-lt"/>
              </a:rPr>
              <a:t>-параметр):</a:t>
            </a:r>
            <a:endParaRPr lang="ru-RU" sz="16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  <a:hlinkClick r:id="rId4"/>
              </a:rPr>
              <a:t>https://apidata.mos.ru/v1/datasets/2356/rows?api_key=XXXX&amp;$top=100</a:t>
            </a:r>
            <a:endParaRPr lang="ru-RU" sz="16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Здесь 2356 — это 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+mn-lt"/>
              </a:rPr>
              <a:t>параметр пути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 (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path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parameter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), часть самого адреса ресурса, а не 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query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string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. Отличие от 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query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-параметров: путь определяет </a:t>
            </a:r>
            <a:r>
              <a:rPr lang="ru-RU" sz="1600" b="0" i="1" dirty="0">
                <a:solidFill>
                  <a:schemeClr val="tx1"/>
                </a:solidFill>
                <a:effectLst/>
                <a:latin typeface="+mn-lt"/>
              </a:rPr>
              <a:t>какой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 ресурс запрашивается, а 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query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string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 — </a:t>
            </a:r>
            <a:r>
              <a:rPr lang="ru-RU" sz="1600" b="0" i="1" dirty="0">
                <a:solidFill>
                  <a:schemeClr val="tx1"/>
                </a:solidFill>
                <a:effectLst/>
                <a:latin typeface="+mn-lt"/>
              </a:rPr>
              <a:t>как именно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 его вернуть (фильтры, сортировка, объём).</a:t>
            </a: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1" i="0" dirty="0">
                <a:solidFill>
                  <a:schemeClr val="tx1"/>
                </a:solidFill>
                <a:effectLst/>
                <a:latin typeface="+mn-lt"/>
              </a:rPr>
              <a:t>5. Фильтрация по условию:</a:t>
            </a:r>
            <a:endParaRPr lang="ru-RU" sz="16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Aft>
                <a:spcPts val="450"/>
              </a:spcAft>
              <a:buNone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  <a:hlinkClick r:id="rId5"/>
              </a:rPr>
              <a:t>https://apidata.mos.ru/v1/datasets/2356/rows?api_key=XXXX&amp;$filter=CategoryId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 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eq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 3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$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filter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CategoryId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eq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 3 — вернуть только строки, где </a:t>
            </a:r>
            <a:r>
              <a:rPr lang="ru-RU" sz="1600" b="0" i="0" dirty="0" err="1">
                <a:solidFill>
                  <a:schemeClr val="tx1"/>
                </a:solidFill>
                <a:effectLst/>
                <a:latin typeface="+mn-lt"/>
              </a:rPr>
              <a:t>CategoryId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+mn-lt"/>
              </a:rPr>
              <a:t> равен 3</a:t>
            </a:r>
            <a:endParaRPr lang="ru-RU" sz="1000" b="0" i="0" dirty="0">
              <a:solidFill>
                <a:srgbClr val="252B37"/>
              </a:solidFill>
              <a:effectLst/>
              <a:latin typeface="Golos Text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0619AC0-C7E1-D7C6-DA9F-8B6421C42CDB}"/>
              </a:ext>
            </a:extLst>
          </p:cNvPr>
          <p:cNvSpPr/>
          <p:nvPr/>
        </p:nvSpPr>
        <p:spPr>
          <a:xfrm>
            <a:off x="778398" y="4919240"/>
            <a:ext cx="8597096" cy="3240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3A73B-4A09-7080-DE60-E0C4605F4BDF}"/>
              </a:ext>
            </a:extLst>
          </p:cNvPr>
          <p:cNvSpPr txBox="1"/>
          <p:nvPr/>
        </p:nvSpPr>
        <p:spPr>
          <a:xfrm>
            <a:off x="289366" y="5528031"/>
            <a:ext cx="112660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Это от, что мы передаем в функцию </a:t>
            </a:r>
            <a:r>
              <a:rPr lang="en-US" sz="1600" dirty="0"/>
              <a:t>python (</a:t>
            </a:r>
            <a:r>
              <a:rPr lang="ru-RU" sz="1600" dirty="0"/>
              <a:t>например функцию </a:t>
            </a:r>
            <a:r>
              <a:rPr lang="ru-RU" sz="1600" dirty="0" err="1"/>
              <a:t>get</a:t>
            </a:r>
            <a:r>
              <a:rPr lang="ru-RU" sz="1600" dirty="0"/>
              <a:t> </a:t>
            </a:r>
            <a:r>
              <a:rPr lang="ru-RU" sz="1600" dirty="0" err="1"/>
              <a:t>бибилотеки</a:t>
            </a:r>
            <a:r>
              <a:rPr lang="ru-RU" sz="1600" dirty="0"/>
              <a:t> </a:t>
            </a:r>
            <a:r>
              <a:rPr lang="ru-RU" sz="1600" dirty="0" err="1"/>
              <a:t>requests</a:t>
            </a:r>
            <a:r>
              <a:rPr lang="ru-RU" sz="1600" dirty="0"/>
              <a:t>) как параметр функции:</a:t>
            </a:r>
          </a:p>
          <a:p>
            <a:r>
              <a:rPr lang="ru-RU" sz="1600" dirty="0" err="1"/>
              <a:t>resp</a:t>
            </a:r>
            <a:r>
              <a:rPr lang="ru-RU" sz="1600" dirty="0"/>
              <a:t> = </a:t>
            </a:r>
            <a:r>
              <a:rPr lang="ru-RU" sz="1600" dirty="0" err="1"/>
              <a:t>requests.get</a:t>
            </a:r>
            <a:r>
              <a:rPr lang="ru-RU" sz="1600" dirty="0"/>
              <a:t>(</a:t>
            </a:r>
          </a:p>
          <a:p>
            <a:r>
              <a:rPr lang="ru-RU" sz="1600" dirty="0"/>
              <a:t>    "https://apidata.mos.ru/v1/datasets",</a:t>
            </a:r>
          </a:p>
          <a:p>
            <a:r>
              <a:rPr lang="ru-RU" sz="1600" dirty="0"/>
              <a:t>    </a:t>
            </a:r>
            <a:r>
              <a:rPr lang="ru-RU" sz="1600" dirty="0" err="1"/>
              <a:t>params</a:t>
            </a:r>
            <a:r>
              <a:rPr lang="ru-RU" sz="1600" dirty="0"/>
              <a:t>={"</a:t>
            </a:r>
            <a:r>
              <a:rPr lang="ru-RU" sz="1600" dirty="0" err="1"/>
              <a:t>api_key</a:t>
            </a:r>
            <a:r>
              <a:rPr lang="ru-RU" sz="1600" dirty="0"/>
              <a:t>": API_KEY, "$</a:t>
            </a:r>
            <a:r>
              <a:rPr lang="ru-RU" sz="1600" dirty="0" err="1"/>
              <a:t>top</a:t>
            </a:r>
            <a:r>
              <a:rPr lang="ru-RU" sz="1600" dirty="0"/>
              <a:t>": 50}  # можно убрать $</a:t>
            </a:r>
            <a:r>
              <a:rPr lang="ru-RU" sz="1600" dirty="0" err="1"/>
              <a:t>top</a:t>
            </a:r>
            <a:r>
              <a:rPr lang="ru-RU" sz="1600" dirty="0"/>
              <a:t>, чтобы получить все </a:t>
            </a:r>
          </a:p>
          <a:p>
            <a:r>
              <a:rPr lang="ru-RU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430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78FF169E-C159-77AF-A191-B5FC17C36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150" y="857973"/>
            <a:ext cx="5147841" cy="51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EF280F-AD49-B0D5-17CB-182F92476C15}"/>
              </a:ext>
            </a:extLst>
          </p:cNvPr>
          <p:cNvSpPr txBox="1"/>
          <p:nvPr/>
        </p:nvSpPr>
        <p:spPr>
          <a:xfrm>
            <a:off x="1782501" y="2476982"/>
            <a:ext cx="9167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Как узнать какой запрос вводить?</a:t>
            </a:r>
          </a:p>
        </p:txBody>
      </p:sp>
    </p:spTree>
    <p:extLst>
      <p:ext uri="{BB962C8B-B14F-4D97-AF65-F5344CB8AC3E}">
        <p14:creationId xmlns:p14="http://schemas.microsoft.com/office/powerpoint/2010/main" val="413561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B8DDCA-5DF5-3CFD-510B-88562C3D2283}"/>
              </a:ext>
            </a:extLst>
          </p:cNvPr>
          <p:cNvSpPr txBox="1"/>
          <p:nvPr/>
        </p:nvSpPr>
        <p:spPr>
          <a:xfrm>
            <a:off x="428263" y="243068"/>
            <a:ext cx="117637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Самое важное качество разработчика – умение работать  с документаций. С документацией на </a:t>
            </a:r>
            <a:r>
              <a:rPr lang="en-US" sz="2800" b="1" dirty="0"/>
              <a:t>API. </a:t>
            </a:r>
          </a:p>
          <a:p>
            <a:r>
              <a:rPr lang="ru-RU" sz="2800" b="1" dirty="0"/>
              <a:t>К середине обучение вы должны уметь писать </a:t>
            </a:r>
            <a:r>
              <a:rPr lang="en-US" sz="2800" b="1" dirty="0"/>
              <a:t>API </a:t>
            </a:r>
            <a:r>
              <a:rPr lang="ru-RU" sz="2800" b="1" dirty="0"/>
              <a:t>для своих программ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6B2D2-3226-F654-C48F-DAFB943BFC55}"/>
              </a:ext>
            </a:extLst>
          </p:cNvPr>
          <p:cNvSpPr txBox="1"/>
          <p:nvPr/>
        </p:nvSpPr>
        <p:spPr>
          <a:xfrm>
            <a:off x="539187" y="153599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https://data.mos.ru/developers/documentation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47CB76-55B5-2A56-CCD2-8E755AEFC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63" y="2470666"/>
            <a:ext cx="7755038" cy="26591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B03069-4D4E-BC53-79EC-ABFB5FE28D75}"/>
              </a:ext>
            </a:extLst>
          </p:cNvPr>
          <p:cNvSpPr txBox="1"/>
          <p:nvPr/>
        </p:nvSpPr>
        <p:spPr>
          <a:xfrm>
            <a:off x="347240" y="2101334"/>
            <a:ext cx="797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Получим доступ к </a:t>
            </a:r>
            <a:r>
              <a:rPr lang="en-US" b="1" dirty="0"/>
              <a:t>API. </a:t>
            </a:r>
            <a:r>
              <a:rPr lang="ru-RU" b="1" dirty="0"/>
              <a:t>Шаг 1. Регистрация и переход в профиль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BF49A-9C14-B8C3-7216-D6CAEA6417A9}"/>
              </a:ext>
            </a:extLst>
          </p:cNvPr>
          <p:cNvSpPr txBox="1"/>
          <p:nvPr/>
        </p:nvSpPr>
        <p:spPr>
          <a:xfrm>
            <a:off x="499640" y="5126442"/>
            <a:ext cx="797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Получим доступ к </a:t>
            </a:r>
            <a:r>
              <a:rPr lang="en-US" b="1" dirty="0"/>
              <a:t>API. </a:t>
            </a:r>
            <a:r>
              <a:rPr lang="ru-RU" b="1" dirty="0"/>
              <a:t>Шаг 2. Вот наш </a:t>
            </a:r>
            <a:r>
              <a:rPr lang="en-US" b="1" dirty="0"/>
              <a:t>API </a:t>
            </a:r>
            <a:r>
              <a:rPr lang="ru-RU" b="1" dirty="0"/>
              <a:t>ключ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5A9A5F-9B5F-34E3-F595-7E0060EA9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232"/>
          <a:stretch>
            <a:fillRect/>
          </a:stretch>
        </p:blipFill>
        <p:spPr>
          <a:xfrm>
            <a:off x="134934" y="5602147"/>
            <a:ext cx="8565473" cy="10127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46F80C-0E74-942E-8102-8FEDFD628975}"/>
              </a:ext>
            </a:extLst>
          </p:cNvPr>
          <p:cNvSpPr txBox="1"/>
          <p:nvPr/>
        </p:nvSpPr>
        <p:spPr>
          <a:xfrm>
            <a:off x="8565265" y="2953309"/>
            <a:ext cx="329878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https://data.mos.ru/</a:t>
            </a:r>
          </a:p>
        </p:txBody>
      </p:sp>
    </p:spTree>
    <p:extLst>
      <p:ext uri="{BB962C8B-B14F-4D97-AF65-F5344CB8AC3E}">
        <p14:creationId xmlns:p14="http://schemas.microsoft.com/office/powerpoint/2010/main" val="327400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0722F8-64C1-32E2-C018-7EB6F91F0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795337"/>
            <a:ext cx="1121092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38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063506-0A48-F5FD-2BDE-7DDB89B19CC6}"/>
              </a:ext>
            </a:extLst>
          </p:cNvPr>
          <p:cNvSpPr/>
          <p:nvPr/>
        </p:nvSpPr>
        <p:spPr>
          <a:xfrm>
            <a:off x="1" y="5856790"/>
            <a:ext cx="12192000" cy="1001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4287CA-C830-DD8E-575A-B0AE325C0F8D}"/>
              </a:ext>
            </a:extLst>
          </p:cNvPr>
          <p:cNvSpPr txBox="1"/>
          <p:nvPr/>
        </p:nvSpPr>
        <p:spPr>
          <a:xfrm>
            <a:off x="721006" y="5747920"/>
            <a:ext cx="107499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resp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requests.get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    "https://apidata.mos.ru/v1/datasets",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   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params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={"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api_key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": API_KEY, "$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top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": 50}  # можно убрать $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top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, чтобы получить все)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BFB5C3-BC7D-8CED-C0FE-F0EA72A4F1C7}"/>
              </a:ext>
            </a:extLst>
          </p:cNvPr>
          <p:cNvSpPr txBox="1"/>
          <p:nvPr/>
        </p:nvSpPr>
        <p:spPr>
          <a:xfrm>
            <a:off x="674226" y="588937"/>
            <a:ext cx="10738412" cy="181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45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POST передаёт данные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 теле запроса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а не в URL. Тело может быть сколь 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угодно большим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и содержать сложные структуры (JSON, вложенные объекты, массивы фильтров). Поэтому POST используют, когда: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нужно отправить много параметров или сложную структуру данных (фильтры, JSON-объекты);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данные содержат чувствительную информацию (не хочется, чтобы она "светилась" в URL, логах браузера, истории);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есть ограничение длины URL.</a:t>
            </a:r>
            <a:endParaRPr lang="ru-RU" sz="1050" b="0" i="0" dirty="0">
              <a:solidFill>
                <a:srgbClr val="252B37"/>
              </a:solidFill>
              <a:effectLst/>
              <a:latin typeface="Golos Tex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41AB4-5C4A-B0AA-F4AC-3124466CC18A}"/>
              </a:ext>
            </a:extLst>
          </p:cNvPr>
          <p:cNvSpPr txBox="1"/>
          <p:nvPr/>
        </p:nvSpPr>
        <p:spPr>
          <a:xfrm>
            <a:off x="674226" y="2843399"/>
            <a:ext cx="110509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# 1. Список датасетов (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id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, название, описание)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resp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requests.post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    "https://apidata.mos.ru/v1/datasets",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    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params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={"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api_key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": API_KEY, "$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top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": 100}  # можно убрать $</a:t>
            </a:r>
            <a:r>
              <a:rPr lang="ru-RU" sz="1800" b="0" dirty="0" err="1">
                <a:solidFill>
                  <a:schemeClr val="tx1"/>
                </a:solidFill>
                <a:effectLst/>
                <a:latin typeface="+mn-lt"/>
              </a:rPr>
              <a:t>top</a:t>
            </a: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, чтобы получить все</a:t>
            </a:r>
          </a:p>
          <a:p>
            <a:pPr>
              <a:lnSpc>
                <a:spcPct val="100000"/>
              </a:lnSpc>
              <a:buNone/>
            </a:pPr>
            <a:r>
              <a:rPr lang="ru-RU" sz="18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7D33118-A25A-31B0-443C-4361BBFDD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346588"/>
              </p:ext>
            </p:extLst>
          </p:nvPr>
        </p:nvGraphicFramePr>
        <p:xfrm>
          <a:off x="492889" y="4897247"/>
          <a:ext cx="11699111" cy="15528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9029">
                  <a:extLst>
                    <a:ext uri="{9D8B030D-6E8A-4147-A177-3AD203B41FA5}">
                      <a16:colId xmlns:a16="http://schemas.microsoft.com/office/drawing/2014/main" val="372804067"/>
                    </a:ext>
                  </a:extLst>
                </a:gridCol>
                <a:gridCol w="9360082">
                  <a:extLst>
                    <a:ext uri="{9D8B030D-6E8A-4147-A177-3AD203B41FA5}">
                      <a16:colId xmlns:a16="http://schemas.microsoft.com/office/drawing/2014/main" val="2846164558"/>
                    </a:ext>
                  </a:extLst>
                </a:gridCol>
              </a:tblGrid>
              <a:tr h="233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resp.status_code   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 код ответа: 200 - ОК, 404 - не найдено, 401 - не авторизован, 500 - ошибка сервера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extLst>
                  <a:ext uri="{0D108BD9-81ED-4DB2-BD59-A6C34878D82A}">
                    <a16:rowId xmlns:a16="http://schemas.microsoft.com/office/drawing/2014/main" val="3841600671"/>
                  </a:ext>
                </a:extLst>
              </a:tr>
              <a:tr h="1510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 dirty="0" err="1">
                          <a:effectLst/>
                        </a:rPr>
                        <a:t>resp.text</a:t>
                      </a:r>
                      <a:r>
                        <a:rPr lang="ru-RU" sz="2000" u="none" strike="noStrike" dirty="0">
                          <a:effectLst/>
                        </a:rPr>
                        <a:t>          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 тело ответа как строка (сырой текст)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extLst>
                  <a:ext uri="{0D108BD9-81ED-4DB2-BD59-A6C34878D82A}">
                    <a16:rowId xmlns:a16="http://schemas.microsoft.com/office/drawing/2014/main" val="847510950"/>
                  </a:ext>
                </a:extLst>
              </a:tr>
              <a:tr h="1209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resp.content       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 тело ответа как байты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extLst>
                  <a:ext uri="{0D108BD9-81ED-4DB2-BD59-A6C34878D82A}">
                    <a16:rowId xmlns:a16="http://schemas.microsoft.com/office/drawing/2014/main" val="3906747227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resp.json()        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 парсит тело как JSON и возвращает Python-объект (dict/list)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extLst>
                  <a:ext uri="{0D108BD9-81ED-4DB2-BD59-A6C34878D82A}">
                    <a16:rowId xmlns:a16="http://schemas.microsoft.com/office/drawing/2014/main" val="2933059965"/>
                  </a:ext>
                </a:extLst>
              </a:tr>
              <a:tr h="17601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>
                          <a:effectLst/>
                        </a:rPr>
                        <a:t>resp.headers       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 словарь заголовков ответа (например, Content-Type)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79" marR="5779" marT="5779" marB="0" anchor="b"/>
                </a:tc>
                <a:extLst>
                  <a:ext uri="{0D108BD9-81ED-4DB2-BD59-A6C34878D82A}">
                    <a16:rowId xmlns:a16="http://schemas.microsoft.com/office/drawing/2014/main" val="263772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789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95B4D-B797-F4B0-B21E-C20432E8F96D}"/>
              </a:ext>
            </a:extLst>
          </p:cNvPr>
          <p:cNvSpPr txBox="1"/>
          <p:nvPr/>
        </p:nvSpPr>
        <p:spPr>
          <a:xfrm>
            <a:off x="590309" y="1504709"/>
            <a:ext cx="105098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Запускаем код для получения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80980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1040</Words>
  <Application>Microsoft Office PowerPoint</Application>
  <PresentationFormat>Широкоэкранный</PresentationFormat>
  <Paragraphs>99</Paragraphs>
  <Slides>20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Calibri</vt:lpstr>
      <vt:lpstr>Consolas</vt:lpstr>
      <vt:lpstr>Golos Text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📊 Лекция: Сбор данных с Open Data API</dc:title>
  <dc:subject>PptxGenJS Presentation</dc:subject>
  <dc:creator>Created by Marp</dc:creator>
  <cp:lastModifiedBy>Oesune</cp:lastModifiedBy>
  <cp:revision>5</cp:revision>
  <dcterms:created xsi:type="dcterms:W3CDTF">2026-09-09T09:56:41Z</dcterms:created>
  <dcterms:modified xsi:type="dcterms:W3CDTF">2026-09-09T18:08:53Z</dcterms:modified>
</cp:coreProperties>
</file>