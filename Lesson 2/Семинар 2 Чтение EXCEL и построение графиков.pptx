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7" r:id="rId2"/>
    <p:sldId id="439" r:id="rId3"/>
    <p:sldId id="473" r:id="rId4"/>
    <p:sldId id="419" r:id="rId5"/>
    <p:sldId id="420" r:id="rId6"/>
    <p:sldId id="476" r:id="rId7"/>
    <p:sldId id="421" r:id="rId8"/>
    <p:sldId id="422" r:id="rId9"/>
    <p:sldId id="423" r:id="rId10"/>
    <p:sldId id="444" r:id="rId11"/>
    <p:sldId id="445" r:id="rId12"/>
    <p:sldId id="446" r:id="rId13"/>
    <p:sldId id="447" r:id="rId14"/>
    <p:sldId id="448" r:id="rId15"/>
    <p:sldId id="449" r:id="rId16"/>
    <p:sldId id="450" r:id="rId17"/>
    <p:sldId id="451" r:id="rId18"/>
    <p:sldId id="452" r:id="rId19"/>
    <p:sldId id="453" r:id="rId20"/>
    <p:sldId id="454" r:id="rId21"/>
    <p:sldId id="455" r:id="rId22"/>
    <p:sldId id="456" r:id="rId23"/>
    <p:sldId id="438" r:id="rId24"/>
    <p:sldId id="457" r:id="rId25"/>
    <p:sldId id="458" r:id="rId26"/>
    <p:sldId id="461" r:id="rId27"/>
    <p:sldId id="477" r:id="rId28"/>
    <p:sldId id="474" r:id="rId29"/>
    <p:sldId id="475" r:id="rId30"/>
    <p:sldId id="478" r:id="rId31"/>
    <p:sldId id="468" r:id="rId32"/>
    <p:sldId id="479" r:id="rId33"/>
    <p:sldId id="480" r:id="rId34"/>
    <p:sldId id="469" r:id="rId35"/>
    <p:sldId id="470" r:id="rId36"/>
    <p:sldId id="471" r:id="rId37"/>
    <p:sldId id="472" r:id="rId38"/>
    <p:sldId id="463" r:id="rId39"/>
    <p:sldId id="427" r:id="rId40"/>
    <p:sldId id="434" r:id="rId41"/>
    <p:sldId id="436" r:id="rId42"/>
    <p:sldId id="437" r:id="rId43"/>
    <p:sldId id="435" r:id="rId44"/>
    <p:sldId id="429" r:id="rId45"/>
    <p:sldId id="430" r:id="rId46"/>
    <p:sldId id="431" r:id="rId47"/>
    <p:sldId id="464" r:id="rId48"/>
    <p:sldId id="440" r:id="rId49"/>
    <p:sldId id="441" r:id="rId50"/>
    <p:sldId id="442" r:id="rId51"/>
    <p:sldId id="443" r:id="rId52"/>
    <p:sldId id="465" r:id="rId53"/>
    <p:sldId id="428" r:id="rId54"/>
    <p:sldId id="466" r:id="rId5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A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05" autoAdjust="0"/>
    <p:restoredTop sz="94660"/>
  </p:normalViewPr>
  <p:slideViewPr>
    <p:cSldViewPr snapToGrid="0">
      <p:cViewPr>
        <p:scale>
          <a:sx n="100" d="100"/>
          <a:sy n="100" d="100"/>
        </p:scale>
        <p:origin x="37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_____Microsoft_Excel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Sheet1!$A$2:$C$13</cx:f>
        <cx:lvl ptCount="12">
          <cx:pt idx="0">Кофе</cx:pt>
          <cx:pt idx="1">Чай</cx:pt>
          <cx:pt idx="2">Вафли</cx:pt>
          <cx:pt idx="3">Блины</cx:pt>
          <cx:pt idx="4">Яичница</cx:pt>
          <cx:pt idx="5">Кофе</cx:pt>
          <cx:pt idx="6">Чай</cx:pt>
          <cx:pt idx="7">Суп</cx:pt>
          <cx:pt idx="8">Бутерброд</cx:pt>
          <cx:pt idx="9">Салат</cx:pt>
          <cx:pt idx="10">Пирог</cx:pt>
          <cx:pt idx="11">Печенье</cx:pt>
        </cx:lvl>
        <cx:lvl ptCount="12">
          <cx:pt idx="0">Напитки</cx:pt>
          <cx:pt idx="1">Напитки</cx:pt>
          <cx:pt idx="2">Еда</cx:pt>
          <cx:pt idx="3">Еда</cx:pt>
          <cx:pt idx="4">Еда</cx:pt>
          <cx:pt idx="5">Напитки</cx:pt>
          <cx:pt idx="6">Напитки</cx:pt>
          <cx:pt idx="7">Еда</cx:pt>
          <cx:pt idx="8">Еда</cx:pt>
          <cx:pt idx="9">Еда</cx:pt>
          <cx:pt idx="10">Еда</cx:pt>
          <cx:pt idx="11">Еда</cx:pt>
        </cx:lvl>
        <cx:lvl ptCount="12">
          <cx:pt idx="0">Завтрак</cx:pt>
          <cx:pt idx="1">Завтрак</cx:pt>
          <cx:pt idx="2">Завтрак</cx:pt>
          <cx:pt idx="3">Завтрак</cx:pt>
          <cx:pt idx="4">Завтрак</cx:pt>
          <cx:pt idx="5">Обед</cx:pt>
          <cx:pt idx="6">Обед</cx:pt>
          <cx:pt idx="7">Обед</cx:pt>
          <cx:pt idx="8">Обед</cx:pt>
          <cx:pt idx="9">Обед</cx:pt>
          <cx:pt idx="10">Обед</cx:pt>
          <cx:pt idx="11">Обед</cx:pt>
        </cx:lvl>
      </cx:strDim>
      <cx:numDim type="size">
        <cx:f>Sheet1!$D$2:$D$13</cx:f>
        <cx:lvl ptCount="12" formatCode="Основной">
          <cx:pt idx="0">200</cx:pt>
          <cx:pt idx="1">90</cx:pt>
          <cx:pt idx="2">120</cx:pt>
          <cx:pt idx="3">350</cx:pt>
          <cx:pt idx="4">240</cx:pt>
          <cx:pt idx="5">100</cx:pt>
          <cx:pt idx="6">450</cx:pt>
          <cx:pt idx="7">160</cx:pt>
          <cx:pt idx="8">360</cx:pt>
          <cx:pt idx="9">700</cx:pt>
          <cx:pt idx="10">450</cx:pt>
          <cx:pt idx="11">250</cx:pt>
        </cx:lvl>
      </cx:numDim>
    </cx:data>
  </cx:chartData>
  <cx:chart>
    <cx:plotArea>
      <cx:plotAreaRegion>
        <cx:series layoutId="treemap" uniqueId="{BBADF423-0531-48E5-ABE0-3007FCA87A2C}">
          <cx:tx>
            <cx:txData>
              <cx:f>Sheet1!$D$1</cx:f>
              <cx:v>Доход</cx:v>
            </cx:txData>
          </cx:tx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600">
                    <a:solidFill>
                      <a:schemeClr val="tx1"/>
                    </a:solidFill>
                  </a:defRPr>
                </a:pPr>
                <a:endParaRPr lang="en-US" sz="1600" b="0" i="0" u="none" strike="noStrike" baseline="0">
                  <a:solidFill>
                    <a:schemeClr val="tx1"/>
                  </a:solidFill>
                  <a:latin typeface="Montserrat"/>
                </a:endParaRPr>
              </a:p>
            </cx:txPr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600"/>
          </a:pPr>
          <a:endParaRPr lang="en-US" sz="1600" b="0" i="0" u="none" strike="noStrike" baseline="0">
            <a:solidFill>
              <a:srgbClr val="000000">
                <a:lumMod val="65000"/>
                <a:lumOff val="35000"/>
              </a:srgbClr>
            </a:solidFill>
            <a:latin typeface="Montserrat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7F6A1-15E1-4B60-8DE9-39E9CD1EEB7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8DDD5-A1AA-41B3-AFF6-68843CDFA2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0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913C2-DB42-4DCD-88F3-9586473B3703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313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913C2-DB42-4DCD-88F3-9586473B370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676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913C2-DB42-4DCD-88F3-9586473B3703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54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51BF6-F9A4-0A50-2642-0EE79E4E1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CD0BB9-B05D-CFE2-A0F4-A17FE7C8D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2F7E63-25C9-A3F5-C9FD-3B6A0C53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3567C5-F157-9D75-A113-AF570566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A6C75C-6943-0265-F73D-10B64EFC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45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8E9A9-E9D3-7F2A-7CCC-60A62233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7AEA62-6648-F8D6-C87F-21145FBC5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087D1F-A6D5-3B55-A043-6962A320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09F83F-7AC9-8E43-B046-A0AED47E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22D5D-2FD0-1EFD-2D70-AC9DD2172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74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1C95B-61DA-1BD4-C656-BDFC2308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72ED24-53F1-4488-EEEA-8244EDC5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ADE5EE-7092-91BA-320E-96E8A998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DB62BD-7C71-3C52-1941-995F5843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4E6141-83F7-5525-3BE2-39040FBC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85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7227C-A11E-4562-C40D-76B0A523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E06F5A-D2E7-1B10-001B-BF8E8D6EF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9C7341-D21E-7091-7D62-9A9ADD31B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3681E-82F1-D5EF-DD5A-9E065955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D501DC-7BB3-64E7-01C8-4FBB1FCB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F57BD1-11E7-95E3-E427-092A0F7C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16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76882-370B-5CB1-E901-3740CA55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737836-C113-EDDC-2F6E-FBCD056E6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DCBE4B-27CA-7CF3-26AD-16A51A95A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F661B5-7170-E4EE-097C-D2A21FD65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1C06A5B-649C-8AB4-8E50-4F08C842E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71A6D9-ECCA-4314-4BE8-572EEDFD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451D1A-7553-527B-F5FF-85AD2DF0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BF4389-8227-118A-05E8-907A2A32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78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1B017-A31E-DA38-BA17-9A26AA6E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15A2A1-A318-0198-D739-726DC5A4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FF7F25-BA50-A395-C5C7-BC3951D2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875DA8-641E-0EB2-BD6A-91EA55FB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05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F50265-6D7B-1348-B785-72B681A2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04A607-0DB6-2F7D-92D2-038F0315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73552C-D255-9892-8986-8555B4C7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9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24ED8-F362-1940-C8EC-749D3A1D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0087C7-D6AB-75B4-0651-DEA4F0882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B582C2-41D3-8ED6-B483-494CC79ED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A99667-CBED-061B-91B0-FD2330C8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F950F4-91EB-AF0D-43F0-9939FCFF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C93677-F06F-50C0-E0DE-07963397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32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17DB9-8240-00A7-89CF-9149E723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BD3B5C-EFF6-3AED-0D0B-E22C11E4F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D324EF-DBF9-1139-6D85-3449695CA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2B4984-EDCC-2830-641C-DC1CAA29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79ABE9-157D-A8FF-DEDE-78495D88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09B038-CD03-BCE9-E52E-B9220E33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2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E6115-8F1D-941C-BC0F-A5E07DB0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B4774A-2BF1-CD05-8681-80A6D1807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FFAD5C-59BE-E5BC-B70F-CD6FCB92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461AA-2F45-023A-B3AA-81EDD21A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E80F22-ADD5-64C8-BFAB-A40E937D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92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A2D45C-EF38-D690-43F8-47BFF6DC6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101D93-A7DB-4706-DBCB-839BAA6CA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C1DDD0-AC33-A0F2-180E-D854CFA0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F2ECB2-7BD9-2116-5A1A-999B10FF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1D1216-9BBD-520A-D42A-AB0E401E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240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5646;p396">
            <a:extLst>
              <a:ext uri="{FF2B5EF4-FFF2-40B4-BE49-F238E27FC236}">
                <a16:creationId xmlns:a16="http://schemas.microsoft.com/office/drawing/2014/main" id="{94CF19F8-D2E0-6D41-83ED-3BA33DC6B39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88718" y="210881"/>
            <a:ext cx="1960775" cy="67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5647;p396">
            <a:extLst>
              <a:ext uri="{FF2B5EF4-FFF2-40B4-BE49-F238E27FC236}">
                <a16:creationId xmlns:a16="http://schemas.microsoft.com/office/drawing/2014/main" id="{6FBF40A5-78A5-454B-BFA1-0878DF5D520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88718" y="210881"/>
            <a:ext cx="1960775" cy="67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5646;p396">
            <a:extLst>
              <a:ext uri="{FF2B5EF4-FFF2-40B4-BE49-F238E27FC236}">
                <a16:creationId xmlns:a16="http://schemas.microsoft.com/office/drawing/2014/main" id="{63540EB4-F103-D343-86CB-D4878F85F50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88718" y="205589"/>
            <a:ext cx="1960775" cy="67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300523FA-708D-9943-A568-7606769C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063" y="1224788"/>
            <a:ext cx="5423156" cy="13246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466" b="1" i="0">
                <a:solidFill>
                  <a:srgbClr val="FC963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AAFB9576-58B7-6C4B-AAAF-61ADB6885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9160" y="511177"/>
            <a:ext cx="5427059" cy="640729"/>
          </a:xfrm>
          <a:prstGeom prst="rect">
            <a:avLst/>
          </a:prstGeom>
        </p:spPr>
        <p:txBody>
          <a:bodyPr/>
          <a:lstStyle>
            <a:lvl1pPr>
              <a:defRPr sz="2666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5424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80391-3259-4EDA-05EF-1D319F32C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881727-694A-53E6-C1DB-83DEDF19C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7FF110-3FA2-C61B-4BEF-0CE8A51EA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3B71FC-FB42-5509-E6D7-1970A1A91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C39C30-7099-CD3A-C4C0-443F1B4C0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3881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97AD8-7D7C-4EAB-8E42-7CCB62A534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-scripts.com/lists-tuples-dictionarie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7.sv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37.svg"/><Relationship Id="rId5" Type="http://schemas.microsoft.com/office/2007/relationships/hdphoto" Target="../media/hdphoto4.wdp"/><Relationship Id="rId10" Type="http://schemas.openxmlformats.org/officeDocument/2006/relationships/image" Target="../media/image33.png"/><Relationship Id="rId4" Type="http://schemas.openxmlformats.org/officeDocument/2006/relationships/image" Target="../media/image46.png"/><Relationship Id="rId9" Type="http://schemas.microsoft.com/office/2007/relationships/hdphoto" Target="../media/hdphoto6.wdp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37.svg"/><Relationship Id="rId5" Type="http://schemas.microsoft.com/office/2007/relationships/hdphoto" Target="../media/hdphoto8.wdp"/><Relationship Id="rId10" Type="http://schemas.openxmlformats.org/officeDocument/2006/relationships/image" Target="../media/image33.png"/><Relationship Id="rId4" Type="http://schemas.openxmlformats.org/officeDocument/2006/relationships/image" Target="../media/image50.png"/><Relationship Id="rId9" Type="http://schemas.microsoft.com/office/2007/relationships/hdphoto" Target="../media/hdphoto10.wdp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hdphoto" Target="../media/hdphoto11.wdp"/><Relationship Id="rId7" Type="http://schemas.microsoft.com/office/2007/relationships/hdphoto" Target="../media/hdphoto13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microsoft.com/office/2007/relationships/hdphoto" Target="../media/hdphoto12.wdp"/><Relationship Id="rId4" Type="http://schemas.openxmlformats.org/officeDocument/2006/relationships/image" Target="../media/image54.png"/><Relationship Id="rId9" Type="http://schemas.openxmlformats.org/officeDocument/2006/relationships/image" Target="../media/image37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3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3.png"/><Relationship Id="rId4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3.png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Tree_1%20(1).html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9.svg"/><Relationship Id="rId7" Type="http://schemas.microsoft.com/office/2007/relationships/hdphoto" Target="../media/hdphoto3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7.svg"/><Relationship Id="rId4" Type="http://schemas.openxmlformats.org/officeDocument/2006/relationships/image" Target="../media/image33.png"/><Relationship Id="rId9" Type="http://schemas.microsoft.com/office/2007/relationships/hdphoto" Target="../media/hdphoto7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eg"/><Relationship Id="rId5" Type="http://schemas.openxmlformats.org/officeDocument/2006/relationships/image" Target="../media/image37.sv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FA3D413-3A36-4208-AB3D-ECC166CD1AC3}"/>
              </a:ext>
            </a:extLst>
          </p:cNvPr>
          <p:cNvSpPr/>
          <p:nvPr/>
        </p:nvSpPr>
        <p:spPr>
          <a:xfrm>
            <a:off x="7160268" y="1165029"/>
            <a:ext cx="5021943" cy="5022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Круг: прозрачная заливка 14">
            <a:extLst>
              <a:ext uri="{FF2B5EF4-FFF2-40B4-BE49-F238E27FC236}">
                <a16:creationId xmlns:a16="http://schemas.microsoft.com/office/drawing/2014/main" id="{17EEBB8A-2312-4647-ACB5-4CA6815C5C1D}"/>
              </a:ext>
            </a:extLst>
          </p:cNvPr>
          <p:cNvSpPr/>
          <p:nvPr/>
        </p:nvSpPr>
        <p:spPr>
          <a:xfrm>
            <a:off x="6909250" y="4701811"/>
            <a:ext cx="1789112" cy="1789112"/>
          </a:xfrm>
          <a:prstGeom prst="donut">
            <a:avLst>
              <a:gd name="adj" fmla="val 183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Круг: прозрачная заливка 17">
            <a:extLst>
              <a:ext uri="{FF2B5EF4-FFF2-40B4-BE49-F238E27FC236}">
                <a16:creationId xmlns:a16="http://schemas.microsoft.com/office/drawing/2014/main" id="{CA40767D-8521-4DE6-BB83-EDD0427DF79E}"/>
              </a:ext>
            </a:extLst>
          </p:cNvPr>
          <p:cNvSpPr/>
          <p:nvPr/>
        </p:nvSpPr>
        <p:spPr>
          <a:xfrm>
            <a:off x="9616690" y="-2466963"/>
            <a:ext cx="3472656" cy="3472656"/>
          </a:xfrm>
          <a:prstGeom prst="donut">
            <a:avLst>
              <a:gd name="adj" fmla="val 86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46809332-2EE6-4FA9-8761-2EA1508EBD7C}"/>
              </a:ext>
            </a:extLst>
          </p:cNvPr>
          <p:cNvSpPr/>
          <p:nvPr/>
        </p:nvSpPr>
        <p:spPr>
          <a:xfrm>
            <a:off x="10693892" y="1250950"/>
            <a:ext cx="350420" cy="350420"/>
          </a:xfrm>
          <a:prstGeom prst="ellipse">
            <a:avLst/>
          </a:prstGeom>
          <a:pattFill prst="wdUpDiag">
            <a:fgClr>
              <a:srgbClr val="26262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8EA6A8C-4449-434F-A3AA-8C9EF6F3C1D7}"/>
              </a:ext>
            </a:extLst>
          </p:cNvPr>
          <p:cNvSpPr/>
          <p:nvPr/>
        </p:nvSpPr>
        <p:spPr>
          <a:xfrm>
            <a:off x="6624519" y="5388438"/>
            <a:ext cx="415858" cy="415858"/>
          </a:xfrm>
          <a:prstGeom prst="ellipse">
            <a:avLst/>
          </a:prstGeom>
          <a:pattFill prst="wdUpDiag">
            <a:fgClr>
              <a:srgbClr val="26262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3E25EADB-4C52-484F-9AD1-1D9442DA734E}"/>
              </a:ext>
            </a:extLst>
          </p:cNvPr>
          <p:cNvSpPr txBox="1">
            <a:spLocks/>
          </p:cNvSpPr>
          <p:nvPr/>
        </p:nvSpPr>
        <p:spPr>
          <a:xfrm>
            <a:off x="650059" y="574806"/>
            <a:ext cx="7091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>
                <a:solidFill>
                  <a:srgbClr val="262626"/>
                </a:solidFill>
                <a:latin typeface="Gilroy" panose="00000500000000000000" pitchFamily="2" charset="-5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ru-RU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Федеральное государственное автономное образовательное учреждение </a:t>
            </a:r>
            <a:br>
              <a:rPr lang="ru-RU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высшего образования «Российский университет транспорта»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A738B58F-C9D5-41AE-9182-206A7BF82913}"/>
              </a:ext>
            </a:extLst>
          </p:cNvPr>
          <p:cNvSpPr txBox="1">
            <a:spLocks/>
          </p:cNvSpPr>
          <p:nvPr/>
        </p:nvSpPr>
        <p:spPr>
          <a:xfrm>
            <a:off x="793888" y="1725608"/>
            <a:ext cx="6947488" cy="21236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800" b="1">
                <a:solidFill>
                  <a:prstClr val="white"/>
                </a:solidFill>
                <a:highlight>
                  <a:srgbClr val="4265FC"/>
                </a:highlight>
                <a:latin typeface="Gilroy" panose="00000500000000000000" pitchFamily="2" charset="-5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ru-RU" sz="4400" dirty="0"/>
              <a:t>Чтение файлов и их дальнейшая обработка</a:t>
            </a:r>
          </a:p>
          <a:p>
            <a:r>
              <a:rPr lang="ru-RU" sz="4400" dirty="0"/>
              <a:t> с помощью </a:t>
            </a:r>
            <a:r>
              <a:rPr lang="en-US" sz="4400" dirty="0"/>
              <a:t>pandas</a:t>
            </a:r>
            <a:endParaRPr lang="ru-RU" sz="4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5CCD12-3C02-B09A-FAFC-D5FD5040E7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4486" b="13901"/>
          <a:stretch/>
        </p:blipFill>
        <p:spPr>
          <a:xfrm>
            <a:off x="7051290" y="953376"/>
            <a:ext cx="6372588" cy="5904624"/>
          </a:xfrm>
          <a:prstGeom prst="rect">
            <a:avLst/>
          </a:prstGeom>
        </p:spPr>
      </p:pic>
      <p:sp>
        <p:nvSpPr>
          <p:cNvPr id="21" name="Овал 20">
            <a:extLst>
              <a:ext uri="{FF2B5EF4-FFF2-40B4-BE49-F238E27FC236}">
                <a16:creationId xmlns:a16="http://schemas.microsoft.com/office/drawing/2014/main" id="{15CBEC19-9AEF-4B51-AF8E-C66978781026}"/>
              </a:ext>
            </a:extLst>
          </p:cNvPr>
          <p:cNvSpPr/>
          <p:nvPr/>
        </p:nvSpPr>
        <p:spPr>
          <a:xfrm>
            <a:off x="12716483" y="5700875"/>
            <a:ext cx="745726" cy="745726"/>
          </a:xfrm>
          <a:prstGeom prst="ellipse">
            <a:avLst/>
          </a:prstGeom>
          <a:pattFill prst="wdUpDiag">
            <a:fgClr>
              <a:srgbClr val="26262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0E61E750-319D-447B-BD14-5EC06A0799A2}"/>
              </a:ext>
            </a:extLst>
          </p:cNvPr>
          <p:cNvSpPr txBox="1">
            <a:spLocks/>
          </p:cNvSpPr>
          <p:nvPr/>
        </p:nvSpPr>
        <p:spPr>
          <a:xfrm>
            <a:off x="7038712" y="6021584"/>
            <a:ext cx="5339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100">
                <a:solidFill>
                  <a:schemeClr val="bg1"/>
                </a:solidFill>
                <a:latin typeface="Gilroy" panose="00000500000000000000" pitchFamily="2" charset="-5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r"/>
            <a:r>
              <a:rPr lang="ru-RU" b="1" dirty="0">
                <a:highlight>
                  <a:srgbClr val="032BE4"/>
                </a:highlight>
              </a:rPr>
              <a:t>2023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B1C9DB-C04B-711B-A85A-054149E0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3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57">
            <a:extLst>
              <a:ext uri="{FF2B5EF4-FFF2-40B4-BE49-F238E27FC236}">
                <a16:creationId xmlns:a16="http://schemas.microsoft.com/office/drawing/2014/main" id="{81AB1922-C536-53FE-6AFA-22597F66EC74}"/>
              </a:ext>
            </a:extLst>
          </p:cNvPr>
          <p:cNvSpPr/>
          <p:nvPr/>
        </p:nvSpPr>
        <p:spPr>
          <a:xfrm>
            <a:off x="1236043" y="1327317"/>
            <a:ext cx="4958814" cy="2887021"/>
          </a:xfrm>
          <a:prstGeom prst="roundRect">
            <a:avLst/>
          </a:prstGeom>
          <a:solidFill>
            <a:schemeClr val="tx1">
              <a:alpha val="70000"/>
            </a:schemeClr>
          </a:solidFill>
          <a:ln>
            <a:noFill/>
          </a:ln>
          <a:effectLst>
            <a:outerShdw blurRad="127000" dist="38100" dir="2700000" sx="101000" sy="101000" algn="tl" rotWithShape="0">
              <a:srgbClr val="0000FD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C90FD3B-243D-496F-FD78-99C107150536}"/>
              </a:ext>
            </a:extLst>
          </p:cNvPr>
          <p:cNvGrpSpPr/>
          <p:nvPr/>
        </p:nvGrpSpPr>
        <p:grpSpPr>
          <a:xfrm>
            <a:off x="1552070" y="1512030"/>
            <a:ext cx="4319878" cy="830998"/>
            <a:chOff x="4842513" y="4900896"/>
            <a:chExt cx="2065541" cy="439376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4D83252-FC02-70E5-08F3-4B459CA371BF}"/>
                </a:ext>
              </a:extLst>
            </p:cNvPr>
            <p:cNvSpPr/>
            <p:nvPr/>
          </p:nvSpPr>
          <p:spPr>
            <a:xfrm flipV="1">
              <a:off x="4874671" y="4900896"/>
              <a:ext cx="2033383" cy="413398"/>
            </a:xfrm>
            <a:prstGeom prst="roundRect">
              <a:avLst/>
            </a:prstGeom>
            <a:gradFill>
              <a:gsLst>
                <a:gs pos="0">
                  <a:srgbClr val="0000FD"/>
                </a:gs>
                <a:gs pos="100000">
                  <a:srgbClr val="7F29E0">
                    <a:alpha val="49000"/>
                  </a:srgbClr>
                </a:gs>
              </a:gsLst>
              <a:lin ang="2700000" scaled="0"/>
            </a:gradFill>
            <a:ln>
              <a:noFill/>
            </a:ln>
            <a:effectLst>
              <a:outerShdw blurRad="127000" dist="38100" dir="2700000" sx="101000" sy="101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9FBD64-1EB6-5666-CB83-BFA4111BF700}"/>
                </a:ext>
              </a:extLst>
            </p:cNvPr>
            <p:cNvSpPr txBox="1"/>
            <p:nvPr/>
          </p:nvSpPr>
          <p:spPr>
            <a:xfrm>
              <a:off x="4842513" y="4900896"/>
              <a:ext cx="2033383" cy="439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solidFill>
                    <a:schemeClr val="bg1"/>
                  </a:solidFill>
                </a:rPr>
                <a:t>Чтение файлов инструментами </a:t>
              </a:r>
              <a:r>
                <a:rPr lang="en-US" sz="2400" b="1" dirty="0">
                  <a:solidFill>
                    <a:schemeClr val="bg1"/>
                  </a:solidFill>
                </a:rPr>
                <a:t>python</a:t>
              </a:r>
              <a:endParaRPr lang="ru-RU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409A5C-7FD9-504E-C487-6548E40912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23" r="42368"/>
          <a:stretch/>
        </p:blipFill>
        <p:spPr>
          <a:xfrm>
            <a:off x="3535051" y="2421359"/>
            <a:ext cx="2315229" cy="128733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534045-03BD-6797-8A8F-754176A20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35" y="2746664"/>
            <a:ext cx="2563257" cy="1355026"/>
          </a:xfrm>
          <a:prstGeom prst="rect">
            <a:avLst/>
          </a:prstGeom>
        </p:spPr>
      </p:pic>
      <p:sp>
        <p:nvSpPr>
          <p:cNvPr id="10" name="AutoShape 4">
            <a:extLst>
              <a:ext uri="{FF2B5EF4-FFF2-40B4-BE49-F238E27FC236}">
                <a16:creationId xmlns:a16="http://schemas.microsoft.com/office/drawing/2014/main" id="{1A7541A5-7D0A-12A1-9E65-00206382CC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1200" y="3924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291B98-6089-8808-7042-FB4B16C3C80D}"/>
              </a:ext>
            </a:extLst>
          </p:cNvPr>
          <p:cNvSpPr txBox="1"/>
          <p:nvPr/>
        </p:nvSpPr>
        <p:spPr>
          <a:xfrm>
            <a:off x="215900" y="254000"/>
            <a:ext cx="814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Часть 2.</a:t>
            </a:r>
          </a:p>
        </p:txBody>
      </p:sp>
    </p:spTree>
    <p:extLst>
      <p:ext uri="{BB962C8B-B14F-4D97-AF65-F5344CB8AC3E}">
        <p14:creationId xmlns:p14="http://schemas.microsoft.com/office/powerpoint/2010/main" val="140271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Pandas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224101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7B5616-57D8-9B03-29A6-F1FD14674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03" y="830621"/>
            <a:ext cx="10797190" cy="570776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BDB85BA-966E-124E-EB71-8A64D774F844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Библиотеки в 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pandas</a:t>
            </a:r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Загрузка файлов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C58C718-54A2-3D07-F2CD-952459885C8F}"/>
              </a:ext>
            </a:extLst>
          </p:cNvPr>
          <p:cNvSpPr/>
          <p:nvPr/>
        </p:nvSpPr>
        <p:spPr>
          <a:xfrm>
            <a:off x="3737641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78C1694-6C40-8BC9-446B-CC207236D27C}"/>
              </a:ext>
            </a:extLst>
          </p:cNvPr>
          <p:cNvSpPr/>
          <p:nvPr/>
        </p:nvSpPr>
        <p:spPr>
          <a:xfrm>
            <a:off x="3737641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3BF487-93D7-0B30-C441-4D33331AF053}"/>
              </a:ext>
            </a:extLst>
          </p:cNvPr>
          <p:cNvSpPr/>
          <p:nvPr/>
        </p:nvSpPr>
        <p:spPr>
          <a:xfrm>
            <a:off x="4905105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EE23C5B-1D22-C816-E804-189E14994CB5}"/>
              </a:ext>
            </a:extLst>
          </p:cNvPr>
          <p:cNvSpPr/>
          <p:nvPr/>
        </p:nvSpPr>
        <p:spPr>
          <a:xfrm>
            <a:off x="6072386" y="22760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01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A01E5-C088-375C-05CA-3B93FD6CE021}"/>
              </a:ext>
            </a:extLst>
          </p:cNvPr>
          <p:cNvSpPr txBox="1"/>
          <p:nvPr/>
        </p:nvSpPr>
        <p:spPr>
          <a:xfrm>
            <a:off x="337138" y="1001837"/>
            <a:ext cx="1161370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Для чтения </a:t>
            </a:r>
            <a:r>
              <a:rPr lang="en-US" sz="2399" dirty="0"/>
              <a:t>excel-</a:t>
            </a:r>
            <a:r>
              <a:rPr lang="ru-RU" sz="2399" dirty="0"/>
              <a:t>файла необходима функция </a:t>
            </a:r>
            <a:r>
              <a:rPr lang="en-US" sz="2399" dirty="0" err="1"/>
              <a:t>read_excel</a:t>
            </a:r>
            <a:r>
              <a:rPr lang="ru-RU" sz="2399" dirty="0"/>
              <a:t>() библиотеки </a:t>
            </a:r>
            <a:r>
              <a:rPr lang="en-US" sz="2399" dirty="0"/>
              <a:t>pandas</a:t>
            </a:r>
            <a:endParaRPr lang="ru-RU" sz="2399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CAF448-649E-D5E8-82ED-AE26C240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2" y="1572612"/>
            <a:ext cx="12188238" cy="356846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DF96FBE3-EB8A-2FBF-01BB-9AFBA8BF8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846CB0-DDDC-557C-CD1B-BDB78D4257C6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Библиотеки в 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pandas</a:t>
            </a:r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Загрузка файлов 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excel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12772A9-59D7-BD39-EE35-B2A91FDCBC8D}"/>
              </a:ext>
            </a:extLst>
          </p:cNvPr>
          <p:cNvSpPr/>
          <p:nvPr/>
        </p:nvSpPr>
        <p:spPr>
          <a:xfrm>
            <a:off x="3737641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0BA79FD-F8EB-19B5-84D6-6D2B32FC110A}"/>
              </a:ext>
            </a:extLst>
          </p:cNvPr>
          <p:cNvSpPr/>
          <p:nvPr/>
        </p:nvSpPr>
        <p:spPr>
          <a:xfrm>
            <a:off x="3737641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1C29922-A6E8-7EA7-383C-32EB512898B6}"/>
              </a:ext>
            </a:extLst>
          </p:cNvPr>
          <p:cNvSpPr/>
          <p:nvPr/>
        </p:nvSpPr>
        <p:spPr>
          <a:xfrm>
            <a:off x="4905105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6210477-0A60-C170-FDA8-F9800A2CC16D}"/>
              </a:ext>
            </a:extLst>
          </p:cNvPr>
          <p:cNvSpPr/>
          <p:nvPr/>
        </p:nvSpPr>
        <p:spPr>
          <a:xfrm>
            <a:off x="6072386" y="22760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93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4" y="1209064"/>
            <a:ext cx="7985842" cy="407972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F96FBE3-EB8A-2FBF-01BB-9AFBA8BF8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846CB0-DDDC-557C-CD1B-BDB78D4257C6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Библиотеки в 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pandas</a:t>
            </a:r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Загрузка файлов 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excel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: скругленные углы 13">
            <a:extLst>
              <a:ext uri="{FF2B5EF4-FFF2-40B4-BE49-F238E27FC236}">
                <a16:creationId xmlns:a16="http://schemas.microsoft.com/office/drawing/2014/main" id="{312772A9-59D7-BD39-EE35-B2A91FDCBC8D}"/>
              </a:ext>
            </a:extLst>
          </p:cNvPr>
          <p:cNvSpPr/>
          <p:nvPr/>
        </p:nvSpPr>
        <p:spPr>
          <a:xfrm>
            <a:off x="3737641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0" name="Прямоугольник: скругленные углы 14">
            <a:extLst>
              <a:ext uri="{FF2B5EF4-FFF2-40B4-BE49-F238E27FC236}">
                <a16:creationId xmlns:a16="http://schemas.microsoft.com/office/drawing/2014/main" id="{E0BA79FD-F8EB-19B5-84D6-6D2B32FC110A}"/>
              </a:ext>
            </a:extLst>
          </p:cNvPr>
          <p:cNvSpPr/>
          <p:nvPr/>
        </p:nvSpPr>
        <p:spPr>
          <a:xfrm>
            <a:off x="3737641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1" name="Прямоугольник: скругленные углы 15">
            <a:extLst>
              <a:ext uri="{FF2B5EF4-FFF2-40B4-BE49-F238E27FC236}">
                <a16:creationId xmlns:a16="http://schemas.microsoft.com/office/drawing/2014/main" id="{A1C29922-A6E8-7EA7-383C-32EB512898B6}"/>
              </a:ext>
            </a:extLst>
          </p:cNvPr>
          <p:cNvSpPr/>
          <p:nvPr/>
        </p:nvSpPr>
        <p:spPr>
          <a:xfrm>
            <a:off x="4905105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2" name="Прямоугольник: скругленные углы 16">
            <a:extLst>
              <a:ext uri="{FF2B5EF4-FFF2-40B4-BE49-F238E27FC236}">
                <a16:creationId xmlns:a16="http://schemas.microsoft.com/office/drawing/2014/main" id="{56210477-0A60-C170-FDA8-F9800A2CC16D}"/>
              </a:ext>
            </a:extLst>
          </p:cNvPr>
          <p:cNvSpPr/>
          <p:nvPr/>
        </p:nvSpPr>
        <p:spPr>
          <a:xfrm>
            <a:off x="6072386" y="236565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A01E5-C088-375C-05CA-3B93FD6CE021}"/>
              </a:ext>
            </a:extLst>
          </p:cNvPr>
          <p:cNvSpPr txBox="1"/>
          <p:nvPr/>
        </p:nvSpPr>
        <p:spPr>
          <a:xfrm>
            <a:off x="337138" y="1001837"/>
            <a:ext cx="1161370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Для чтения </a:t>
            </a:r>
            <a:r>
              <a:rPr lang="en-US" sz="2399" dirty="0"/>
              <a:t>excel-</a:t>
            </a:r>
            <a:r>
              <a:rPr lang="ru-RU" sz="2399" dirty="0"/>
              <a:t>файла необходима функция </a:t>
            </a:r>
            <a:r>
              <a:rPr lang="en-US" sz="2399" dirty="0" err="1"/>
              <a:t>read_excel</a:t>
            </a:r>
            <a:r>
              <a:rPr lang="ru-RU" sz="2399" dirty="0"/>
              <a:t>() библиотеки </a:t>
            </a:r>
            <a:r>
              <a:rPr lang="en-US" sz="2399" dirty="0"/>
              <a:t>pandas</a:t>
            </a:r>
            <a:endParaRPr lang="ru-RU" sz="2399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CAF448-649E-D5E8-82ED-AE26C2402B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881" b="85122"/>
          <a:stretch/>
        </p:blipFill>
        <p:spPr>
          <a:xfrm>
            <a:off x="49871" y="1572612"/>
            <a:ext cx="6717996" cy="530928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0A817F5-6476-4C3A-8E41-76BF2E718B71}"/>
              </a:ext>
            </a:extLst>
          </p:cNvPr>
          <p:cNvCxnSpPr/>
          <p:nvPr/>
        </p:nvCxnSpPr>
        <p:spPr>
          <a:xfrm>
            <a:off x="3024607" y="2103540"/>
            <a:ext cx="0" cy="269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F42733-2A25-4906-55CA-60B9693DE682}"/>
              </a:ext>
            </a:extLst>
          </p:cNvPr>
          <p:cNvSpPr txBox="1"/>
          <p:nvPr/>
        </p:nvSpPr>
        <p:spPr>
          <a:xfrm>
            <a:off x="73528" y="2423532"/>
            <a:ext cx="448677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b="1" dirty="0"/>
              <a:t>1.</a:t>
            </a:r>
            <a:r>
              <a:rPr lang="ru-RU" sz="2399" dirty="0"/>
              <a:t> Полный путь к файлу </a:t>
            </a:r>
          </a:p>
          <a:p>
            <a:r>
              <a:rPr lang="ru-RU" sz="2399" b="1" dirty="0"/>
              <a:t>или</a:t>
            </a:r>
          </a:p>
          <a:p>
            <a:r>
              <a:rPr lang="ru-RU" sz="2399" dirty="0"/>
              <a:t>Название файла, находящегося в той же папке, что и скрипт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A0238-5473-4A9F-B7CB-D2E2F862B036}"/>
              </a:ext>
            </a:extLst>
          </p:cNvPr>
          <p:cNvSpPr txBox="1"/>
          <p:nvPr/>
        </p:nvSpPr>
        <p:spPr>
          <a:xfrm>
            <a:off x="1968815" y="3980448"/>
            <a:ext cx="44867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b="1" dirty="0"/>
              <a:t>2.</a:t>
            </a:r>
            <a:r>
              <a:rPr lang="ru-RU" sz="2399" dirty="0"/>
              <a:t> Название листа книги </a:t>
            </a:r>
            <a:r>
              <a:rPr lang="en-US" sz="2399" dirty="0"/>
              <a:t>excel</a:t>
            </a:r>
            <a:endParaRPr lang="ru-RU" sz="2399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4A16914-2FA4-C42B-C789-89852A9BA3F7}"/>
              </a:ext>
            </a:extLst>
          </p:cNvPr>
          <p:cNvCxnSpPr>
            <a:cxnSpLocks/>
          </p:cNvCxnSpPr>
          <p:nvPr/>
        </p:nvCxnSpPr>
        <p:spPr>
          <a:xfrm>
            <a:off x="4944227" y="2103540"/>
            <a:ext cx="0" cy="191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41A299-C988-B0D9-735B-206CE18CE2D5}"/>
              </a:ext>
            </a:extLst>
          </p:cNvPr>
          <p:cNvSpPr txBox="1"/>
          <p:nvPr/>
        </p:nvSpPr>
        <p:spPr>
          <a:xfrm>
            <a:off x="5424133" y="4452910"/>
            <a:ext cx="671799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9" b="1" dirty="0"/>
              <a:t>3</a:t>
            </a:r>
            <a:r>
              <a:rPr lang="ru-RU" sz="2399" b="1" dirty="0"/>
              <a:t>.</a:t>
            </a:r>
            <a:r>
              <a:rPr lang="ru-RU" sz="2399" dirty="0"/>
              <a:t> Номер строки, с которой начинается считывание данных (нумерация начинается с 0)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C841A013-E85F-BF43-DE4D-AB10D75D678D}"/>
              </a:ext>
            </a:extLst>
          </p:cNvPr>
          <p:cNvCxnSpPr>
            <a:cxnSpLocks/>
          </p:cNvCxnSpPr>
          <p:nvPr/>
        </p:nvCxnSpPr>
        <p:spPr>
          <a:xfrm>
            <a:off x="6287962" y="2103540"/>
            <a:ext cx="0" cy="247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">
            <a:extLst>
              <a:ext uri="{FF2B5EF4-FFF2-40B4-BE49-F238E27FC236}">
                <a16:creationId xmlns:a16="http://schemas.microsoft.com/office/drawing/2014/main" id="{1EC6F08C-0A79-BCBE-B4B1-9CB82495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BD23F08-9A3A-9D9E-C544-AC94E3BD8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C379649-A698-A000-CCAB-A1167AF31EAD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Библиотеки в 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pandas</a:t>
            </a:r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Загрузка файлов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excel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B9661A9-AF82-A58A-B35A-E64188E165AC}"/>
              </a:ext>
            </a:extLst>
          </p:cNvPr>
          <p:cNvSpPr/>
          <p:nvPr/>
        </p:nvSpPr>
        <p:spPr>
          <a:xfrm>
            <a:off x="3737641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FE431D7-4379-860B-C694-01EA231DDB5A}"/>
              </a:ext>
            </a:extLst>
          </p:cNvPr>
          <p:cNvSpPr/>
          <p:nvPr/>
        </p:nvSpPr>
        <p:spPr>
          <a:xfrm>
            <a:off x="3737641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CF9415B-01D2-AC87-861B-E3218D5A4C77}"/>
              </a:ext>
            </a:extLst>
          </p:cNvPr>
          <p:cNvSpPr/>
          <p:nvPr/>
        </p:nvSpPr>
        <p:spPr>
          <a:xfrm>
            <a:off x="4905105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8EF3C7C4-DCD8-AA3A-634F-2A30A8836263}"/>
              </a:ext>
            </a:extLst>
          </p:cNvPr>
          <p:cNvSpPr/>
          <p:nvPr/>
        </p:nvSpPr>
        <p:spPr>
          <a:xfrm>
            <a:off x="6072386" y="22760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4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A01E5-C088-375C-05CA-3B93FD6CE021}"/>
              </a:ext>
            </a:extLst>
          </p:cNvPr>
          <p:cNvSpPr txBox="1"/>
          <p:nvPr/>
        </p:nvSpPr>
        <p:spPr>
          <a:xfrm>
            <a:off x="145175" y="531094"/>
            <a:ext cx="1161370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b="1" dirty="0"/>
              <a:t>Два способа задания листа</a:t>
            </a:r>
            <a:r>
              <a:rPr lang="ru-RU" sz="2399" dirty="0"/>
              <a:t>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7A3948-53DF-5F0D-CA39-47DC3E9B4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37" y="4542843"/>
            <a:ext cx="8062408" cy="224923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A6FAF84-D722-AABD-6E97-043191A3E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56" y="1439957"/>
            <a:ext cx="8446332" cy="24729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43935B0-9FE8-B933-65B4-17F71CCF8470}"/>
              </a:ext>
            </a:extLst>
          </p:cNvPr>
          <p:cNvSpPr txBox="1"/>
          <p:nvPr/>
        </p:nvSpPr>
        <p:spPr>
          <a:xfrm>
            <a:off x="145175" y="1023476"/>
            <a:ext cx="1204494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33" b="1" dirty="0"/>
              <a:t>Первый</a:t>
            </a:r>
            <a:r>
              <a:rPr lang="ru-RU" sz="2133" dirty="0"/>
              <a:t>: напрямую указав названия листа (это всегда строка)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3D6ED7-EC7C-08C5-AC3A-43AE0E39EF39}"/>
              </a:ext>
            </a:extLst>
          </p:cNvPr>
          <p:cNvSpPr txBox="1"/>
          <p:nvPr/>
        </p:nvSpPr>
        <p:spPr>
          <a:xfrm>
            <a:off x="163953" y="4085941"/>
            <a:ext cx="1204494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33" b="1" dirty="0"/>
              <a:t>Второй</a:t>
            </a:r>
            <a:r>
              <a:rPr lang="ru-RU" sz="2133" dirty="0"/>
              <a:t>: указав номер листа (нумерация начинается с 0)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9D67BBC-1898-5364-6AD9-FD6B7467C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0DF8934-6101-71D0-BAA0-1466A4479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5585A5D-F49F-7A1C-410C-D4ED3DB2F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61099A1-209A-8C4B-170A-5992F04C9841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Загрузка файлов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excel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145571-977C-1C62-7398-206187233131}"/>
              </a:ext>
            </a:extLst>
          </p:cNvPr>
          <p:cNvSpPr/>
          <p:nvPr/>
        </p:nvSpPr>
        <p:spPr>
          <a:xfrm>
            <a:off x="3737641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7F5708E-4218-9EF1-BB64-4234E2C66AEB}"/>
              </a:ext>
            </a:extLst>
          </p:cNvPr>
          <p:cNvSpPr/>
          <p:nvPr/>
        </p:nvSpPr>
        <p:spPr>
          <a:xfrm>
            <a:off x="3737641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B129CD0-D249-2913-25DC-F90FCE4CC718}"/>
              </a:ext>
            </a:extLst>
          </p:cNvPr>
          <p:cNvSpPr/>
          <p:nvPr/>
        </p:nvSpPr>
        <p:spPr>
          <a:xfrm>
            <a:off x="4905105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916117E-C9C0-8699-92D8-CE0385A18C8A}"/>
              </a:ext>
            </a:extLst>
          </p:cNvPr>
          <p:cNvSpPr/>
          <p:nvPr/>
        </p:nvSpPr>
        <p:spPr>
          <a:xfrm>
            <a:off x="6072386" y="22760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662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33052C-8415-1E94-7FF0-54D9BE2C0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56" y="751453"/>
            <a:ext cx="7160590" cy="1777451"/>
          </a:xfrm>
          <a:prstGeom prst="rect">
            <a:avLst/>
          </a:prstGeom>
        </p:spPr>
      </p:pic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4967DA0E-865A-9037-CDC6-DA353A16D9A3}"/>
              </a:ext>
            </a:extLst>
          </p:cNvPr>
          <p:cNvSpPr/>
          <p:nvPr/>
        </p:nvSpPr>
        <p:spPr>
          <a:xfrm>
            <a:off x="625081" y="2633633"/>
            <a:ext cx="671867" cy="959806"/>
          </a:xfrm>
          <a:prstGeom prst="downArrow">
            <a:avLst/>
          </a:prstGeom>
          <a:solidFill>
            <a:srgbClr val="38D2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DB8B2-1E7F-57F7-30D5-AD05AA59645D}"/>
              </a:ext>
            </a:extLst>
          </p:cNvPr>
          <p:cNvSpPr txBox="1"/>
          <p:nvPr/>
        </p:nvSpPr>
        <p:spPr>
          <a:xfrm>
            <a:off x="625081" y="3593438"/>
            <a:ext cx="979006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Это повторяющиеся действие, значит можно использовать цикл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FE7976-511A-633C-996D-74F05CF8E397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Загрузка файлов</a:t>
            </a:r>
            <a:r>
              <a:rPr lang="en-US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excel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6FA535C-4F91-217C-51D9-171E01960B31}"/>
              </a:ext>
            </a:extLst>
          </p:cNvPr>
          <p:cNvSpPr/>
          <p:nvPr/>
        </p:nvSpPr>
        <p:spPr>
          <a:xfrm>
            <a:off x="3737641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D42E958-F2CF-645A-60D1-932033224D80}"/>
              </a:ext>
            </a:extLst>
          </p:cNvPr>
          <p:cNvSpPr/>
          <p:nvPr/>
        </p:nvSpPr>
        <p:spPr>
          <a:xfrm>
            <a:off x="3737641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FF80A4B-ED9F-5258-9E06-4552A9DA86F8}"/>
              </a:ext>
            </a:extLst>
          </p:cNvPr>
          <p:cNvSpPr/>
          <p:nvPr/>
        </p:nvSpPr>
        <p:spPr>
          <a:xfrm>
            <a:off x="4905105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F87EC88-74F9-F85E-1153-D2A0CE05BE1B}"/>
              </a:ext>
            </a:extLst>
          </p:cNvPr>
          <p:cNvSpPr/>
          <p:nvPr/>
        </p:nvSpPr>
        <p:spPr>
          <a:xfrm>
            <a:off x="6072386" y="22760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65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3E956F-D6A5-B69D-9485-94084E5F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38" y="941047"/>
            <a:ext cx="8779804" cy="533456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E9D0D74-6857-6D85-2D25-5F103559FE84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2C33649-1D2E-746F-2BAE-A7039B195143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9AD180D-6186-9A28-AE46-8D8540E0C77B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4037A5-A22F-6E61-D5F0-79074D1E8335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85B9C67-B237-7326-4DAA-3DA4A0A61643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0834E91-57C3-1C0F-D7A9-7AACE89028F8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56606BE1-E8F1-EC74-3444-6BFEFF1F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91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672CAE-E657-7C40-A5ED-7E86B66860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9D3F2B-D48E-1A92-7F9A-492B584AB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04" y="991353"/>
            <a:ext cx="11362993" cy="4875295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7428A5-9898-D3E3-F2F2-040662AA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11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8194A24-2BFD-561A-A187-7A2C1117E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095EEF6-EFB1-5C60-C86D-29F2333A799E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90B4653-28EA-31B5-1797-5CE974D4EBC7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3B49C3A-1619-74DA-D87F-298E0570A3DC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AB59FA5-0DE7-8335-7B20-93E821EA9B4A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AC0AB88-6B45-7CCC-406B-C9CA2A11A573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0E3D01C-C574-E50D-6B3A-F2B8EFF4FECD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2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D81EBB-214E-EDEF-D258-4BA856B902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FA3771-498C-4990-E4AB-352FB873F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19" y="796937"/>
            <a:ext cx="10299762" cy="5933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9B3693-D3C8-173B-28F6-298273823F4E}"/>
              </a:ext>
            </a:extLst>
          </p:cNvPr>
          <p:cNvSpPr txBox="1"/>
          <p:nvPr/>
        </p:nvSpPr>
        <p:spPr>
          <a:xfrm>
            <a:off x="7247772" y="1275317"/>
            <a:ext cx="1919621" cy="543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6" dirty="0"/>
              <a:t>Характеристики объекта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A63079-8C53-5F89-BBBF-6FBEE6344166}"/>
              </a:ext>
            </a:extLst>
          </p:cNvPr>
          <p:cNvSpPr txBox="1"/>
          <p:nvPr/>
        </p:nvSpPr>
        <p:spPr>
          <a:xfrm>
            <a:off x="7535716" y="2217797"/>
            <a:ext cx="1514583" cy="543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6" dirty="0"/>
              <a:t>Условия для объекта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0BEB8-4B5F-32A5-D7E6-FCF8CB1A1F19}"/>
              </a:ext>
            </a:extLst>
          </p:cNvPr>
          <p:cNvSpPr txBox="1"/>
          <p:nvPr/>
        </p:nvSpPr>
        <p:spPr>
          <a:xfrm>
            <a:off x="9935242" y="2279333"/>
            <a:ext cx="1514583" cy="31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6" dirty="0"/>
              <a:t>Действие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2E64D-829F-4C4A-ED40-E8C084E184FE}"/>
              </a:ext>
            </a:extLst>
          </p:cNvPr>
          <p:cNvSpPr txBox="1"/>
          <p:nvPr/>
        </p:nvSpPr>
        <p:spPr>
          <a:xfrm>
            <a:off x="7450291" y="4120150"/>
            <a:ext cx="1514583" cy="31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6" dirty="0"/>
              <a:t>Действие 2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2E0178-D009-F0B1-C6A6-F2DC2B30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12</a:t>
            </a:fld>
            <a:endParaRPr lang="ru-RU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45CECCD-F713-203C-E548-0646A1E9A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5D3679-0D64-C5CF-4473-7A5F8FE2C280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BA85C79-8AC1-159A-2B0B-60F409DE68FB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937EF28-5926-D659-4109-89CA316D0323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C5DA443B-85B9-0C96-28AE-43921927D3EF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6B099CD-259A-C593-8D9D-D2C5E400064A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E13E58D-438A-3129-DF26-4B35FF552DC3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654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F86DE4-92BD-6A71-ADC4-C06152CE5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56B2BC-C368-43E2-5B43-9EE3ABF2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78" y="744354"/>
            <a:ext cx="9619001" cy="579403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8D71A2-73EF-6127-E413-39EBAE29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13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B87517-9127-45FC-4C74-9C43E2266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2BF863-18BB-9EB7-632F-C18A86BC3F95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DF80FBD-DDDC-6907-FF72-C7CB3CB6D13C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2851C0B-C317-6A2D-8E8E-CC6A7D30AC0D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037BFE1-48CF-E011-37CF-DBC7FE8C29D3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F202FE4-DC7D-0090-F67A-EB3C6C7D741D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0771A0E-35D0-8A5F-184E-AFFBBB8F5705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99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BE0AF5-DAF0-8E33-6703-A533182B7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ED1B81-29FE-96E9-4EF1-121761B31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62" y="787703"/>
            <a:ext cx="10177628" cy="575068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D13D9B-BDBB-D065-C91A-D32EC1C7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14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ADB4C1-1F77-A014-7B7F-6D0B60F5E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5316D2F-8857-A754-0AD1-748887BABF09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E238DEC-F209-2EF1-215F-8514158C5739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CE193DF-B46F-FA0D-2D3B-04C9615920CE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7E77599-A07A-83E9-DACD-C4BA3D3D175E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C1B25C8-5937-7D2B-FD19-41D4FE89ED35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72EB7B1-0138-91E2-F3F0-F615DA6B8994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62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9550E7-219D-E3AC-75F2-F3E89E08E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392762-FD8E-2BD1-EFA5-013FD181D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12" y="774413"/>
            <a:ext cx="10313979" cy="594287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A613BA-DEFF-47E8-D7E7-5B92E98C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15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D1DE7FF-25A2-B170-0FE3-50F2175B5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0860956-C963-1686-AB23-AC627BDF3807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8266E61-F6D5-48B5-617B-D8AAB5D5707D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F25A0E0-D32B-5717-4EBB-BAE1CCBE4BEF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4B51BC7-1FC4-02AB-4D94-24FFB56BF85F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81B2300-6577-18BF-5F02-85D98D6BB7AB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9B049B5-ADAB-66C7-475C-2E065608E5B5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91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9BB652-1ECA-4461-870D-FD661FAE62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45AEBF-539E-876E-699D-6FBD9A15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8" y="642210"/>
            <a:ext cx="11972405" cy="557358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A29DC9-E239-2FFB-9A74-F7DB7B8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16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939E323-1D20-7A98-3097-FEA8A451E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F3095B-D0C6-0DE7-4D1B-8E505F55DA15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5123F1F-4F73-1549-31C0-372267548C0A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21F1BBA-69F6-452B-E90D-AE370163B034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C22BE35-5DB4-29EE-6208-C04D4A474464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6AE1B8F-A79F-4197-7ED4-044B1B0B22C8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E6F2ADC-3CBC-8EE9-86F8-916F61D4F20B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938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720991-DFDE-6AF4-D794-970199184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34BD98-AADF-A230-3B3E-F1D393CF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0" y="820724"/>
            <a:ext cx="10440179" cy="564485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B649EE-D6CC-B9F3-AFF3-538823FF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17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087F138-384F-60B0-A684-6712ECE7C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02D2135-F348-7FDC-2BCF-FB7A0465EF42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26A231F-6F5F-9F6B-7FE7-883A0D24DBA2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785A9B6-697A-98E9-A736-171448108697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261C25F-A0F5-E0E7-224B-B32CE8647F5B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E5C57C3-95E5-96DE-D981-31BB31072E36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71D35E2-2163-F3E8-FA38-F98FA8E26C82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529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E95824DE-5E32-44DD-2965-204B819A8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</a:rPr>
              <a:t>Лекция 1. </a:t>
            </a:r>
            <a:r>
              <a:rPr lang="ru-RU" sz="426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циклами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055028-0CB7-2034-23DB-6FBBEB9616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C5BF29-2F85-A42F-3BF6-3FCA20D6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24" y="989611"/>
            <a:ext cx="10045841" cy="5798726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12C509-2928-F783-FE0A-61676328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18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8B523A7-CF94-A104-25EF-AE4351946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8A0CBE-EC3E-CD01-6DFB-0DEB428717EF}"/>
              </a:ext>
            </a:extLst>
          </p:cNvPr>
          <p:cNvSpPr/>
          <p:nvPr/>
        </p:nvSpPr>
        <p:spPr>
          <a:xfrm>
            <a:off x="145176" y="71311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Универсальные понятия.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Циклы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B8CAA42-C24F-99AE-463E-31756F7CAC4E}"/>
              </a:ext>
            </a:extLst>
          </p:cNvPr>
          <p:cNvSpPr/>
          <p:nvPr/>
        </p:nvSpPr>
        <p:spPr>
          <a:xfrm>
            <a:off x="4212203" y="23597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BBFB9C-3528-ECF1-A78A-563E29FF5921}"/>
              </a:ext>
            </a:extLst>
          </p:cNvPr>
          <p:cNvSpPr/>
          <p:nvPr/>
        </p:nvSpPr>
        <p:spPr>
          <a:xfrm>
            <a:off x="4212203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B9AAD7A-5C4A-E079-BB62-E17D56E78613}"/>
              </a:ext>
            </a:extLst>
          </p:cNvPr>
          <p:cNvSpPr/>
          <p:nvPr/>
        </p:nvSpPr>
        <p:spPr>
          <a:xfrm>
            <a:off x="5379667" y="23597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4C0F6A5-E49A-E98A-424B-F7E8BE4C8815}"/>
              </a:ext>
            </a:extLst>
          </p:cNvPr>
          <p:cNvSpPr/>
          <p:nvPr/>
        </p:nvSpPr>
        <p:spPr>
          <a:xfrm>
            <a:off x="6546948" y="23776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D5B5053-723C-389A-8342-C16EBC71D9E6}"/>
              </a:ext>
            </a:extLst>
          </p:cNvPr>
          <p:cNvSpPr/>
          <p:nvPr/>
        </p:nvSpPr>
        <p:spPr>
          <a:xfrm>
            <a:off x="7714229" y="23221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025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9E03DC-FB13-C3E7-F6C6-AE4A6B529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16" y="1362317"/>
            <a:ext cx="11210343" cy="1046806"/>
          </a:xfrm>
          <a:prstGeom prst="rect">
            <a:avLst/>
          </a:prstGeom>
        </p:spPr>
      </p:pic>
      <p:sp>
        <p:nvSpPr>
          <p:cNvPr id="8" name="Правая фигурная скобка 7">
            <a:extLst>
              <a:ext uri="{FF2B5EF4-FFF2-40B4-BE49-F238E27FC236}">
                <a16:creationId xmlns:a16="http://schemas.microsoft.com/office/drawing/2014/main" id="{74C9DAFB-B88F-C758-A27C-7275217B85F5}"/>
              </a:ext>
            </a:extLst>
          </p:cNvPr>
          <p:cNvSpPr/>
          <p:nvPr/>
        </p:nvSpPr>
        <p:spPr>
          <a:xfrm rot="16200000">
            <a:off x="6127231" y="-2166738"/>
            <a:ext cx="609411" cy="7198580"/>
          </a:xfrm>
          <a:prstGeom prst="rightBrace">
            <a:avLst/>
          </a:prstGeom>
          <a:ln w="28575">
            <a:solidFill>
              <a:srgbClr val="38D2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E2D57-3520-36C9-802A-ECAB4893FF07}"/>
              </a:ext>
            </a:extLst>
          </p:cNvPr>
          <p:cNvSpPr txBox="1"/>
          <p:nvPr/>
        </p:nvSpPr>
        <p:spPr>
          <a:xfrm>
            <a:off x="2832647" y="690451"/>
            <a:ext cx="7486520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b="1" i="1" dirty="0"/>
              <a:t>Список </a:t>
            </a:r>
            <a:r>
              <a:rPr lang="ru-RU" sz="2399" dirty="0"/>
              <a:t>названий листов </a:t>
            </a:r>
            <a:r>
              <a:rPr lang="en-US" sz="2399" dirty="0"/>
              <a:t>excel-</a:t>
            </a:r>
            <a:r>
              <a:rPr lang="ru-RU" sz="2399" dirty="0"/>
              <a:t>файла</a:t>
            </a:r>
            <a:endParaRPr lang="ru-RU" sz="2399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88198-2A4C-08C6-8031-1233A7711449}"/>
              </a:ext>
            </a:extLst>
          </p:cNvPr>
          <p:cNvSpPr txBox="1"/>
          <p:nvPr/>
        </p:nvSpPr>
        <p:spPr>
          <a:xfrm>
            <a:off x="145176" y="2473453"/>
            <a:ext cx="11767493" cy="452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99" b="1" dirty="0">
                <a:solidFill>
                  <a:srgbClr val="333333"/>
                </a:solidFill>
                <a:latin typeface="YS Text"/>
              </a:rPr>
              <a:t>Список</a:t>
            </a:r>
            <a:r>
              <a:rPr lang="ru-RU" sz="2399" dirty="0">
                <a:solidFill>
                  <a:srgbClr val="333333"/>
                </a:solidFill>
                <a:latin typeface="YS Text"/>
              </a:rPr>
              <a:t>  – это структура данных для хранения последовательности, состоящей из чисел, строк, отдельных символов. Такие последовательности могу быть как однородными</a:t>
            </a:r>
          </a:p>
          <a:p>
            <a:endParaRPr lang="en-US" sz="2399" dirty="0">
              <a:solidFill>
                <a:srgbClr val="333333"/>
              </a:solidFill>
              <a:latin typeface="YS Text"/>
            </a:endParaRPr>
          </a:p>
          <a:p>
            <a:r>
              <a:rPr lang="en-US" sz="2399" dirty="0" err="1">
                <a:solidFill>
                  <a:srgbClr val="333333"/>
                </a:solidFill>
                <a:latin typeface="YS Text"/>
              </a:rPr>
              <a:t>my_list</a:t>
            </a:r>
            <a:r>
              <a:rPr lang="en-US" sz="2399" dirty="0">
                <a:solidFill>
                  <a:srgbClr val="333333"/>
                </a:solidFill>
                <a:latin typeface="YS Text"/>
              </a:rPr>
              <a:t> = [1, ‘one’, ‘a’]</a:t>
            </a:r>
          </a:p>
          <a:p>
            <a:endParaRPr lang="en-US" sz="2399" dirty="0">
              <a:solidFill>
                <a:srgbClr val="333333"/>
              </a:solidFill>
              <a:latin typeface="YS Text"/>
            </a:endParaRPr>
          </a:p>
          <a:p>
            <a:r>
              <a:rPr lang="ru-RU" sz="2399" b="1" dirty="0">
                <a:solidFill>
                  <a:srgbClr val="333333"/>
                </a:solidFill>
                <a:latin typeface="Roboto" panose="02000000000000000000" pitchFamily="2" charset="0"/>
              </a:rPr>
              <a:t>Кортеж</a:t>
            </a:r>
            <a:r>
              <a:rPr lang="ru-RU" sz="2399" dirty="0">
                <a:solidFill>
                  <a:srgbClr val="333333"/>
                </a:solidFill>
                <a:latin typeface="Roboto" panose="02000000000000000000" pitchFamily="2" charset="0"/>
              </a:rPr>
              <a:t> похож на список, но вы создаете его с </a:t>
            </a:r>
            <a:r>
              <a:rPr lang="ru-RU" sz="2399" b="1" dirty="0">
                <a:solidFill>
                  <a:srgbClr val="333333"/>
                </a:solidFill>
                <a:latin typeface="Roboto" panose="02000000000000000000" pitchFamily="2" charset="0"/>
              </a:rPr>
              <a:t>круглыми скобками</a:t>
            </a:r>
            <a:r>
              <a:rPr lang="ru-RU" sz="2399" dirty="0">
                <a:solidFill>
                  <a:srgbClr val="333333"/>
                </a:solidFill>
                <a:latin typeface="Roboto" panose="02000000000000000000" pitchFamily="2" charset="0"/>
              </a:rPr>
              <a:t>, вместо квадратных. Вы также можете использовать встроенный инструмент для </a:t>
            </a:r>
            <a:r>
              <a:rPr lang="ru-RU" sz="2399" dirty="0">
                <a:solidFill>
                  <a:srgbClr val="000000"/>
                </a:solidFill>
                <a:latin typeface="Roboto" panose="02000000000000000000" pitchFamily="2" charset="0"/>
                <a:hlinkClick r:id="rId3"/>
              </a:rPr>
              <a:t>создания кортежей</a:t>
            </a:r>
            <a:r>
              <a:rPr lang="ru-RU" sz="2399" dirty="0">
                <a:solidFill>
                  <a:srgbClr val="333333"/>
                </a:solidFill>
                <a:latin typeface="Roboto" panose="02000000000000000000" pitchFamily="2" charset="0"/>
              </a:rPr>
              <a:t>. Разница в том, что </a:t>
            </a:r>
            <a:r>
              <a:rPr lang="ru-RU" sz="2399" b="1" dirty="0">
                <a:solidFill>
                  <a:srgbClr val="333333"/>
                </a:solidFill>
                <a:latin typeface="Roboto" panose="02000000000000000000" pitchFamily="2" charset="0"/>
              </a:rPr>
              <a:t>кортеж неизменный</a:t>
            </a:r>
            <a:r>
              <a:rPr lang="ru-RU" sz="2399" dirty="0">
                <a:solidFill>
                  <a:srgbClr val="333333"/>
                </a:solidFill>
                <a:latin typeface="Roboto" panose="02000000000000000000" pitchFamily="2" charset="0"/>
              </a:rPr>
              <a:t>, в то время как </a:t>
            </a:r>
            <a:r>
              <a:rPr lang="ru-RU" sz="2399" b="1" dirty="0">
                <a:solidFill>
                  <a:srgbClr val="333333"/>
                </a:solidFill>
                <a:latin typeface="Roboto" panose="02000000000000000000" pitchFamily="2" charset="0"/>
              </a:rPr>
              <a:t>список</a:t>
            </a:r>
            <a:r>
              <a:rPr lang="ru-RU" sz="2399" dirty="0">
                <a:solidFill>
                  <a:srgbClr val="333333"/>
                </a:solidFill>
                <a:latin typeface="Roboto" panose="02000000000000000000" pitchFamily="2" charset="0"/>
              </a:rPr>
              <a:t> может меняться.</a:t>
            </a:r>
            <a:endParaRPr lang="en-US" sz="2399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endParaRPr lang="en-US" sz="2399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r>
              <a:rPr lang="en-US" sz="2399" dirty="0" err="1">
                <a:solidFill>
                  <a:srgbClr val="333333"/>
                </a:solidFill>
                <a:latin typeface="Roboto" panose="02000000000000000000" pitchFamily="2" charset="0"/>
              </a:rPr>
              <a:t>my_tuple</a:t>
            </a:r>
            <a:r>
              <a:rPr lang="en-US" sz="2399" dirty="0">
                <a:solidFill>
                  <a:srgbClr val="333333"/>
                </a:solidFill>
                <a:latin typeface="Roboto" panose="02000000000000000000" pitchFamily="2" charset="0"/>
              </a:rPr>
              <a:t> = (1, 2, 3, 4, 5)</a:t>
            </a:r>
          </a:p>
          <a:p>
            <a:endParaRPr lang="ru-RU" sz="2399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7E6859-6BAD-EAF1-D9F8-C9998A31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19</a:t>
            </a:fld>
            <a:endParaRPr lang="ru-RU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91C416F-0427-8A91-81A7-0729AAF11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F3984FC-AA8B-29A8-B40E-F5011B178946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87EBCD8-1DA2-6A24-4455-B7792FD39177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3D8CEDE-E8A6-6F5F-120D-6C428571D526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2906C67-62CC-8CD6-1D08-031916B72D96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2238132-B23F-3022-DF16-81A50185C6A3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15E1D2A-BF60-E70D-E96B-C1E264843DF5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189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9E03DC-FB13-C3E7-F6C6-AE4A6B529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16" y="1362317"/>
            <a:ext cx="11210343" cy="1046806"/>
          </a:xfrm>
          <a:prstGeom prst="rect">
            <a:avLst/>
          </a:prstGeom>
        </p:spPr>
      </p:pic>
      <p:sp>
        <p:nvSpPr>
          <p:cNvPr id="8" name="Правая фигурная скобка 7">
            <a:extLst>
              <a:ext uri="{FF2B5EF4-FFF2-40B4-BE49-F238E27FC236}">
                <a16:creationId xmlns:a16="http://schemas.microsoft.com/office/drawing/2014/main" id="{74C9DAFB-B88F-C758-A27C-7275217B85F5}"/>
              </a:ext>
            </a:extLst>
          </p:cNvPr>
          <p:cNvSpPr/>
          <p:nvPr/>
        </p:nvSpPr>
        <p:spPr>
          <a:xfrm rot="16200000">
            <a:off x="6127231" y="-2166738"/>
            <a:ext cx="609411" cy="7198580"/>
          </a:xfrm>
          <a:prstGeom prst="rightBrace">
            <a:avLst/>
          </a:prstGeom>
          <a:ln w="28575">
            <a:solidFill>
              <a:srgbClr val="38D2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E2D57-3520-36C9-802A-ECAB4893FF07}"/>
              </a:ext>
            </a:extLst>
          </p:cNvPr>
          <p:cNvSpPr txBox="1"/>
          <p:nvPr/>
        </p:nvSpPr>
        <p:spPr>
          <a:xfrm>
            <a:off x="2832647" y="690451"/>
            <a:ext cx="7486520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b="1" i="1" dirty="0"/>
              <a:t>Список </a:t>
            </a:r>
            <a:r>
              <a:rPr lang="ru-RU" sz="2399" dirty="0"/>
              <a:t>названий листов </a:t>
            </a:r>
            <a:r>
              <a:rPr lang="en-US" sz="2399" dirty="0"/>
              <a:t>excel-</a:t>
            </a:r>
            <a:r>
              <a:rPr lang="ru-RU" sz="2399" dirty="0"/>
              <a:t>файла</a:t>
            </a:r>
            <a:endParaRPr lang="ru-RU" sz="2399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EC5BE-9667-1B9B-02AB-B57A8DCCCD25}"/>
              </a:ext>
            </a:extLst>
          </p:cNvPr>
          <p:cNvSpPr txBox="1"/>
          <p:nvPr/>
        </p:nvSpPr>
        <p:spPr>
          <a:xfrm>
            <a:off x="529099" y="2757133"/>
            <a:ext cx="11037820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В этом случае в </a:t>
            </a:r>
            <a:r>
              <a:rPr lang="en-US" sz="2399" dirty="0" err="1"/>
              <a:t>pd_SH</a:t>
            </a:r>
            <a:r>
              <a:rPr lang="ru-RU" sz="2399" dirty="0"/>
              <a:t> мы каждый раз будем перезаписывать данные.</a:t>
            </a:r>
          </a:p>
          <a:p>
            <a:r>
              <a:rPr lang="ru-RU" sz="2399" dirty="0"/>
              <a:t>Нам </a:t>
            </a:r>
            <a:r>
              <a:rPr lang="ru-RU" sz="2399" b="1" i="1" dirty="0"/>
              <a:t>необходимо </a:t>
            </a:r>
            <a:r>
              <a:rPr lang="ru-RU" sz="2399" dirty="0"/>
              <a:t>данные с каждого листа записать в отдельный массив, а потом объединить их.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A9766-BF3B-7208-EB25-EAEC224252E3}"/>
              </a:ext>
            </a:extLst>
          </p:cNvPr>
          <p:cNvSpPr txBox="1"/>
          <p:nvPr/>
        </p:nvSpPr>
        <p:spPr>
          <a:xfrm>
            <a:off x="3120588" y="4041633"/>
            <a:ext cx="5374938" cy="66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32" dirty="0" err="1"/>
              <a:t>pd.concat</a:t>
            </a:r>
            <a:r>
              <a:rPr lang="ru-RU" sz="3732" dirty="0"/>
              <a:t>(</a:t>
            </a:r>
            <a:r>
              <a:rPr lang="en-US" sz="3732" dirty="0"/>
              <a:t>[df_1, df_2]</a:t>
            </a:r>
            <a:r>
              <a:rPr lang="ru-RU" sz="3732" dirty="0"/>
              <a:t>)</a:t>
            </a:r>
          </a:p>
        </p:txBody>
      </p:sp>
      <p:sp>
        <p:nvSpPr>
          <p:cNvPr id="15" name="Правая фигурная скобка 14">
            <a:extLst>
              <a:ext uri="{FF2B5EF4-FFF2-40B4-BE49-F238E27FC236}">
                <a16:creationId xmlns:a16="http://schemas.microsoft.com/office/drawing/2014/main" id="{4F680584-BD6E-B9E3-CC33-C9C7714A8EB1}"/>
              </a:ext>
            </a:extLst>
          </p:cNvPr>
          <p:cNvSpPr/>
          <p:nvPr/>
        </p:nvSpPr>
        <p:spPr>
          <a:xfrm rot="5400000">
            <a:off x="6633193" y="3781456"/>
            <a:ext cx="287946" cy="2053871"/>
          </a:xfrm>
          <a:prstGeom prst="rightBrace">
            <a:avLst/>
          </a:prstGeom>
          <a:ln>
            <a:solidFill>
              <a:srgbClr val="38D2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319454-C0C0-6AE2-9EDE-29137768E0BA}"/>
              </a:ext>
            </a:extLst>
          </p:cNvPr>
          <p:cNvSpPr txBox="1"/>
          <p:nvPr/>
        </p:nvSpPr>
        <p:spPr>
          <a:xfrm>
            <a:off x="5232171" y="4889006"/>
            <a:ext cx="422316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99" dirty="0"/>
              <a:t>Массивы, которые нужно объединить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D93B7-D972-B384-2603-130C11095190}"/>
              </a:ext>
            </a:extLst>
          </p:cNvPr>
          <p:cNvSpPr txBox="1"/>
          <p:nvPr/>
        </p:nvSpPr>
        <p:spPr>
          <a:xfrm>
            <a:off x="3087177" y="4825649"/>
            <a:ext cx="268260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399" dirty="0"/>
              <a:t>Функция для объединения</a:t>
            </a:r>
          </a:p>
        </p:txBody>
      </p:sp>
      <p:sp>
        <p:nvSpPr>
          <p:cNvPr id="19" name="Правая фигурная скобка 18">
            <a:extLst>
              <a:ext uri="{FF2B5EF4-FFF2-40B4-BE49-F238E27FC236}">
                <a16:creationId xmlns:a16="http://schemas.microsoft.com/office/drawing/2014/main" id="{2C07530C-8C82-CA55-832E-C71A199D95C7}"/>
              </a:ext>
            </a:extLst>
          </p:cNvPr>
          <p:cNvSpPr/>
          <p:nvPr/>
        </p:nvSpPr>
        <p:spPr>
          <a:xfrm rot="5400000">
            <a:off x="4301214" y="3781455"/>
            <a:ext cx="287946" cy="2053871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AF0A266C-E8F9-EB9F-3005-912C2CFB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20</a:t>
            </a:fld>
            <a:endParaRPr lang="ru-RU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883C35E-4D81-29E8-4546-BC005DD9D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4F4BB161-4676-7FE2-5745-42DB36931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9AF139B-5487-8757-34BA-2DF3DFCF36E2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C55188B-8EF1-7285-50BE-0BA89C726283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3DF3F76-B506-BC68-4107-1EE22D90177C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77F9380-440B-8FB4-5500-B32973D2770A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F1FDE31-AB85-613D-86C6-2CF3E760E645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2718FF3-A22F-F65B-8D9C-1EF4ECC95DA3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517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2E96A7B-0D61-10B0-9C69-87050EE8BC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7" r="6631"/>
          <a:stretch/>
        </p:blipFill>
        <p:spPr>
          <a:xfrm>
            <a:off x="279150" y="2298153"/>
            <a:ext cx="2975412" cy="4575670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233B3B2-1B59-EA88-D7B6-E616A3E67D77}"/>
              </a:ext>
            </a:extLst>
          </p:cNvPr>
          <p:cNvSpPr/>
          <p:nvPr/>
        </p:nvSpPr>
        <p:spPr>
          <a:xfrm>
            <a:off x="586090" y="4760345"/>
            <a:ext cx="3609286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99" dirty="0">
                <a:solidFill>
                  <a:schemeClr val="tx1"/>
                </a:solidFill>
              </a:rPr>
              <a:t>После объединения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13F303F-13A5-D6D7-6181-948CA7152169}"/>
              </a:ext>
            </a:extLst>
          </p:cNvPr>
          <p:cNvSpPr/>
          <p:nvPr/>
        </p:nvSpPr>
        <p:spPr>
          <a:xfrm>
            <a:off x="759055" y="2069311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df_1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CC58AB-A009-A6A6-3D63-FCC42F22CB1A}"/>
              </a:ext>
            </a:extLst>
          </p:cNvPr>
          <p:cNvSpPr/>
          <p:nvPr/>
        </p:nvSpPr>
        <p:spPr>
          <a:xfrm>
            <a:off x="759055" y="3338584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df_2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776D549-DB42-666C-9C68-00BAA8EA1183}"/>
              </a:ext>
            </a:extLst>
          </p:cNvPr>
          <p:cNvSpPr/>
          <p:nvPr/>
        </p:nvSpPr>
        <p:spPr>
          <a:xfrm>
            <a:off x="1017568" y="5173150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F9372D-CA0A-905B-F32D-DAEAE32A2E81}"/>
              </a:ext>
            </a:extLst>
          </p:cNvPr>
          <p:cNvSpPr/>
          <p:nvPr/>
        </p:nvSpPr>
        <p:spPr>
          <a:xfrm>
            <a:off x="1017568" y="5848588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F2B785-EB4D-A39D-E009-716A72FD316C}"/>
              </a:ext>
            </a:extLst>
          </p:cNvPr>
          <p:cNvSpPr txBox="1"/>
          <p:nvPr/>
        </p:nvSpPr>
        <p:spPr>
          <a:xfrm>
            <a:off x="444294" y="1662772"/>
            <a:ext cx="5374938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 err="1"/>
              <a:t>pd.concat</a:t>
            </a:r>
            <a:r>
              <a:rPr lang="ru-RU" sz="2399" dirty="0"/>
              <a:t>(</a:t>
            </a:r>
            <a:r>
              <a:rPr lang="en-US" sz="2399" dirty="0"/>
              <a:t>[df_1, df_2]</a:t>
            </a:r>
            <a:r>
              <a:rPr lang="ru-RU" sz="2399" dirty="0"/>
              <a:t>)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42E470E-BD52-0AA6-9CA8-942A916EF099}"/>
              </a:ext>
            </a:extLst>
          </p:cNvPr>
          <p:cNvSpPr/>
          <p:nvPr/>
        </p:nvSpPr>
        <p:spPr>
          <a:xfrm>
            <a:off x="1488910" y="2382549"/>
            <a:ext cx="383924" cy="662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EBFA123-EB65-8F76-8BE1-97FFF60F6577}"/>
              </a:ext>
            </a:extLst>
          </p:cNvPr>
          <p:cNvSpPr/>
          <p:nvPr/>
        </p:nvSpPr>
        <p:spPr>
          <a:xfrm>
            <a:off x="1500085" y="5162237"/>
            <a:ext cx="383924" cy="662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31" name="Соединитель: изогнутый 30">
            <a:extLst>
              <a:ext uri="{FF2B5EF4-FFF2-40B4-BE49-F238E27FC236}">
                <a16:creationId xmlns:a16="http://schemas.microsoft.com/office/drawing/2014/main" id="{E55C20AE-834F-5D96-A849-09096FE3E63E}"/>
              </a:ext>
            </a:extLst>
          </p:cNvPr>
          <p:cNvCxnSpPr>
            <a:stCxn id="28" idx="3"/>
            <a:endCxn id="29" idx="3"/>
          </p:cNvCxnSpPr>
          <p:nvPr/>
        </p:nvCxnSpPr>
        <p:spPr>
          <a:xfrm>
            <a:off x="1872834" y="2713813"/>
            <a:ext cx="11175" cy="2779689"/>
          </a:xfrm>
          <a:prstGeom prst="curvedConnector3">
            <a:avLst>
              <a:gd name="adj1" fmla="val 224067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26D508-1E27-AAAB-FD27-FE31E8DD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21</a:t>
            </a:fld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B48F56B-86FC-D1B2-97EE-3665E75593A3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4CC1F13-6C76-5BCD-94E1-B0353BF5C07B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88E6637-964D-8797-4687-22BDA80DA470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F5D802C-8651-9CE3-524B-E55FFB751EFC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088FAB0-0616-1AC0-6B83-CA7DED2096A4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E52BB56-A87B-039E-CA42-5EB7A760362B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82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A9766-BF3B-7208-EB25-EAEC224252E3}"/>
              </a:ext>
            </a:extLst>
          </p:cNvPr>
          <p:cNvSpPr txBox="1"/>
          <p:nvPr/>
        </p:nvSpPr>
        <p:spPr>
          <a:xfrm>
            <a:off x="4424217" y="1662772"/>
            <a:ext cx="4455233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 err="1"/>
              <a:t>pd.concat</a:t>
            </a:r>
            <a:r>
              <a:rPr lang="ru-RU" sz="2399" dirty="0"/>
              <a:t>(</a:t>
            </a:r>
            <a:r>
              <a:rPr lang="en-US" sz="2399" dirty="0"/>
              <a:t>[df_1, df_2]</a:t>
            </a:r>
            <a:r>
              <a:rPr lang="ru-RU" sz="2399" dirty="0"/>
              <a:t>, </a:t>
            </a:r>
            <a:r>
              <a:rPr lang="en-US" sz="2399" dirty="0">
                <a:solidFill>
                  <a:srgbClr val="FF0000"/>
                </a:solidFill>
              </a:rPr>
              <a:t>axis = 1</a:t>
            </a:r>
            <a:r>
              <a:rPr lang="ru-RU" sz="2399" dirty="0"/>
              <a:t>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2E96A7B-0D61-10B0-9C69-87050EE8BC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7" r="6631"/>
          <a:stretch/>
        </p:blipFill>
        <p:spPr>
          <a:xfrm>
            <a:off x="279150" y="2298153"/>
            <a:ext cx="2975412" cy="4575670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233B3B2-1B59-EA88-D7B6-E616A3E67D77}"/>
              </a:ext>
            </a:extLst>
          </p:cNvPr>
          <p:cNvSpPr/>
          <p:nvPr/>
        </p:nvSpPr>
        <p:spPr>
          <a:xfrm>
            <a:off x="586090" y="4760345"/>
            <a:ext cx="3609286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99" dirty="0">
                <a:solidFill>
                  <a:schemeClr val="tx1"/>
                </a:solidFill>
              </a:rPr>
              <a:t>После объединения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13F303F-13A5-D6D7-6181-948CA7152169}"/>
              </a:ext>
            </a:extLst>
          </p:cNvPr>
          <p:cNvSpPr/>
          <p:nvPr/>
        </p:nvSpPr>
        <p:spPr>
          <a:xfrm>
            <a:off x="759055" y="2069311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df_1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CC58AB-A009-A6A6-3D63-FCC42F22CB1A}"/>
              </a:ext>
            </a:extLst>
          </p:cNvPr>
          <p:cNvSpPr/>
          <p:nvPr/>
        </p:nvSpPr>
        <p:spPr>
          <a:xfrm>
            <a:off x="759055" y="3338584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df_2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776D549-DB42-666C-9C68-00BAA8EA1183}"/>
              </a:ext>
            </a:extLst>
          </p:cNvPr>
          <p:cNvSpPr/>
          <p:nvPr/>
        </p:nvSpPr>
        <p:spPr>
          <a:xfrm>
            <a:off x="1017568" y="5173150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F9372D-CA0A-905B-F32D-DAEAE32A2E81}"/>
              </a:ext>
            </a:extLst>
          </p:cNvPr>
          <p:cNvSpPr/>
          <p:nvPr/>
        </p:nvSpPr>
        <p:spPr>
          <a:xfrm>
            <a:off x="1017568" y="5848588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pic>
        <p:nvPicPr>
          <p:cNvPr id="10242" name="Picture 2" descr="Pandas concat() function">
            <a:extLst>
              <a:ext uri="{FF2B5EF4-FFF2-40B4-BE49-F238E27FC236}">
                <a16:creationId xmlns:a16="http://schemas.microsoft.com/office/drawing/2014/main" id="{9C96136C-2349-4787-22D0-65B20D376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944" y="2242389"/>
            <a:ext cx="2161886" cy="450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F2B785-EB4D-A39D-E009-716A72FD316C}"/>
              </a:ext>
            </a:extLst>
          </p:cNvPr>
          <p:cNvSpPr txBox="1"/>
          <p:nvPr/>
        </p:nvSpPr>
        <p:spPr>
          <a:xfrm>
            <a:off x="444294" y="1662772"/>
            <a:ext cx="5374938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 err="1"/>
              <a:t>pd.concat</a:t>
            </a:r>
            <a:r>
              <a:rPr lang="ru-RU" sz="2399" dirty="0"/>
              <a:t>(</a:t>
            </a:r>
            <a:r>
              <a:rPr lang="en-US" sz="2399" dirty="0"/>
              <a:t>[df_1, df_2]</a:t>
            </a:r>
            <a:r>
              <a:rPr lang="ru-RU" sz="2399" dirty="0"/>
              <a:t>)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3CC4DFA-0C72-549D-BF6B-DB55B6EB1720}"/>
              </a:ext>
            </a:extLst>
          </p:cNvPr>
          <p:cNvSpPr/>
          <p:nvPr/>
        </p:nvSpPr>
        <p:spPr>
          <a:xfrm>
            <a:off x="4511891" y="2187180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df_1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CBC87F-10B7-30BF-3E42-77262BAABBC5}"/>
              </a:ext>
            </a:extLst>
          </p:cNvPr>
          <p:cNvSpPr/>
          <p:nvPr/>
        </p:nvSpPr>
        <p:spPr>
          <a:xfrm>
            <a:off x="4511891" y="3456453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df_2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42E470E-BD52-0AA6-9CA8-942A916EF099}"/>
              </a:ext>
            </a:extLst>
          </p:cNvPr>
          <p:cNvSpPr/>
          <p:nvPr/>
        </p:nvSpPr>
        <p:spPr>
          <a:xfrm>
            <a:off x="1488910" y="2382549"/>
            <a:ext cx="383924" cy="662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EBFA123-EB65-8F76-8BE1-97FFF60F6577}"/>
              </a:ext>
            </a:extLst>
          </p:cNvPr>
          <p:cNvSpPr/>
          <p:nvPr/>
        </p:nvSpPr>
        <p:spPr>
          <a:xfrm>
            <a:off x="1500085" y="5162237"/>
            <a:ext cx="383924" cy="662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31" name="Соединитель: изогнутый 30">
            <a:extLst>
              <a:ext uri="{FF2B5EF4-FFF2-40B4-BE49-F238E27FC236}">
                <a16:creationId xmlns:a16="http://schemas.microsoft.com/office/drawing/2014/main" id="{E55C20AE-834F-5D96-A849-09096FE3E63E}"/>
              </a:ext>
            </a:extLst>
          </p:cNvPr>
          <p:cNvCxnSpPr>
            <a:stCxn id="28" idx="3"/>
            <a:endCxn id="29" idx="3"/>
          </p:cNvCxnSpPr>
          <p:nvPr/>
        </p:nvCxnSpPr>
        <p:spPr>
          <a:xfrm>
            <a:off x="1872834" y="2713813"/>
            <a:ext cx="11175" cy="2779689"/>
          </a:xfrm>
          <a:prstGeom prst="curvedConnector3">
            <a:avLst>
              <a:gd name="adj1" fmla="val 224067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FB63E1-CE0F-3F94-178A-C919D3526BD7}"/>
              </a:ext>
            </a:extLst>
          </p:cNvPr>
          <p:cNvSpPr/>
          <p:nvPr/>
        </p:nvSpPr>
        <p:spPr>
          <a:xfrm>
            <a:off x="5145733" y="3955603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E561B60-64EE-7403-B28D-EF891F690EA5}"/>
              </a:ext>
            </a:extLst>
          </p:cNvPr>
          <p:cNvSpPr/>
          <p:nvPr/>
        </p:nvSpPr>
        <p:spPr>
          <a:xfrm>
            <a:off x="5318941" y="5761192"/>
            <a:ext cx="363994" cy="931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6" name="Соединитель: изогнутый 5">
            <a:extLst>
              <a:ext uri="{FF2B5EF4-FFF2-40B4-BE49-F238E27FC236}">
                <a16:creationId xmlns:a16="http://schemas.microsoft.com/office/drawing/2014/main" id="{C95F1E77-3C03-2CA0-03E3-D2CB086E6E64}"/>
              </a:ext>
            </a:extLst>
          </p:cNvPr>
          <p:cNvCxnSpPr>
            <a:cxnSpLocks/>
            <a:stCxn id="3" idx="3"/>
            <a:endCxn id="5" idx="3"/>
          </p:cNvCxnSpPr>
          <p:nvPr/>
        </p:nvCxnSpPr>
        <p:spPr>
          <a:xfrm>
            <a:off x="5509728" y="4264097"/>
            <a:ext cx="173208" cy="1962677"/>
          </a:xfrm>
          <a:prstGeom prst="curvedConnector3">
            <a:avLst>
              <a:gd name="adj1" fmla="val 2759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4084F842-BBC0-9C1D-CF29-3EBDD78A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22</a:t>
            </a:fld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F57157F-91CD-9C3C-656C-D91273D50BA7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E1164D9-CEE7-B1B5-4D5E-BA0AB5DA7AA2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0352850-F73B-B78A-3333-88F00130C3A5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C03686A-3167-A820-B470-2D95A081EB8C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D802D37-C096-A02A-232D-D9C016FF4511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6A1539EC-333B-8597-A789-72BFDF9EE153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8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A9766-BF3B-7208-EB25-EAEC224252E3}"/>
              </a:ext>
            </a:extLst>
          </p:cNvPr>
          <p:cNvSpPr txBox="1"/>
          <p:nvPr/>
        </p:nvSpPr>
        <p:spPr>
          <a:xfrm>
            <a:off x="7773253" y="1271291"/>
            <a:ext cx="4455233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 err="1"/>
              <a:t>pd.concat</a:t>
            </a:r>
            <a:r>
              <a:rPr lang="ru-RU" sz="2399" dirty="0"/>
              <a:t>(</a:t>
            </a:r>
            <a:r>
              <a:rPr lang="en-US" sz="2399" dirty="0"/>
              <a:t>[df_1, df_2]</a:t>
            </a:r>
            <a:r>
              <a:rPr lang="ru-RU" sz="2399" dirty="0"/>
              <a:t>, </a:t>
            </a:r>
            <a:r>
              <a:rPr lang="en-US" sz="2399" dirty="0">
                <a:solidFill>
                  <a:srgbClr val="FF0000"/>
                </a:solidFill>
              </a:rPr>
              <a:t>axis = 1</a:t>
            </a:r>
            <a:r>
              <a:rPr lang="ru-RU" sz="2399" dirty="0"/>
              <a:t>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2E96A7B-0D61-10B0-9C69-87050EE8BC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7" r="6631"/>
          <a:stretch/>
        </p:blipFill>
        <p:spPr>
          <a:xfrm>
            <a:off x="279150" y="2298153"/>
            <a:ext cx="2975412" cy="4575670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233B3B2-1B59-EA88-D7B6-E616A3E67D77}"/>
              </a:ext>
            </a:extLst>
          </p:cNvPr>
          <p:cNvSpPr/>
          <p:nvPr/>
        </p:nvSpPr>
        <p:spPr>
          <a:xfrm>
            <a:off x="586090" y="4760345"/>
            <a:ext cx="3609286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99" dirty="0">
                <a:solidFill>
                  <a:schemeClr val="tx1"/>
                </a:solidFill>
              </a:rPr>
              <a:t>После объединения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13F303F-13A5-D6D7-6181-948CA7152169}"/>
              </a:ext>
            </a:extLst>
          </p:cNvPr>
          <p:cNvSpPr/>
          <p:nvPr/>
        </p:nvSpPr>
        <p:spPr>
          <a:xfrm>
            <a:off x="759055" y="2069311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df_1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CC58AB-A009-A6A6-3D63-FCC42F22CB1A}"/>
              </a:ext>
            </a:extLst>
          </p:cNvPr>
          <p:cNvSpPr/>
          <p:nvPr/>
        </p:nvSpPr>
        <p:spPr>
          <a:xfrm>
            <a:off x="759055" y="3338584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df_2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776D549-DB42-666C-9C68-00BAA8EA1183}"/>
              </a:ext>
            </a:extLst>
          </p:cNvPr>
          <p:cNvSpPr/>
          <p:nvPr/>
        </p:nvSpPr>
        <p:spPr>
          <a:xfrm>
            <a:off x="1017568" y="5173150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F9372D-CA0A-905B-F32D-DAEAE32A2E81}"/>
              </a:ext>
            </a:extLst>
          </p:cNvPr>
          <p:cNvSpPr/>
          <p:nvPr/>
        </p:nvSpPr>
        <p:spPr>
          <a:xfrm>
            <a:off x="1017568" y="5848588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pic>
        <p:nvPicPr>
          <p:cNvPr id="10242" name="Picture 2" descr="Pandas concat() function">
            <a:extLst>
              <a:ext uri="{FF2B5EF4-FFF2-40B4-BE49-F238E27FC236}">
                <a16:creationId xmlns:a16="http://schemas.microsoft.com/office/drawing/2014/main" id="{9C96136C-2349-4787-22D0-65B20D376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907" y="2188426"/>
            <a:ext cx="2161886" cy="450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F2B785-EB4D-A39D-E009-716A72FD316C}"/>
              </a:ext>
            </a:extLst>
          </p:cNvPr>
          <p:cNvSpPr txBox="1"/>
          <p:nvPr/>
        </p:nvSpPr>
        <p:spPr>
          <a:xfrm>
            <a:off x="444294" y="1281528"/>
            <a:ext cx="3348161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 err="1"/>
              <a:t>pd.concat</a:t>
            </a:r>
            <a:r>
              <a:rPr lang="ru-RU" sz="2399" dirty="0"/>
              <a:t>(</a:t>
            </a:r>
            <a:r>
              <a:rPr lang="en-US" sz="2399" dirty="0"/>
              <a:t>[df_1, df_2]</a:t>
            </a:r>
            <a:r>
              <a:rPr lang="ru-RU" sz="2399" dirty="0"/>
              <a:t>)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3CC4DFA-0C72-549D-BF6B-DB55B6EB1720}"/>
              </a:ext>
            </a:extLst>
          </p:cNvPr>
          <p:cNvSpPr/>
          <p:nvPr/>
        </p:nvSpPr>
        <p:spPr>
          <a:xfrm>
            <a:off x="7965855" y="2133217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df_1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CBC87F-10B7-30BF-3E42-77262BAABBC5}"/>
              </a:ext>
            </a:extLst>
          </p:cNvPr>
          <p:cNvSpPr/>
          <p:nvPr/>
        </p:nvSpPr>
        <p:spPr>
          <a:xfrm>
            <a:off x="7965855" y="3402489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df_2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42E470E-BD52-0AA6-9CA8-942A916EF099}"/>
              </a:ext>
            </a:extLst>
          </p:cNvPr>
          <p:cNvSpPr/>
          <p:nvPr/>
        </p:nvSpPr>
        <p:spPr>
          <a:xfrm>
            <a:off x="1488910" y="2382549"/>
            <a:ext cx="383924" cy="662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FB63E1-CE0F-3F94-178A-C919D3526BD7}"/>
              </a:ext>
            </a:extLst>
          </p:cNvPr>
          <p:cNvSpPr/>
          <p:nvPr/>
        </p:nvSpPr>
        <p:spPr>
          <a:xfrm>
            <a:off x="8599697" y="3901640"/>
            <a:ext cx="363994" cy="61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E561B60-64EE-7403-B28D-EF891F690EA5}"/>
              </a:ext>
            </a:extLst>
          </p:cNvPr>
          <p:cNvSpPr/>
          <p:nvPr/>
        </p:nvSpPr>
        <p:spPr>
          <a:xfrm>
            <a:off x="8772905" y="5707229"/>
            <a:ext cx="363994" cy="931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6" name="Соединитель: изогнутый 5">
            <a:extLst>
              <a:ext uri="{FF2B5EF4-FFF2-40B4-BE49-F238E27FC236}">
                <a16:creationId xmlns:a16="http://schemas.microsoft.com/office/drawing/2014/main" id="{C95F1E77-3C03-2CA0-03E3-D2CB086E6E64}"/>
              </a:ext>
            </a:extLst>
          </p:cNvPr>
          <p:cNvCxnSpPr>
            <a:cxnSpLocks/>
            <a:stCxn id="3" idx="3"/>
            <a:endCxn id="5" idx="3"/>
          </p:cNvCxnSpPr>
          <p:nvPr/>
        </p:nvCxnSpPr>
        <p:spPr>
          <a:xfrm>
            <a:off x="8963691" y="4210134"/>
            <a:ext cx="173208" cy="1962677"/>
          </a:xfrm>
          <a:prstGeom prst="curvedConnector3">
            <a:avLst>
              <a:gd name="adj1" fmla="val 2759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89B9CE-7509-A111-2324-341EF1184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7" r="6631" b="7538"/>
          <a:stretch/>
        </p:blipFill>
        <p:spPr>
          <a:xfrm>
            <a:off x="3897880" y="2353191"/>
            <a:ext cx="2975412" cy="418519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318C69-EE4F-5302-0B47-64EA22531602}"/>
              </a:ext>
            </a:extLst>
          </p:cNvPr>
          <p:cNvSpPr/>
          <p:nvPr/>
        </p:nvSpPr>
        <p:spPr>
          <a:xfrm>
            <a:off x="4204820" y="4815383"/>
            <a:ext cx="3609286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99" dirty="0">
                <a:solidFill>
                  <a:schemeClr val="tx1"/>
                </a:solidFill>
              </a:rPr>
              <a:t>После объединения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F28CDB4-C5D9-9588-0A23-0ADAD53707C6}"/>
              </a:ext>
            </a:extLst>
          </p:cNvPr>
          <p:cNvSpPr/>
          <p:nvPr/>
        </p:nvSpPr>
        <p:spPr>
          <a:xfrm>
            <a:off x="4377785" y="2124349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df_1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E397FF3-63B4-D511-222C-0D8E9E3B76BF}"/>
              </a:ext>
            </a:extLst>
          </p:cNvPr>
          <p:cNvSpPr/>
          <p:nvPr/>
        </p:nvSpPr>
        <p:spPr>
          <a:xfrm>
            <a:off x="4377785" y="3393621"/>
            <a:ext cx="1631678" cy="31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dirty="0">
                <a:solidFill>
                  <a:schemeClr val="tx1"/>
                </a:solidFill>
              </a:rPr>
              <a:t>df_2</a:t>
            </a:r>
            <a:endParaRPr lang="ru-RU" sz="2399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F1105-7464-5651-1C32-FAB9735B1472}"/>
              </a:ext>
            </a:extLst>
          </p:cNvPr>
          <p:cNvSpPr txBox="1"/>
          <p:nvPr/>
        </p:nvSpPr>
        <p:spPr>
          <a:xfrm>
            <a:off x="4107217" y="1255648"/>
            <a:ext cx="3348161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9" dirty="0" err="1"/>
              <a:t>pd.concat</a:t>
            </a:r>
            <a:r>
              <a:rPr lang="ru-RU" sz="2399" dirty="0"/>
              <a:t>(</a:t>
            </a:r>
            <a:r>
              <a:rPr lang="en-US" sz="2399" dirty="0"/>
              <a:t>[df_1, df_2], </a:t>
            </a:r>
            <a:r>
              <a:rPr lang="en-US" sz="2399" dirty="0" err="1">
                <a:solidFill>
                  <a:srgbClr val="FF0000"/>
                </a:solidFill>
              </a:rPr>
              <a:t>ignore_index</a:t>
            </a:r>
            <a:r>
              <a:rPr lang="en-US" sz="2399" dirty="0">
                <a:solidFill>
                  <a:srgbClr val="FF0000"/>
                </a:solidFill>
              </a:rPr>
              <a:t>= True</a:t>
            </a:r>
            <a:r>
              <a:rPr lang="ru-RU" sz="2399" dirty="0"/>
              <a:t>)</a:t>
            </a:r>
          </a:p>
        </p:txBody>
      </p:sp>
      <p:sp>
        <p:nvSpPr>
          <p:cNvPr id="10240" name="Прямоугольник 10239">
            <a:extLst>
              <a:ext uri="{FF2B5EF4-FFF2-40B4-BE49-F238E27FC236}">
                <a16:creationId xmlns:a16="http://schemas.microsoft.com/office/drawing/2014/main" id="{BDA39C22-1ED9-48CF-B3E3-F2275212B4D7}"/>
              </a:ext>
            </a:extLst>
          </p:cNvPr>
          <p:cNvSpPr/>
          <p:nvPr/>
        </p:nvSpPr>
        <p:spPr>
          <a:xfrm>
            <a:off x="4175446" y="1670028"/>
            <a:ext cx="2496440" cy="3992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 dirty="0"/>
          </a:p>
        </p:txBody>
      </p:sp>
      <p:cxnSp>
        <p:nvCxnSpPr>
          <p:cNvPr id="10243" name="Соединитель: изогнутый 10242">
            <a:extLst>
              <a:ext uri="{FF2B5EF4-FFF2-40B4-BE49-F238E27FC236}">
                <a16:creationId xmlns:a16="http://schemas.microsoft.com/office/drawing/2014/main" id="{CEFC93A2-FF5F-44EA-2403-3F644B0AC198}"/>
              </a:ext>
            </a:extLst>
          </p:cNvPr>
          <p:cNvCxnSpPr>
            <a:cxnSpLocks/>
            <a:endCxn id="10244" idx="1"/>
          </p:cNvCxnSpPr>
          <p:nvPr/>
        </p:nvCxnSpPr>
        <p:spPr>
          <a:xfrm rot="16200000" flipH="1">
            <a:off x="2378926" y="3631533"/>
            <a:ext cx="3985340" cy="52876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4" name="TextBox 10243">
            <a:extLst>
              <a:ext uri="{FF2B5EF4-FFF2-40B4-BE49-F238E27FC236}">
                <a16:creationId xmlns:a16="http://schemas.microsoft.com/office/drawing/2014/main" id="{F80EE421-BEB6-31A7-9DF0-27B91A5F6D9C}"/>
              </a:ext>
            </a:extLst>
          </p:cNvPr>
          <p:cNvSpPr txBox="1"/>
          <p:nvPr/>
        </p:nvSpPr>
        <p:spPr>
          <a:xfrm>
            <a:off x="4635978" y="5165695"/>
            <a:ext cx="391011" cy="1445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66" dirty="0"/>
              <a:t>0</a:t>
            </a:r>
          </a:p>
          <a:p>
            <a:r>
              <a:rPr lang="en-US" sz="1466" dirty="0"/>
              <a:t>1</a:t>
            </a:r>
          </a:p>
          <a:p>
            <a:r>
              <a:rPr lang="en-US" sz="1466" dirty="0"/>
              <a:t>2</a:t>
            </a:r>
          </a:p>
          <a:p>
            <a:r>
              <a:rPr lang="en-US" sz="1466" dirty="0"/>
              <a:t>3</a:t>
            </a:r>
          </a:p>
          <a:p>
            <a:r>
              <a:rPr lang="en-US" sz="1466" dirty="0"/>
              <a:t>4</a:t>
            </a:r>
          </a:p>
          <a:p>
            <a:r>
              <a:rPr lang="en-US" sz="1466" dirty="0"/>
              <a:t>5</a:t>
            </a:r>
            <a:endParaRPr lang="ru-RU" sz="1466" dirty="0"/>
          </a:p>
        </p:txBody>
      </p:sp>
      <p:sp>
        <p:nvSpPr>
          <p:cNvPr id="10253" name="Прямоугольник 10252">
            <a:extLst>
              <a:ext uri="{FF2B5EF4-FFF2-40B4-BE49-F238E27FC236}">
                <a16:creationId xmlns:a16="http://schemas.microsoft.com/office/drawing/2014/main" id="{8C9D05E7-ADCB-E887-3BED-CB83BA30F492}"/>
              </a:ext>
            </a:extLst>
          </p:cNvPr>
          <p:cNvSpPr/>
          <p:nvPr/>
        </p:nvSpPr>
        <p:spPr>
          <a:xfrm>
            <a:off x="4602776" y="5121114"/>
            <a:ext cx="424213" cy="1475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10254" name="Соединитель: изогнутый 10253">
            <a:extLst>
              <a:ext uri="{FF2B5EF4-FFF2-40B4-BE49-F238E27FC236}">
                <a16:creationId xmlns:a16="http://schemas.microsoft.com/office/drawing/2014/main" id="{1249A3AB-1F18-2011-059C-3BD08AD95148}"/>
              </a:ext>
            </a:extLst>
          </p:cNvPr>
          <p:cNvCxnSpPr>
            <a:cxnSpLocks/>
            <a:endCxn id="3" idx="3"/>
          </p:cNvCxnSpPr>
          <p:nvPr/>
        </p:nvCxnSpPr>
        <p:spPr>
          <a:xfrm rot="5400000">
            <a:off x="8947265" y="1686455"/>
            <a:ext cx="2540105" cy="25072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F6DFDEDB-5C97-88B5-1DD0-EE1DCFB3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23</a:t>
            </a:fld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9DF8B6E-BB6E-B694-8105-AFF111E7B311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E9CD4DD5-82F7-9399-DE6E-CF34730FF76F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10F05BF-1C90-78B0-B81C-C2E4A0939BE0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0241" name="Прямоугольник: скругленные углы 10240">
            <a:extLst>
              <a:ext uri="{FF2B5EF4-FFF2-40B4-BE49-F238E27FC236}">
                <a16:creationId xmlns:a16="http://schemas.microsoft.com/office/drawing/2014/main" id="{830B5742-1C4F-4943-4F58-0E459175BD95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0245" name="Прямоугольник: скругленные углы 10244">
            <a:extLst>
              <a:ext uri="{FF2B5EF4-FFF2-40B4-BE49-F238E27FC236}">
                <a16:creationId xmlns:a16="http://schemas.microsoft.com/office/drawing/2014/main" id="{0543EBCA-32F2-38A3-D957-F0DB4A05D843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0246" name="Прямоугольник: скругленные углы 10245">
            <a:extLst>
              <a:ext uri="{FF2B5EF4-FFF2-40B4-BE49-F238E27FC236}">
                <a16:creationId xmlns:a16="http://schemas.microsoft.com/office/drawing/2014/main" id="{5EF447BA-3245-F8F3-2B6D-F041D47D470D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004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9E03DC-FB13-C3E7-F6C6-AE4A6B529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16" y="1362317"/>
            <a:ext cx="11210343" cy="1046806"/>
          </a:xfrm>
          <a:prstGeom prst="rect">
            <a:avLst/>
          </a:prstGeom>
        </p:spPr>
      </p:pic>
      <p:sp>
        <p:nvSpPr>
          <p:cNvPr id="8" name="Правая фигурная скобка 7">
            <a:extLst>
              <a:ext uri="{FF2B5EF4-FFF2-40B4-BE49-F238E27FC236}">
                <a16:creationId xmlns:a16="http://schemas.microsoft.com/office/drawing/2014/main" id="{74C9DAFB-B88F-C758-A27C-7275217B85F5}"/>
              </a:ext>
            </a:extLst>
          </p:cNvPr>
          <p:cNvSpPr/>
          <p:nvPr/>
        </p:nvSpPr>
        <p:spPr>
          <a:xfrm rot="16200000">
            <a:off x="6127231" y="-2166738"/>
            <a:ext cx="609411" cy="7198580"/>
          </a:xfrm>
          <a:prstGeom prst="rightBrace">
            <a:avLst/>
          </a:prstGeom>
          <a:ln w="28575">
            <a:solidFill>
              <a:srgbClr val="38D2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E2D57-3520-36C9-802A-ECAB4893FF07}"/>
              </a:ext>
            </a:extLst>
          </p:cNvPr>
          <p:cNvSpPr txBox="1"/>
          <p:nvPr/>
        </p:nvSpPr>
        <p:spPr>
          <a:xfrm>
            <a:off x="2832647" y="690451"/>
            <a:ext cx="7486520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b="1" i="1" dirty="0"/>
              <a:t>Список </a:t>
            </a:r>
            <a:r>
              <a:rPr lang="ru-RU" sz="2399" dirty="0"/>
              <a:t>названий листов </a:t>
            </a:r>
            <a:r>
              <a:rPr lang="en-US" sz="2399" dirty="0"/>
              <a:t>excel-</a:t>
            </a:r>
            <a:r>
              <a:rPr lang="ru-RU" sz="2399" dirty="0"/>
              <a:t>файла</a:t>
            </a:r>
            <a:endParaRPr lang="ru-RU" sz="2399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EC5BE-9667-1B9B-02AB-B57A8DCCCD25}"/>
              </a:ext>
            </a:extLst>
          </p:cNvPr>
          <p:cNvSpPr txBox="1"/>
          <p:nvPr/>
        </p:nvSpPr>
        <p:spPr>
          <a:xfrm>
            <a:off x="577090" y="2403945"/>
            <a:ext cx="11037820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В этом случае в </a:t>
            </a:r>
            <a:r>
              <a:rPr lang="en-US" sz="2399" dirty="0" err="1"/>
              <a:t>pd_SH</a:t>
            </a:r>
            <a:r>
              <a:rPr lang="ru-RU" sz="2399" dirty="0"/>
              <a:t> мы каждый раз будем перезаписывать данные.</a:t>
            </a:r>
          </a:p>
          <a:p>
            <a:r>
              <a:rPr lang="ru-RU" sz="2399" dirty="0"/>
              <a:t>Нам </a:t>
            </a:r>
            <a:r>
              <a:rPr lang="ru-RU" sz="2399" b="1" i="1" dirty="0"/>
              <a:t>необходимо </a:t>
            </a:r>
            <a:r>
              <a:rPr lang="ru-RU" sz="2399" dirty="0"/>
              <a:t>данные с каждого листа записать в отдельный массив, а потом объединить их.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957DD-1C91-CECF-8F66-130741EABB4A}"/>
              </a:ext>
            </a:extLst>
          </p:cNvPr>
          <p:cNvSpPr txBox="1"/>
          <p:nvPr/>
        </p:nvSpPr>
        <p:spPr>
          <a:xfrm>
            <a:off x="2613598" y="3354415"/>
            <a:ext cx="8150884" cy="91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66" dirty="0" err="1"/>
              <a:t>remarks</a:t>
            </a:r>
            <a:r>
              <a:rPr lang="ru-RU" sz="2666" dirty="0"/>
              <a:t>=</a:t>
            </a:r>
            <a:r>
              <a:rPr lang="ru-RU" sz="2666" dirty="0" err="1"/>
              <a:t>pd.DataFrame</a:t>
            </a:r>
            <a:r>
              <a:rPr lang="ru-RU" sz="2666" dirty="0"/>
              <a:t>()</a:t>
            </a:r>
          </a:p>
          <a:p>
            <a:r>
              <a:rPr lang="en-US" sz="2666" dirty="0"/>
              <a:t>remarks=</a:t>
            </a:r>
            <a:r>
              <a:rPr lang="en-US" sz="2666" dirty="0" err="1"/>
              <a:t>pd.concat</a:t>
            </a:r>
            <a:r>
              <a:rPr lang="en-US" sz="2666" dirty="0"/>
              <a:t>([</a:t>
            </a:r>
            <a:r>
              <a:rPr lang="en-US" sz="2666" dirty="0" err="1"/>
              <a:t>remarks,pd_SH</a:t>
            </a:r>
            <a:r>
              <a:rPr lang="en-US" sz="2666" dirty="0"/>
              <a:t>]) </a:t>
            </a:r>
            <a:endParaRPr lang="ru-RU" sz="2666" dirty="0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B17BBEED-B0B2-01AF-E80D-A341E33EC3E1}"/>
              </a:ext>
            </a:extLst>
          </p:cNvPr>
          <p:cNvSpPr/>
          <p:nvPr/>
        </p:nvSpPr>
        <p:spPr>
          <a:xfrm>
            <a:off x="4725180" y="4233869"/>
            <a:ext cx="1727659" cy="348950"/>
          </a:xfrm>
          <a:prstGeom prst="downArrow">
            <a:avLst/>
          </a:prstGeom>
          <a:solidFill>
            <a:srgbClr val="38D278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D882C72-6846-EC2B-0B96-4407BE62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854" y="5155514"/>
            <a:ext cx="7727542" cy="14813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A90EFDD-843B-4EB4-9369-FF42FC214D63}"/>
              </a:ext>
            </a:extLst>
          </p:cNvPr>
          <p:cNvSpPr txBox="1"/>
          <p:nvPr/>
        </p:nvSpPr>
        <p:spPr>
          <a:xfrm>
            <a:off x="516219" y="4582818"/>
            <a:ext cx="1085874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В </a:t>
            </a:r>
            <a:r>
              <a:rPr lang="ru-RU" sz="2399" b="1" dirty="0"/>
              <a:t>цикле </a:t>
            </a:r>
            <a:r>
              <a:rPr lang="en-US" sz="2399" b="1" dirty="0"/>
              <a:t>for </a:t>
            </a:r>
            <a:r>
              <a:rPr lang="ru-RU" sz="2399" dirty="0"/>
              <a:t>объединим все данных с листов </a:t>
            </a:r>
            <a:r>
              <a:rPr lang="en-US" sz="2399" dirty="0"/>
              <a:t>excel-</a:t>
            </a:r>
            <a:r>
              <a:rPr lang="ru-RU" sz="2399" dirty="0"/>
              <a:t>файла с помощью </a:t>
            </a:r>
            <a:r>
              <a:rPr lang="en-US" sz="2399" b="1" dirty="0" err="1"/>
              <a:t>pd.concat</a:t>
            </a:r>
            <a:r>
              <a:rPr lang="ru-RU" sz="2399" b="1" dirty="0"/>
              <a:t>() 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B3B33F7-BC8C-6BCA-B365-18107DEFF687}"/>
              </a:ext>
            </a:extLst>
          </p:cNvPr>
          <p:cNvSpPr/>
          <p:nvPr/>
        </p:nvSpPr>
        <p:spPr>
          <a:xfrm>
            <a:off x="1776853" y="5710525"/>
            <a:ext cx="479905" cy="3505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048DCBF-0955-9C85-0452-8180C8A8F306}"/>
              </a:ext>
            </a:extLst>
          </p:cNvPr>
          <p:cNvSpPr/>
          <p:nvPr/>
        </p:nvSpPr>
        <p:spPr>
          <a:xfrm>
            <a:off x="1699410" y="4661581"/>
            <a:ext cx="479905" cy="3505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377AF26-E6C5-5ADA-BDB1-3E2BCB2B826A}"/>
              </a:ext>
            </a:extLst>
          </p:cNvPr>
          <p:cNvSpPr/>
          <p:nvPr/>
        </p:nvSpPr>
        <p:spPr>
          <a:xfrm>
            <a:off x="9575499" y="4678808"/>
            <a:ext cx="1607496" cy="396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FDC90E1-B19E-DC0C-62CC-BF3D3934C16D}"/>
              </a:ext>
            </a:extLst>
          </p:cNvPr>
          <p:cNvSpPr/>
          <p:nvPr/>
        </p:nvSpPr>
        <p:spPr>
          <a:xfrm>
            <a:off x="3216568" y="6260746"/>
            <a:ext cx="1151773" cy="2776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28" name="Соединитель: изогнутый 27">
            <a:extLst>
              <a:ext uri="{FF2B5EF4-FFF2-40B4-BE49-F238E27FC236}">
                <a16:creationId xmlns:a16="http://schemas.microsoft.com/office/drawing/2014/main" id="{38B490C4-1E14-E9F4-1FD7-BE51208ECAF3}"/>
              </a:ext>
            </a:extLst>
          </p:cNvPr>
          <p:cNvCxnSpPr>
            <a:endCxn id="21" idx="1"/>
          </p:cNvCxnSpPr>
          <p:nvPr/>
        </p:nvCxnSpPr>
        <p:spPr>
          <a:xfrm rot="5400000">
            <a:off x="1405100" y="5428462"/>
            <a:ext cx="839489" cy="95981"/>
          </a:xfrm>
          <a:prstGeom prst="curvedConnector4">
            <a:avLst>
              <a:gd name="adj1" fmla="val 5885"/>
              <a:gd name="adj2" fmla="val 41746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изогнутый 28">
            <a:extLst>
              <a:ext uri="{FF2B5EF4-FFF2-40B4-BE49-F238E27FC236}">
                <a16:creationId xmlns:a16="http://schemas.microsoft.com/office/drawing/2014/main" id="{6D4953AF-EE76-BC28-B232-5FEB9F6DE7AA}"/>
              </a:ext>
            </a:extLst>
          </p:cNvPr>
          <p:cNvCxnSpPr>
            <a:cxnSpLocks/>
            <a:stCxn id="25" idx="2"/>
            <a:endCxn id="26" idx="2"/>
          </p:cNvCxnSpPr>
          <p:nvPr/>
        </p:nvCxnSpPr>
        <p:spPr>
          <a:xfrm rot="5400000">
            <a:off x="6354213" y="2513353"/>
            <a:ext cx="1463280" cy="6586792"/>
          </a:xfrm>
          <a:prstGeom prst="curvedConnector3">
            <a:avLst>
              <a:gd name="adj1" fmla="val 114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4E55F71D-6572-FF6A-135D-69053F18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24</a:t>
            </a:fld>
            <a:endParaRPr lang="ru-RU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B5EEF50-940C-BDBC-39D7-828E1B2A5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40A005-B2EE-39E9-4A8D-B1DC44859CAD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7A3DF79-7C51-1510-8F9C-28743A6231F2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D56E802-8734-B44C-17AE-23F4067FE799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7812360-DF62-814C-82FC-DB5D15B3975A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655D30A-6FBC-11D6-270C-25C36DD2A718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F58B752C-F866-62DB-33B7-E5B28392C4C5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501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D882C72-6846-EC2B-0B96-4407BE62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96" y="1101935"/>
            <a:ext cx="7727542" cy="148136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AAB706-D10E-AE1A-9BEA-CFA67EA3B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450" y="3523907"/>
            <a:ext cx="7413081" cy="21862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6A79E5-650F-42A5-ED21-AF13CB6655E5}"/>
              </a:ext>
            </a:extLst>
          </p:cNvPr>
          <p:cNvSpPr txBox="1"/>
          <p:nvPr/>
        </p:nvSpPr>
        <p:spPr>
          <a:xfrm>
            <a:off x="337138" y="2583302"/>
            <a:ext cx="1161370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99" dirty="0"/>
              <a:t>Добавим информацию о году события. Для этого сделаем счетчик.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A489588-DD5F-34BE-77CC-1DF6E2378083}"/>
              </a:ext>
            </a:extLst>
          </p:cNvPr>
          <p:cNvSpPr/>
          <p:nvPr/>
        </p:nvSpPr>
        <p:spPr>
          <a:xfrm>
            <a:off x="2464534" y="4155037"/>
            <a:ext cx="779120" cy="240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AD46781-5F9A-B8D9-2EA7-2420B2C1E595}"/>
              </a:ext>
            </a:extLst>
          </p:cNvPr>
          <p:cNvSpPr/>
          <p:nvPr/>
        </p:nvSpPr>
        <p:spPr>
          <a:xfrm>
            <a:off x="4368341" y="4913872"/>
            <a:ext cx="1343735" cy="272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A03F66C8-18D0-4F2C-9F78-958882A0D0A2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243654" y="4262613"/>
            <a:ext cx="1796555" cy="651259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623597C-71BC-A381-EB1A-9C26BA51F1F8}"/>
              </a:ext>
            </a:extLst>
          </p:cNvPr>
          <p:cNvSpPr txBox="1"/>
          <p:nvPr/>
        </p:nvSpPr>
        <p:spPr>
          <a:xfrm>
            <a:off x="330558" y="6099955"/>
            <a:ext cx="4895033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99" dirty="0" err="1"/>
              <a:t>sheet_names_remarks</a:t>
            </a:r>
            <a:r>
              <a:rPr lang="en-US" sz="2399" dirty="0"/>
              <a:t>[0] = ‘2019’</a:t>
            </a:r>
            <a:endParaRPr lang="ru-RU" sz="2399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1E3F16-9642-A75A-2D1A-631EDFBF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25</a:t>
            </a:fld>
            <a:endParaRPr lang="ru-RU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C0B2A49-D652-97FA-D330-C27EAF36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00B85-ABAE-C210-0775-F440F0F478F8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Объединения данных с различных листов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F71EEB2-2B67-7563-9D47-919F3C01050A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9B40C0D-60E6-8B79-A9C8-932CD0E0C7B4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0869FBF-9443-008C-E4C0-CB241953C5C6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3138697-32D1-4EBA-ECDA-E37BB34B0725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301B92D-6F52-8FFF-6D05-AF04A291EF37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496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1E3F16-9642-A75A-2D1A-631EDFBF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26</a:t>
            </a:fld>
            <a:endParaRPr lang="ru-RU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C0B2A49-D652-97FA-D330-C27EAF36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00B85-ABAE-C210-0775-F440F0F478F8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enumerate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F71EEB2-2B67-7563-9D47-919F3C01050A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9B40C0D-60E6-8B79-A9C8-932CD0E0C7B4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0869FBF-9443-008C-E4C0-CB241953C5C6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3138697-32D1-4EBA-ECDA-E37BB34B0725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301B92D-6F52-8FFF-6D05-AF04A291EF37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C818E88-23F1-0DAD-3342-B986EE6EB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53" y="697132"/>
            <a:ext cx="12039094" cy="285062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Синтаксис функции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enumerate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()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 выглядит следующим образом: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enumerate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(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iterable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,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start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)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Функция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enumerate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() принимает два параметра: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iterable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 и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start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iterable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 — Обязательный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гиперпараметр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. это итерируемый объект (список, кортеж и т.д.), который будет возвращен в виде пронумерованного объекта (объекта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enumerate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D4147"/>
                </a:solidFill>
                <a:effectLst/>
                <a:latin typeface="Monaco"/>
              </a:rPr>
              <a:t>start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 — Вспомогательный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гиперпараметр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. это начальный индекс для возвращаемого объекта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enumerate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. Значение по умолчанию равно 0, поэтому, если вы опустите этот параметр, в качестве первого индекса будет использоваться 0.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6E414C-284C-E94B-BFB1-EBF241BC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37" y="4810290"/>
            <a:ext cx="9972675" cy="17907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C564CC1-C818-6F14-9436-6E460B91E044}"/>
              </a:ext>
            </a:extLst>
          </p:cNvPr>
          <p:cNvSpPr txBox="1"/>
          <p:nvPr/>
        </p:nvSpPr>
        <p:spPr>
          <a:xfrm>
            <a:off x="282937" y="3855860"/>
            <a:ext cx="11383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-apple-system"/>
              </a:rPr>
              <a:t>Этот объект возвращается в формате пар ключ-значение, где ключи — это соответствующие индексы элементов, а значения — сами элементы из переданного набора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7116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ADA1EF-C087-6534-ECC2-F96216CA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27</a:t>
            </a:fld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16DD10-B52B-0EEA-9D31-A9E7E5DF3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1CC902F-E33A-C6F5-F531-CFF7FDB9A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317DC6-D1EE-CFA3-31B5-C3BC7D75E3DD}"/>
              </a:ext>
            </a:extLst>
          </p:cNvPr>
          <p:cNvSpPr/>
          <p:nvPr/>
        </p:nvSpPr>
        <p:spPr>
          <a:xfrm>
            <a:off x="145176" y="71311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Разбиение на части большого </a:t>
            </a:r>
            <a:r>
              <a:rPr lang="en-US" sz="2000" b="1" dirty="0">
                <a:solidFill>
                  <a:srgbClr val="26262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csv-</a:t>
            </a:r>
            <a:r>
              <a:rPr lang="ru-RU" sz="2000" b="1" dirty="0">
                <a:solidFill>
                  <a:srgbClr val="26262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файла 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D2EFBD5-EDCA-D609-E4A3-AD55938C7425}"/>
              </a:ext>
            </a:extLst>
          </p:cNvPr>
          <p:cNvSpPr/>
          <p:nvPr/>
        </p:nvSpPr>
        <p:spPr>
          <a:xfrm>
            <a:off x="5329307" y="25522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626C7E5-72D3-C2C8-626E-20ED33C52336}"/>
              </a:ext>
            </a:extLst>
          </p:cNvPr>
          <p:cNvSpPr/>
          <p:nvPr/>
        </p:nvSpPr>
        <p:spPr>
          <a:xfrm>
            <a:off x="5329307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23CC813-E3CA-7912-6ACB-46D405E6A27E}"/>
              </a:ext>
            </a:extLst>
          </p:cNvPr>
          <p:cNvSpPr/>
          <p:nvPr/>
        </p:nvSpPr>
        <p:spPr>
          <a:xfrm>
            <a:off x="6496771" y="255223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0417C2B-EBD9-D8C0-ED2B-85F238C8BDAA}"/>
              </a:ext>
            </a:extLst>
          </p:cNvPr>
          <p:cNvSpPr/>
          <p:nvPr/>
        </p:nvSpPr>
        <p:spPr>
          <a:xfrm>
            <a:off x="7664052" y="257010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56D6660-B8E5-AD9E-136E-21A7D9796F24}"/>
              </a:ext>
            </a:extLst>
          </p:cNvPr>
          <p:cNvSpPr/>
          <p:nvPr/>
        </p:nvSpPr>
        <p:spPr>
          <a:xfrm>
            <a:off x="8831333" y="251467"/>
            <a:ext cx="1167464" cy="72000"/>
          </a:xfrm>
          <a:prstGeom prst="roundRect">
            <a:avLst>
              <a:gd name="adj" fmla="val 0"/>
            </a:avLst>
          </a:prstGeom>
          <a:solidFill>
            <a:srgbClr val="000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2E602E-1307-A089-B7F1-927384CA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" y="1563482"/>
            <a:ext cx="11887200" cy="29051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32A8C5-306E-2C9B-D6FD-54952532375B}"/>
              </a:ext>
            </a:extLst>
          </p:cNvPr>
          <p:cNvSpPr txBox="1"/>
          <p:nvPr/>
        </p:nvSpPr>
        <p:spPr>
          <a:xfrm>
            <a:off x="268279" y="4559398"/>
            <a:ext cx="10360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Гиперпараметр</a:t>
            </a:r>
            <a:r>
              <a:rPr lang="ru-RU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, определяющий размер каждой части файла:</a:t>
            </a:r>
            <a:endParaRPr lang="en-US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chunksize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– количество строчек</a:t>
            </a:r>
            <a:endParaRPr lang="en-US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468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28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033063" y="1224788"/>
            <a:ext cx="5423156" cy="1324624"/>
          </a:xfrm>
        </p:spPr>
        <p:txBody>
          <a:bodyPr>
            <a:normAutofit/>
          </a:bodyPr>
          <a:lstStyle/>
          <a:p>
            <a:r>
              <a:rPr lang="en-US" sz="6600" dirty="0" err="1" smtClean="0"/>
              <a:t>Polars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2365821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29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45458" y="456817"/>
            <a:ext cx="1129553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6E7781"/>
                </a:solidFill>
                <a:latin typeface="Consolas" panose="020B0609020204030204" pitchFamily="49" charset="0"/>
              </a:rPr>
              <a:t># Считывание каждого листа отдельно + объединение в 1 массив</a:t>
            </a:r>
            <a:endParaRPr lang="ru-RU" sz="24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df_2019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sz="24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250DF"/>
                </a:solidFill>
                <a:latin typeface="Consolas" panose="020B0609020204030204" pitchFamily="49" charset="0"/>
              </a:rPr>
              <a:t>read_excel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550AE"/>
                </a:solidFill>
                <a:latin typeface="Consolas" panose="020B0609020204030204" pitchFamily="49" charset="0"/>
              </a:rPr>
              <a:t>FILE_PATH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953800"/>
                </a:solidFill>
                <a:latin typeface="Consolas" panose="020B0609020204030204" pitchFamily="49" charset="0"/>
              </a:rPr>
              <a:t>sheet_name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A3069"/>
                </a:solidFill>
                <a:latin typeface="Consolas" panose="020B0609020204030204" pitchFamily="49" charset="0"/>
              </a:rPr>
              <a:t>'2019'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ru-RU" sz="2400" dirty="0">
                <a:solidFill>
                  <a:srgbClr val="6E7781"/>
                </a:solidFill>
                <a:latin typeface="Consolas" panose="020B0609020204030204" pitchFamily="49" charset="0"/>
              </a:rPr>
              <a:t>Добавим новый столбец со значение-константой: годом события</a:t>
            </a:r>
            <a:endParaRPr lang="ru-RU" sz="24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6E7781"/>
                </a:solidFill>
                <a:latin typeface="Consolas" panose="020B0609020204030204" pitchFamily="49" charset="0"/>
              </a:rPr>
              <a:t># способ добавить столбец в </a:t>
            </a:r>
            <a:r>
              <a:rPr lang="en-US" sz="2400" dirty="0" err="1">
                <a:solidFill>
                  <a:srgbClr val="6E7781"/>
                </a:solidFill>
                <a:latin typeface="Consolas" panose="020B0609020204030204" pitchFamily="49" charset="0"/>
              </a:rPr>
              <a:t>Polars</a:t>
            </a:r>
            <a:r>
              <a:rPr lang="en-US" sz="2400" dirty="0">
                <a:solidFill>
                  <a:srgbClr val="6E778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6E7781"/>
                </a:solidFill>
                <a:latin typeface="Consolas" panose="020B0609020204030204" pitchFamily="49" charset="0"/>
              </a:rPr>
              <a:t>pl.lit</a:t>
            </a:r>
            <a:r>
              <a:rPr lang="en-US" sz="2400" dirty="0">
                <a:solidFill>
                  <a:srgbClr val="6E7781"/>
                </a:solidFill>
                <a:latin typeface="Consolas" panose="020B0609020204030204" pitchFamily="49" charset="0"/>
              </a:rPr>
              <a:t>(sheet) — </a:t>
            </a:r>
            <a:r>
              <a:rPr lang="ru-RU" sz="2400" dirty="0">
                <a:solidFill>
                  <a:srgbClr val="6E7781"/>
                </a:solidFill>
                <a:latin typeface="Consolas" panose="020B0609020204030204" pitchFamily="49" charset="0"/>
              </a:rPr>
              <a:t>создание литерала (константы), .</a:t>
            </a:r>
            <a:r>
              <a:rPr lang="en-US" sz="2400" dirty="0">
                <a:solidFill>
                  <a:srgbClr val="6E7781"/>
                </a:solidFill>
                <a:latin typeface="Consolas" panose="020B0609020204030204" pitchFamily="49" charset="0"/>
              </a:rPr>
              <a:t>alias("</a:t>
            </a:r>
            <a:r>
              <a:rPr lang="ru-RU" sz="2400" dirty="0" err="1">
                <a:solidFill>
                  <a:srgbClr val="6E7781"/>
                </a:solidFill>
                <a:latin typeface="Consolas" panose="020B0609020204030204" pitchFamily="49" charset="0"/>
              </a:rPr>
              <a:t>Год_листа</a:t>
            </a:r>
            <a:r>
              <a:rPr lang="ru-RU" sz="2400" dirty="0">
                <a:solidFill>
                  <a:srgbClr val="6E7781"/>
                </a:solidFill>
                <a:latin typeface="Consolas" panose="020B0609020204030204" pitchFamily="49" charset="0"/>
              </a:rPr>
              <a:t>") — присвоение имени)</a:t>
            </a:r>
            <a:endParaRPr lang="ru-RU" sz="24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df_2019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df_2019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>
                <a:solidFill>
                  <a:srgbClr val="8250DF"/>
                </a:solidFill>
                <a:latin typeface="Consolas" panose="020B0609020204030204" pitchFamily="49" charset="0"/>
              </a:rPr>
              <a:t>with_columns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sz="24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250DF"/>
                </a:solidFill>
                <a:latin typeface="Consolas" panose="020B0609020204030204" pitchFamily="49" charset="0"/>
              </a:rPr>
              <a:t>lit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2019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sz="2400" dirty="0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 err="1">
                <a:solidFill>
                  <a:srgbClr val="0A3069"/>
                </a:solidFill>
                <a:latin typeface="Consolas" panose="020B0609020204030204" pitchFamily="49" charset="0"/>
              </a:rPr>
              <a:t>Год_листа</a:t>
            </a:r>
            <a:r>
              <a:rPr lang="ru-RU" sz="2400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24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 smtClean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  <a:endParaRPr lang="en-US" sz="2400" dirty="0" smtClean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02020"/>
                </a:solidFill>
                <a:latin typeface="Consolas" panose="020B0609020204030204" pitchFamily="49" charset="0"/>
              </a:rPr>
              <a:t>….</a:t>
            </a:r>
          </a:p>
          <a:p>
            <a:r>
              <a:rPr lang="ru-RU" sz="240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ru-RU" sz="2400" dirty="0" smtClean="0">
                <a:solidFill>
                  <a:srgbClr val="6E7781"/>
                </a:solidFill>
                <a:latin typeface="Consolas" panose="020B0609020204030204" pitchFamily="49" charset="0"/>
              </a:rPr>
              <a:t>объединяем данные</a:t>
            </a:r>
            <a:endParaRPr lang="en-US" sz="2400" dirty="0" smtClean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result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sz="24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250D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([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df_2019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df_2018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df_2017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df_2016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df_2015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df_2014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], </a:t>
            </a:r>
            <a:r>
              <a:rPr lang="en-US" sz="2400" dirty="0">
                <a:solidFill>
                  <a:srgbClr val="953800"/>
                </a:solidFill>
                <a:latin typeface="Consolas" panose="020B0609020204030204" pitchFamily="49" charset="0"/>
              </a:rPr>
              <a:t>how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0A3069"/>
                </a:solidFill>
                <a:latin typeface="Consolas" panose="020B0609020204030204" pitchFamily="49" charset="0"/>
              </a:rPr>
              <a:t>diagonal_relaxed</a:t>
            </a:r>
            <a:r>
              <a:rPr lang="en-US" sz="2400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1F2328"/>
                </a:solidFill>
                <a:latin typeface="Consolas" panose="020B0609020204030204" pitchFamily="49" charset="0"/>
              </a:rPr>
              <a:t>result</a:t>
            </a:r>
            <a:r>
              <a:rPr lang="en-US" sz="2400" dirty="0">
                <a:solidFill>
                  <a:srgbClr val="202020"/>
                </a:solidFill>
                <a:latin typeface="Consolas" panose="020B0609020204030204" pitchFamily="49" charset="0"/>
              </a:rPr>
              <a:t>[: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 smtClean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endParaRPr lang="ru-RU" sz="2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15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63388" y="1166843"/>
            <a:ext cx="113044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ru-RU" dirty="0" smtClean="0">
                <a:solidFill>
                  <a:srgbClr val="6E7781"/>
                </a:solidFill>
                <a:latin typeface="Consolas" panose="020B0609020204030204" pitchFamily="49" charset="0"/>
              </a:rPr>
              <a:t>Объявляем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список,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[]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sheet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sheet_names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    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read_excel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550AE"/>
                </a:solidFill>
                <a:latin typeface="Consolas" panose="020B0609020204030204" pitchFamily="49" charset="0"/>
              </a:rPr>
              <a:t>FILE_PATH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53800"/>
                </a:solidFill>
                <a:latin typeface="Consolas" panose="020B0609020204030204" pitchFamily="49" charset="0"/>
              </a:rPr>
              <a:t>sheet_name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sheet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   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способ добавить столбец в </a:t>
            </a:r>
            <a:r>
              <a:rPr lang="en-US" dirty="0" err="1">
                <a:solidFill>
                  <a:srgbClr val="6E7781"/>
                </a:solidFill>
                <a:latin typeface="Consolas" panose="020B0609020204030204" pitchFamily="49" charset="0"/>
              </a:rPr>
              <a:t>Polars</a:t>
            </a:r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6E7781"/>
                </a:solidFill>
                <a:latin typeface="Consolas" panose="020B0609020204030204" pitchFamily="49" charset="0"/>
              </a:rPr>
              <a:t>pl.lit</a:t>
            </a:r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(sheet) —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создание литерала (константы), .</a:t>
            </a:r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alias("</a:t>
            </a:r>
            <a:r>
              <a:rPr lang="ru-RU" dirty="0" err="1">
                <a:solidFill>
                  <a:srgbClr val="6E7781"/>
                </a:solidFill>
                <a:latin typeface="Consolas" panose="020B0609020204030204" pitchFamily="49" charset="0"/>
              </a:rPr>
              <a:t>Год_листа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") — присвоение имени)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.with_columns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lit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sheet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Год_листа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dfs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append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объединяем все </a:t>
            </a:r>
            <a:r>
              <a:rPr lang="ru-RU" dirty="0" err="1">
                <a:solidFill>
                  <a:srgbClr val="6E7781"/>
                </a:solidFill>
                <a:latin typeface="Consolas" panose="020B0609020204030204" pitchFamily="49" charset="0"/>
              </a:rPr>
              <a:t>датафреймы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 в один (диагонально - на случай разных наборов колонок)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concat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53800"/>
                </a:solidFill>
                <a:latin typeface="Consolas" panose="020B0609020204030204" pitchFamily="49" charset="0"/>
              </a:rPr>
              <a:t>how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A3069"/>
                </a:solidFill>
                <a:latin typeface="Consolas" panose="020B0609020204030204" pitchFamily="49" charset="0"/>
              </a:rPr>
              <a:t>diagonal_relaxed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74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3B3E720D-64F1-595A-A269-AF5D4C0CF9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9850"/>
            <a:ext cx="12045950" cy="505799"/>
          </a:xfrm>
        </p:spPr>
        <p:txBody>
          <a:bodyPr>
            <a:normAutofit fontScale="90000"/>
          </a:bodyPr>
          <a:lstStyle/>
          <a:p>
            <a:r>
              <a:rPr lang="ru-RU" sz="4265" dirty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данными. Группировка </a:t>
            </a:r>
            <a:endParaRPr lang="ru-RU" sz="4265" dirty="0">
              <a:solidFill>
                <a:srgbClr val="44B8E9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199BC35-C06F-C1CE-53E1-92FA7148C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81" y="851161"/>
            <a:ext cx="7101235" cy="5614414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BA1872C-66A3-8B20-B382-30904677C90F}"/>
              </a:ext>
            </a:extLst>
          </p:cNvPr>
          <p:cNvSpPr/>
          <p:nvPr/>
        </p:nvSpPr>
        <p:spPr>
          <a:xfrm>
            <a:off x="7343754" y="1001838"/>
            <a:ext cx="287943" cy="5280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0A7D497-9AF6-168C-F5F9-F3F67404788D}"/>
              </a:ext>
            </a:extLst>
          </p:cNvPr>
          <p:cNvSpPr/>
          <p:nvPr/>
        </p:nvSpPr>
        <p:spPr>
          <a:xfrm>
            <a:off x="1776853" y="838904"/>
            <a:ext cx="479905" cy="5626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39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F3FD63-5CFE-FE07-5A24-0C3ACCCB0EFE}"/>
              </a:ext>
            </a:extLst>
          </p:cNvPr>
          <p:cNvSpPr txBox="1"/>
          <p:nvPr/>
        </p:nvSpPr>
        <p:spPr>
          <a:xfrm>
            <a:off x="7797963" y="957749"/>
            <a:ext cx="4320509" cy="4973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66" b="1" dirty="0" err="1"/>
              <a:t>Groupby</a:t>
            </a:r>
            <a:r>
              <a:rPr lang="ru-RU" sz="1866" dirty="0"/>
              <a:t> — довольно простая концепция. Мы можем создать группу категорий и применить к категориям функцию. </a:t>
            </a:r>
          </a:p>
          <a:p>
            <a:r>
              <a:rPr lang="ru-RU" sz="1866" dirty="0" err="1"/>
              <a:t>Groupby</a:t>
            </a:r>
            <a:r>
              <a:rPr lang="ru-RU" sz="1866" dirty="0"/>
              <a:t> в основном относится к процессу, включающему один или несколько из следующих шагов:</a:t>
            </a:r>
          </a:p>
          <a:p>
            <a:r>
              <a:rPr lang="ru-RU" sz="1866" dirty="0"/>
              <a:t> </a:t>
            </a:r>
            <a:r>
              <a:rPr lang="ru-RU" sz="1866" b="1" dirty="0"/>
              <a:t>Разделение</a:t>
            </a:r>
            <a:r>
              <a:rPr lang="ru-RU" sz="1866" dirty="0"/>
              <a:t>: это процесс, в котором мы разделяем данные на группы, применяя некоторые условия к наборам данных.</a:t>
            </a:r>
          </a:p>
          <a:p>
            <a:r>
              <a:rPr lang="ru-RU" sz="1866" b="1" dirty="0"/>
              <a:t>Применение</a:t>
            </a:r>
            <a:r>
              <a:rPr lang="ru-RU" sz="1866" dirty="0"/>
              <a:t>: это процесс, в котором мы применяем функцию к каждой группе независимо.</a:t>
            </a:r>
          </a:p>
          <a:p>
            <a:r>
              <a:rPr lang="ru-RU" sz="1866" b="1" dirty="0"/>
              <a:t>Объединение</a:t>
            </a:r>
            <a:r>
              <a:rPr lang="ru-RU" sz="1866" dirty="0"/>
              <a:t>: это процесс, в котором мы объединяем различные наборы данных после применения группировки и результатов в структуру данных.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25E121-DDAF-A14E-98AA-7D4BD588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741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3B3E720D-64F1-595A-A269-AF5D4C0CF9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9850"/>
            <a:ext cx="12045950" cy="505799"/>
          </a:xfrm>
        </p:spPr>
        <p:txBody>
          <a:bodyPr>
            <a:normAutofit fontScale="90000"/>
          </a:bodyPr>
          <a:lstStyle/>
          <a:p>
            <a:r>
              <a:rPr lang="ru-RU" sz="4265" dirty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данными. </a:t>
            </a:r>
            <a:r>
              <a:rPr lang="ru-RU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Генерация новых признаков</a:t>
            </a:r>
            <a:r>
              <a:rPr lang="ru-RU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25E121-DDAF-A14E-98AA-7D4BD588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65580" y="804218"/>
            <a:ext cx="1130617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Сделаем копию нашего массива. ВОПРОС: для чего?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result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.clone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Приводим колонку "Дата осмотра" к типу </a:t>
            </a:r>
            <a:r>
              <a:rPr lang="en-US" dirty="0" err="1">
                <a:solidFill>
                  <a:srgbClr val="6E7781"/>
                </a:solidFill>
                <a:latin typeface="Consolas" panose="020B0609020204030204" pitchFamily="49" charset="0"/>
              </a:rPr>
              <a:t>datetime</a:t>
            </a:r>
            <a:r>
              <a:rPr lang="en-US" dirty="0">
                <a:solidFill>
                  <a:srgbClr val="6E7781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если она строковая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.with_columns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col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str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strptime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Datetime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53800"/>
                </a:solidFill>
                <a:latin typeface="Consolas" panose="020B0609020204030204" pitchFamily="49" charset="0"/>
              </a:rPr>
              <a:t>strict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53800"/>
                </a:solidFill>
                <a:latin typeface="Consolas" panose="020B0609020204030204" pitchFamily="49" charset="0"/>
              </a:rPr>
              <a:t>format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.schema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ru-RU" dirty="0">
                <a:solidFill>
                  <a:srgbClr val="795E26"/>
                </a:solidFill>
                <a:latin typeface="Consolas" panose="020B0609020204030204" pitchFamily="49" charset="0"/>
              </a:rPr>
              <a:t>==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Utf8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col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 smtClean="0">
                <a:solidFill>
                  <a:srgbClr val="6E7781"/>
                </a:solidFill>
                <a:latin typeface="Consolas" panose="020B0609020204030204" pitchFamily="49" charset="0"/>
              </a:rPr>
              <a:t>Извлечение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признаков из даты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en-US" dirty="0" err="1" smtClean="0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 smtClean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.with_columns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([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col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week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Номер_недели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),      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номер недели в году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col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ordinal_day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Номер_дня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),  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номер дня в году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col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month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Номер_месяца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),     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номер месяца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col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Год"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),                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год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Пример новых признаков даты:"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.select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Дата осмотра"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"Год"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Номер_месяца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Номер_недели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Номер_дня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]).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head(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302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33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19149" y="1032788"/>
            <a:ext cx="1042987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Группировка: количество событий по неделям и по годам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Количество событий по неделям (в разрезе </a:t>
            </a:r>
            <a:r>
              <a:rPr lang="ru-RU" dirty="0" err="1">
                <a:solidFill>
                  <a:srgbClr val="6E7781"/>
                </a:solidFill>
                <a:latin typeface="Consolas" panose="020B0609020204030204" pitchFamily="49" charset="0"/>
              </a:rPr>
              <a:t>год+неделя</a:t>
            </a: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events_by_week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.group_by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([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"Год"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Номер_недели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.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agg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count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Количество_событий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.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sort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([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"Год"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Номер_недели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EE0000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EE0000"/>
                </a:solidFill>
                <a:latin typeface="Consolas" panose="020B0609020204030204" pitchFamily="49" charset="0"/>
              </a:rPr>
              <a:t>n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Количество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 событий по неделям:"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events_by_week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6E7781"/>
                </a:solidFill>
                <a:latin typeface="Consolas" panose="020B0609020204030204" pitchFamily="49" charset="0"/>
              </a:rPr>
              <a:t># Количество событий по годам</a:t>
            </a:r>
            <a:endParaRPr lang="ru-RU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events_by_year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.group_by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"Год"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.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agg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267F99"/>
                </a:solidFill>
                <a:latin typeface="Consolas" panose="020B0609020204030204" pitchFamily="49" charset="0"/>
              </a:rPr>
              <a:t>pl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count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alias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Количество_событий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    .</a:t>
            </a:r>
            <a:r>
              <a:rPr lang="ru-RU" dirty="0" err="1">
                <a:solidFill>
                  <a:srgbClr val="202020"/>
                </a:solidFill>
                <a:latin typeface="Consolas" panose="020B0609020204030204" pitchFamily="49" charset="0"/>
              </a:rPr>
              <a:t>sort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"Год"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EE0000"/>
                </a:solidFill>
                <a:latin typeface="Consolas" panose="020B0609020204030204" pitchFamily="49" charset="0"/>
              </a:rPr>
              <a:t>\</a:t>
            </a:r>
            <a:r>
              <a:rPr lang="ru-RU" dirty="0" err="1">
                <a:solidFill>
                  <a:srgbClr val="EE0000"/>
                </a:solidFill>
                <a:latin typeface="Consolas" panose="020B0609020204030204" pitchFamily="49" charset="0"/>
              </a:rPr>
              <a:t>n</a:t>
            </a:r>
            <a:r>
              <a:rPr lang="ru-RU" dirty="0" err="1">
                <a:solidFill>
                  <a:srgbClr val="0A3069"/>
                </a:solidFill>
                <a:latin typeface="Consolas" panose="020B0609020204030204" pitchFamily="49" charset="0"/>
              </a:rPr>
              <a:t>Количество</a:t>
            </a:r>
            <a:r>
              <a:rPr lang="ru-RU" dirty="0">
                <a:solidFill>
                  <a:srgbClr val="0A3069"/>
                </a:solidFill>
                <a:latin typeface="Consolas" panose="020B0609020204030204" pitchFamily="49" charset="0"/>
              </a:rPr>
              <a:t> событий по годам:"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events_by_year</a:t>
            </a:r>
            <a:r>
              <a:rPr lang="ru-RU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  <a:endParaRPr lang="ru-RU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3B3E720D-64F1-595A-A269-AF5D4C0CF94B}"/>
              </a:ext>
            </a:extLst>
          </p:cNvPr>
          <p:cNvSpPr txBox="1">
            <a:spLocks/>
          </p:cNvSpPr>
          <p:nvPr/>
        </p:nvSpPr>
        <p:spPr>
          <a:xfrm>
            <a:off x="0" y="69850"/>
            <a:ext cx="12045950" cy="505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Группировка данных</a:t>
            </a:r>
            <a:r>
              <a:rPr lang="en-US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4265" dirty="0" err="1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polars</a:t>
            </a:r>
            <a:endParaRPr lang="ru-RU" sz="4265" dirty="0">
              <a:solidFill>
                <a:srgbClr val="44B8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541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3B3E720D-64F1-595A-A269-AF5D4C0CF9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9851"/>
            <a:ext cx="12045950" cy="483448"/>
          </a:xfrm>
        </p:spPr>
        <p:txBody>
          <a:bodyPr>
            <a:normAutofit fontScale="90000"/>
          </a:bodyPr>
          <a:lstStyle/>
          <a:p>
            <a:r>
              <a:rPr lang="ru-RU" sz="4265" dirty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данными. </a:t>
            </a:r>
            <a:r>
              <a:rPr lang="ru-RU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Группировка</a:t>
            </a:r>
            <a:r>
              <a:rPr lang="en-US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Pandas</a:t>
            </a:r>
            <a:r>
              <a:rPr lang="ru-RU" sz="4265" dirty="0" smtClean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4265" dirty="0">
              <a:solidFill>
                <a:srgbClr val="44B8E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C847FA-7C6F-A95D-085B-F3AA011A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02" y="790235"/>
            <a:ext cx="11014584" cy="5329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14590-D64B-9AE8-519A-EB692F30AD7E}"/>
              </a:ext>
            </a:extLst>
          </p:cNvPr>
          <p:cNvSpPr txBox="1"/>
          <p:nvPr/>
        </p:nvSpPr>
        <p:spPr>
          <a:xfrm>
            <a:off x="4656284" y="2992615"/>
            <a:ext cx="7533835" cy="156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99" b="1" dirty="0"/>
              <a:t>Разделение. </a:t>
            </a:r>
            <a:r>
              <a:rPr lang="ru-RU" sz="2399" dirty="0"/>
              <a:t>группа по двум признакам: 'год', 'Станция, перегон’</a:t>
            </a:r>
          </a:p>
          <a:p>
            <a:r>
              <a:rPr lang="ru-RU" sz="2399" b="1" dirty="0"/>
              <a:t>Применение. </a:t>
            </a:r>
            <a:r>
              <a:rPr lang="ru-RU" sz="2399" dirty="0"/>
              <a:t>Функция </a:t>
            </a:r>
            <a:r>
              <a:rPr lang="en-US" sz="2399" dirty="0"/>
              <a:t>count()</a:t>
            </a:r>
            <a:r>
              <a:rPr lang="ru-RU" sz="2399" dirty="0"/>
              <a:t> – подсчет количества для столбца </a:t>
            </a:r>
            <a:r>
              <a:rPr lang="en-US" sz="2399" dirty="0"/>
              <a:t>‘</a:t>
            </a:r>
            <a:r>
              <a:rPr lang="ru-RU" sz="2399" dirty="0"/>
              <a:t>Классификация (Группа)</a:t>
            </a:r>
            <a:r>
              <a:rPr lang="en-US" sz="2399" dirty="0"/>
              <a:t>’</a:t>
            </a:r>
            <a:endParaRPr lang="ru-RU" sz="2399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DE9A4B-AB1F-C7FB-4685-F780E922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8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3B3E720D-64F1-595A-A269-AF5D4C0CF9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9851"/>
            <a:ext cx="12045950" cy="873420"/>
          </a:xfrm>
        </p:spPr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данными. Группировка 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220671-9D7C-1D9C-17A9-A40E7ED1C0A9}"/>
              </a:ext>
            </a:extLst>
          </p:cNvPr>
          <p:cNvSpPr txBox="1"/>
          <p:nvPr/>
        </p:nvSpPr>
        <p:spPr>
          <a:xfrm>
            <a:off x="1009005" y="1118244"/>
            <a:ext cx="10173991" cy="526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2399" b="1" i="1" dirty="0">
                <a:solidFill>
                  <a:srgbClr val="273239"/>
                </a:solidFill>
                <a:latin typeface="Nunito" pitchFamily="2" charset="-52"/>
              </a:rPr>
              <a:t>Описание функций:</a:t>
            </a:r>
          </a:p>
          <a:p>
            <a:pPr algn="l" fontAlgn="base"/>
            <a:endParaRPr lang="ru-RU" sz="2399" i="1" dirty="0">
              <a:solidFill>
                <a:srgbClr val="273239"/>
              </a:solidFill>
              <a:latin typeface="Nunito" pitchFamily="2" charset="-52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sum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сумму значений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min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минимальное количество значений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max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максимальное количество значений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399" i="1" dirty="0">
                <a:solidFill>
                  <a:srgbClr val="273239"/>
                </a:solidFill>
                <a:latin typeface="Nunito" pitchFamily="2" charset="-52"/>
              </a:rPr>
              <a:t>mean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среднее значение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size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вычисление размеров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describe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генерирует описательную статистику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first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сначала вычисляет значения группы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last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последнее из значений группы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count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количество значений столбцов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std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стандартное отклонение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var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дисперсию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sem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стандартная ошибка среднего значения столбца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C954E3-D440-92B4-ED44-449B0641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066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3C1D6B98-C725-29CD-BB77-C9C06562252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496706" y="16227611"/>
            <a:ext cx="3656471" cy="48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82" tIns="60941" rIns="121882" bIns="60941" numCol="1" anchor="ctr" anchorCtr="0" compatLnSpc="1">
            <a:prstTxWarp prst="textNoShape">
              <a:avLst/>
            </a:prstTxWarp>
          </a:bodyPr>
          <a:lstStyle/>
          <a:p>
            <a:pPr algn="r" defTabSz="121880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866">
                <a:solidFill>
                  <a:srgbClr val="40404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endParaRPr lang="ru-RU" altLang="ru-RU" sz="2399"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3C93429-7A5C-36E6-7DD7-62381AC3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779461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0E8575-A691-43A5-0255-94056BE0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9296987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8D5FF72-0039-FCEB-6FB9-BC0A26C5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68" y="12557763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6F4384-D07F-BEDA-9306-3BC0159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6" y="450994"/>
            <a:ext cx="246209" cy="49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882" tIns="60941" rIns="121882" bIns="60941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399"/>
          </a:p>
        </p:txBody>
      </p:sp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3B3E720D-64F1-595A-A269-AF5D4C0CF9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9851"/>
            <a:ext cx="12045950" cy="873420"/>
          </a:xfrm>
        </p:spPr>
        <p:txBody>
          <a:bodyPr>
            <a:normAutofit/>
          </a:bodyPr>
          <a:lstStyle/>
          <a:p>
            <a:r>
              <a:rPr lang="ru-RU" sz="4265" dirty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данными. Группировка </a:t>
            </a:r>
            <a:endParaRPr lang="ru-RU" sz="4265" dirty="0">
              <a:solidFill>
                <a:srgbClr val="44B8E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220671-9D7C-1D9C-17A9-A40E7ED1C0A9}"/>
              </a:ext>
            </a:extLst>
          </p:cNvPr>
          <p:cNvSpPr txBox="1"/>
          <p:nvPr/>
        </p:nvSpPr>
        <p:spPr>
          <a:xfrm>
            <a:off x="1009005" y="1118244"/>
            <a:ext cx="10173991" cy="526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2399" b="1" i="1" dirty="0">
                <a:solidFill>
                  <a:srgbClr val="273239"/>
                </a:solidFill>
                <a:latin typeface="Nunito" pitchFamily="2" charset="-52"/>
              </a:rPr>
              <a:t>Описание функций:</a:t>
            </a:r>
          </a:p>
          <a:p>
            <a:pPr algn="l" fontAlgn="base"/>
            <a:endParaRPr lang="ru-RU" sz="2399" i="1" dirty="0">
              <a:solidFill>
                <a:srgbClr val="273239"/>
              </a:solidFill>
              <a:latin typeface="Nunito" pitchFamily="2" charset="-52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sum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сумму значений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min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минимальное количество значений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max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максимальное количество значений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399" i="1" dirty="0">
                <a:solidFill>
                  <a:srgbClr val="273239"/>
                </a:solidFill>
                <a:latin typeface="Nunito" pitchFamily="2" charset="-52"/>
              </a:rPr>
              <a:t>mean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среднее значение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size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вычисление размеров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describe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генерирует описательную статистику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first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сначала вычисляет значения группы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last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последнее из значений группы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count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количество значений столбцов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std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стандартное отклонение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var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вычисляет дисперсию столбца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sz="2399" i="1" dirty="0" err="1">
                <a:solidFill>
                  <a:srgbClr val="273239"/>
                </a:solidFill>
                <a:latin typeface="Nunito" pitchFamily="2" charset="-52"/>
              </a:rPr>
              <a:t>sem</a:t>
            </a:r>
            <a:r>
              <a:rPr lang="ru-RU" sz="2399" i="1" dirty="0">
                <a:solidFill>
                  <a:srgbClr val="273239"/>
                </a:solidFill>
                <a:latin typeface="Nunito" pitchFamily="2" charset="-52"/>
              </a:rPr>
              <a:t>() : стандартная ошибка среднего значения столбца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C954E3-D440-92B4-ED44-449B0641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371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F1F7200-7E45-28D0-535F-D16E7880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7AD8-7D7C-4EAB-8E42-7CCB62A53451}" type="slidenum">
              <a:rPr lang="ru-RU" smtClean="0"/>
              <a:t>37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37024C-2D60-365F-AD42-CD9E4AE8BB9B}"/>
              </a:ext>
            </a:extLst>
          </p:cNvPr>
          <p:cNvSpPr/>
          <p:nvPr/>
        </p:nvSpPr>
        <p:spPr>
          <a:xfrm>
            <a:off x="518369" y="1094432"/>
            <a:ext cx="11534571" cy="2464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133" b="1" dirty="0">
                <a:solidFill>
                  <a:schemeClr val="tx1"/>
                </a:solidFill>
              </a:rPr>
              <a:t>Подготовка даты</a:t>
            </a:r>
            <a:r>
              <a:rPr lang="ru-RU" sz="2133" dirty="0">
                <a:solidFill>
                  <a:schemeClr val="tx1"/>
                </a:solidFill>
              </a:rPr>
              <a:t>. Если есть признак с датой, необходимо привести значение в столбец к формату с датой.</a:t>
            </a:r>
          </a:p>
          <a:p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 = </a:t>
            </a:r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].</a:t>
            </a:r>
            <a:r>
              <a:rPr lang="en-US" sz="2133" dirty="0" err="1">
                <a:solidFill>
                  <a:schemeClr val="tx1"/>
                </a:solidFill>
              </a:rPr>
              <a:t>astype</a:t>
            </a:r>
            <a:r>
              <a:rPr lang="en-US" sz="2133" dirty="0">
                <a:solidFill>
                  <a:schemeClr val="tx1"/>
                </a:solidFill>
              </a:rPr>
              <a:t>("datetime64[ns]")</a:t>
            </a:r>
          </a:p>
          <a:p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  = </a:t>
            </a:r>
            <a:r>
              <a:rPr lang="en-US" sz="2133" dirty="0" err="1">
                <a:solidFill>
                  <a:schemeClr val="tx1"/>
                </a:solidFill>
              </a:rPr>
              <a:t>pd.to_datetime</a:t>
            </a:r>
            <a:r>
              <a:rPr lang="en-US" sz="2133" dirty="0">
                <a:solidFill>
                  <a:schemeClr val="tx1"/>
                </a:solidFill>
              </a:rPr>
              <a:t>(</a:t>
            </a:r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], format=‘%d</a:t>
            </a:r>
            <a:r>
              <a:rPr lang="ru-RU" sz="2133" dirty="0">
                <a:solidFill>
                  <a:schemeClr val="tx1"/>
                </a:solidFill>
              </a:rPr>
              <a:t>.</a:t>
            </a:r>
            <a:r>
              <a:rPr lang="en-US" sz="2133" dirty="0">
                <a:solidFill>
                  <a:schemeClr val="tx1"/>
                </a:solidFill>
              </a:rPr>
              <a:t>%</a:t>
            </a:r>
            <a:r>
              <a:rPr lang="en-US" sz="2133" dirty="0" err="1">
                <a:solidFill>
                  <a:schemeClr val="tx1"/>
                </a:solidFill>
              </a:rPr>
              <a:t>m.%Y</a:t>
            </a:r>
            <a:r>
              <a:rPr lang="en-US" sz="2133" dirty="0">
                <a:solidFill>
                  <a:schemeClr val="tx1"/>
                </a:solidFill>
              </a:rPr>
              <a:t> %H:%M:', errors='ignore’)</a:t>
            </a:r>
          </a:p>
          <a:p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 ['YEAR_WEEK'] = </a:t>
            </a:r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].</a:t>
            </a:r>
            <a:r>
              <a:rPr lang="en-US" sz="2133" dirty="0" err="1">
                <a:solidFill>
                  <a:schemeClr val="tx1"/>
                </a:solidFill>
              </a:rPr>
              <a:t>dt.strftime</a:t>
            </a:r>
            <a:r>
              <a:rPr lang="en-US" sz="2133" dirty="0">
                <a:solidFill>
                  <a:schemeClr val="tx1"/>
                </a:solidFill>
              </a:rPr>
              <a:t>('%Y-%W')</a:t>
            </a:r>
          </a:p>
          <a:p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['YEAR_MONTH'] = </a:t>
            </a:r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].</a:t>
            </a:r>
            <a:r>
              <a:rPr lang="en-US" sz="2133" dirty="0" err="1">
                <a:solidFill>
                  <a:schemeClr val="tx1"/>
                </a:solidFill>
              </a:rPr>
              <a:t>dt.strftime</a:t>
            </a:r>
            <a:r>
              <a:rPr lang="en-US" sz="2133" dirty="0">
                <a:solidFill>
                  <a:schemeClr val="tx1"/>
                </a:solidFill>
              </a:rPr>
              <a:t>('%Y-%m')</a:t>
            </a:r>
          </a:p>
          <a:p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['YEAR'] = </a:t>
            </a:r>
            <a:r>
              <a:rPr lang="en-US" sz="2133" dirty="0" err="1">
                <a:solidFill>
                  <a:schemeClr val="tx1"/>
                </a:solidFill>
              </a:rPr>
              <a:t>df</a:t>
            </a:r>
            <a:r>
              <a:rPr lang="en-US" sz="2133" dirty="0">
                <a:solidFill>
                  <a:schemeClr val="tx1"/>
                </a:solidFill>
              </a:rPr>
              <a:t>[</a:t>
            </a:r>
            <a:r>
              <a:rPr lang="en-US" sz="2133" dirty="0" err="1">
                <a:solidFill>
                  <a:schemeClr val="tx1"/>
                </a:solidFill>
              </a:rPr>
              <a:t>date_cols</a:t>
            </a:r>
            <a:r>
              <a:rPr lang="en-US" sz="2133" dirty="0">
                <a:solidFill>
                  <a:schemeClr val="tx1"/>
                </a:solidFill>
              </a:rPr>
              <a:t>].</a:t>
            </a:r>
            <a:r>
              <a:rPr lang="en-US" sz="2133" dirty="0" err="1">
                <a:solidFill>
                  <a:schemeClr val="tx1"/>
                </a:solidFill>
              </a:rPr>
              <a:t>dt.strftime</a:t>
            </a:r>
            <a:r>
              <a:rPr lang="en-US" sz="2133" dirty="0">
                <a:solidFill>
                  <a:schemeClr val="tx1"/>
                </a:solidFill>
              </a:rPr>
              <a:t>('%Y')</a:t>
            </a:r>
            <a:endParaRPr lang="ru-RU" sz="2133" dirty="0">
              <a:solidFill>
                <a:schemeClr val="tx1"/>
              </a:solidFill>
            </a:endParaRP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CA04EB23-4620-9984-E5CC-32AB18034B5C}"/>
              </a:ext>
            </a:extLst>
          </p:cNvPr>
          <p:cNvSpPr txBox="1">
            <a:spLocks/>
          </p:cNvSpPr>
          <p:nvPr/>
        </p:nvSpPr>
        <p:spPr>
          <a:xfrm>
            <a:off x="0" y="69851"/>
            <a:ext cx="12045950" cy="87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265" dirty="0">
                <a:solidFill>
                  <a:srgbClr val="44B8E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данными. Выбираем уровень группировки. </a:t>
            </a:r>
            <a:endParaRPr lang="ru-RU" sz="4265" dirty="0">
              <a:solidFill>
                <a:srgbClr val="44B8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776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лилиния 10">
            <a:extLst>
              <a:ext uri="{FF2B5EF4-FFF2-40B4-BE49-F238E27FC236}">
                <a16:creationId xmlns:a16="http://schemas.microsoft.com/office/drawing/2014/main" id="{4466692E-0108-A03B-F73A-D9F93748EA3B}"/>
              </a:ext>
            </a:extLst>
          </p:cNvPr>
          <p:cNvSpPr/>
          <p:nvPr/>
        </p:nvSpPr>
        <p:spPr>
          <a:xfrm>
            <a:off x="5019488" y="2148178"/>
            <a:ext cx="2902148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b="1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визуальные</a:t>
            </a:r>
            <a:r>
              <a:rPr lang="ru-RU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(красочность, новизна формы представления)</a:t>
            </a:r>
          </a:p>
        </p:txBody>
      </p:sp>
      <p:sp>
        <p:nvSpPr>
          <p:cNvPr id="20" name="Полилиния 11">
            <a:extLst>
              <a:ext uri="{FF2B5EF4-FFF2-40B4-BE49-F238E27FC236}">
                <a16:creationId xmlns:a16="http://schemas.microsoft.com/office/drawing/2014/main" id="{61CE309B-AD68-3958-0F9A-96BE4DD056F7}"/>
              </a:ext>
            </a:extLst>
          </p:cNvPr>
          <p:cNvSpPr/>
          <p:nvPr/>
        </p:nvSpPr>
        <p:spPr>
          <a:xfrm>
            <a:off x="8908480" y="2129852"/>
            <a:ext cx="2902148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defTabSz="711200">
              <a:spcBef>
                <a:spcPct val="0"/>
              </a:spcBef>
              <a:spcAft>
                <a:spcPct val="35000"/>
              </a:spcAft>
              <a:buNone/>
            </a:pPr>
            <a:r>
              <a:rPr lang="ru-RU" b="1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Обоснованность </a:t>
            </a:r>
          </a:p>
          <a:p>
            <a:pPr marL="0" lvl="0" indent="0" defTabSz="711200"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(научные методы, статистические данные)</a:t>
            </a:r>
          </a:p>
        </p:txBody>
      </p:sp>
      <p:sp>
        <p:nvSpPr>
          <p:cNvPr id="21" name="Полилиния 12">
            <a:extLst>
              <a:ext uri="{FF2B5EF4-FFF2-40B4-BE49-F238E27FC236}">
                <a16:creationId xmlns:a16="http://schemas.microsoft.com/office/drawing/2014/main" id="{C40706A4-C94F-4602-4E24-EE924412314C}"/>
              </a:ext>
            </a:extLst>
          </p:cNvPr>
          <p:cNvSpPr/>
          <p:nvPr/>
        </p:nvSpPr>
        <p:spPr>
          <a:xfrm>
            <a:off x="5958857" y="4163656"/>
            <a:ext cx="2608657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Объем используемых данных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(Количество предприятий, период анализа)</a:t>
            </a:r>
          </a:p>
        </p:txBody>
      </p:sp>
      <p:sp>
        <p:nvSpPr>
          <p:cNvPr id="22" name="Полилиния 13">
            <a:extLst>
              <a:ext uri="{FF2B5EF4-FFF2-40B4-BE49-F238E27FC236}">
                <a16:creationId xmlns:a16="http://schemas.microsoft.com/office/drawing/2014/main" id="{8B8D8EFA-9164-99F0-903A-2D1BB5B20A1F}"/>
              </a:ext>
            </a:extLst>
          </p:cNvPr>
          <p:cNvSpPr/>
          <p:nvPr/>
        </p:nvSpPr>
        <p:spPr>
          <a:xfrm>
            <a:off x="9033642" y="4152986"/>
            <a:ext cx="2481593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Интерактивность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(Возможность сразу в ходу презентации рассмотреть детали данных)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DB7C919-45C6-60E5-AD8B-B57D3AC97470}"/>
              </a:ext>
            </a:extLst>
          </p:cNvPr>
          <p:cNvSpPr/>
          <p:nvPr/>
        </p:nvSpPr>
        <p:spPr>
          <a:xfrm>
            <a:off x="381372" y="1833794"/>
            <a:ext cx="4191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 составляющие контента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D5D48FF-B6ED-0793-E2FC-78595FC1B39D}"/>
              </a:ext>
            </a:extLst>
          </p:cNvPr>
          <p:cNvSpPr/>
          <p:nvPr/>
        </p:nvSpPr>
        <p:spPr>
          <a:xfrm>
            <a:off x="431665" y="3757150"/>
            <a:ext cx="41216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ru-RU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Презентации содержащей анализ статистических данных</a:t>
            </a: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EEC58728-12B9-FF0C-9E38-23908952140E}"/>
              </a:ext>
            </a:extLst>
          </p:cNvPr>
          <p:cNvSpPr txBox="1">
            <a:spLocks/>
          </p:cNvSpPr>
          <p:nvPr/>
        </p:nvSpPr>
        <p:spPr>
          <a:xfrm>
            <a:off x="431666" y="1614618"/>
            <a:ext cx="4140707" cy="4549699"/>
          </a:xfrm>
          <a:prstGeom prst="roundRect">
            <a:avLst>
              <a:gd name="adj" fmla="val 4817"/>
            </a:avLst>
          </a:prstGeom>
          <a:ln w="12700">
            <a:solidFill>
              <a:schemeClr val="accent1">
                <a:lumMod val="50000"/>
              </a:schemeClr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pic>
        <p:nvPicPr>
          <p:cNvPr id="26" name="Рисунок 25" descr="Глаз">
            <a:extLst>
              <a:ext uri="{FF2B5EF4-FFF2-40B4-BE49-F238E27FC236}">
                <a16:creationId xmlns:a16="http://schemas.microsoft.com/office/drawing/2014/main" id="{3F75878E-F461-B2E7-65F4-ABE5EB68A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2551" y="1942766"/>
            <a:ext cx="806397" cy="806397"/>
          </a:xfrm>
          <a:prstGeom prst="rect">
            <a:avLst/>
          </a:prstGeom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E84D58B1-AA33-7263-F139-090B28CE78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3" t="22658" r="23769" b="23007"/>
          <a:stretch/>
        </p:blipFill>
        <p:spPr bwMode="auto">
          <a:xfrm>
            <a:off x="9839838" y="1783267"/>
            <a:ext cx="1363206" cy="81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DA2F7F3B-87A8-79D0-3365-6BC2AA52A230}"/>
              </a:ext>
            </a:extLst>
          </p:cNvPr>
          <p:cNvCxnSpPr>
            <a:cxnSpLocks/>
          </p:cNvCxnSpPr>
          <p:nvPr/>
        </p:nvCxnSpPr>
        <p:spPr>
          <a:xfrm>
            <a:off x="8928984" y="1942766"/>
            <a:ext cx="0" cy="148623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8">
            <a:extLst>
              <a:ext uri="{FF2B5EF4-FFF2-40B4-BE49-F238E27FC236}">
                <a16:creationId xmlns:a16="http://schemas.microsoft.com/office/drawing/2014/main" id="{BD0A44C9-25EF-80F1-ADCF-CEE3C5A356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5" t="10115" r="17408" b="10115"/>
          <a:stretch/>
        </p:blipFill>
        <p:spPr bwMode="auto">
          <a:xfrm>
            <a:off x="5025462" y="4524367"/>
            <a:ext cx="938034" cy="101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>
            <a:extLst>
              <a:ext uri="{FF2B5EF4-FFF2-40B4-BE49-F238E27FC236}">
                <a16:creationId xmlns:a16="http://schemas.microsoft.com/office/drawing/2014/main" id="{102C7486-6633-2DD2-2FC7-DD675CFAE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918" y="3918424"/>
            <a:ext cx="1138882" cy="86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F53E7C3-68E5-E343-ACB1-3C63FA1F303A}"/>
              </a:ext>
            </a:extLst>
          </p:cNvPr>
          <p:cNvCxnSpPr>
            <a:cxnSpLocks/>
          </p:cNvCxnSpPr>
          <p:nvPr/>
        </p:nvCxnSpPr>
        <p:spPr>
          <a:xfrm>
            <a:off x="5019488" y="1916813"/>
            <a:ext cx="0" cy="148623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27FC0131-F524-0939-153F-97154629B3DB}"/>
              </a:ext>
            </a:extLst>
          </p:cNvPr>
          <p:cNvCxnSpPr>
            <a:cxnSpLocks/>
          </p:cNvCxnSpPr>
          <p:nvPr/>
        </p:nvCxnSpPr>
        <p:spPr>
          <a:xfrm>
            <a:off x="4999616" y="4091251"/>
            <a:ext cx="0" cy="148623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0EA354DA-6E8D-98B4-46A9-A647DF7FE9A1}"/>
              </a:ext>
            </a:extLst>
          </p:cNvPr>
          <p:cNvCxnSpPr>
            <a:cxnSpLocks/>
          </p:cNvCxnSpPr>
          <p:nvPr/>
        </p:nvCxnSpPr>
        <p:spPr>
          <a:xfrm>
            <a:off x="8928984" y="4057998"/>
            <a:ext cx="0" cy="148623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3D0C7DD4-9447-5B6E-8CB8-4BE9D505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72" y="-92126"/>
            <a:ext cx="7385603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Что влияет на воспринятие доклада/анализа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1D3A6E67-998B-9203-444B-D468E241DEF1}"/>
              </a:ext>
            </a:extLst>
          </p:cNvPr>
          <p:cNvSpPr/>
          <p:nvPr/>
        </p:nvSpPr>
        <p:spPr>
          <a:xfrm>
            <a:off x="4898810" y="642963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7" name="Номер слайда 36">
            <a:extLst>
              <a:ext uri="{FF2B5EF4-FFF2-40B4-BE49-F238E27FC236}">
                <a16:creationId xmlns:a16="http://schemas.microsoft.com/office/drawing/2014/main" id="{DBFCCAFF-C787-43B1-FDC8-AC91D12F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54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1B5928-0F63-2EBF-B1ED-786F22328E35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005D27B-3960-C386-A956-5903C7566AC6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2978F6CB-25C9-6406-C618-A6A983897748}"/>
              </a:ext>
            </a:extLst>
          </p:cNvPr>
          <p:cNvSpPr/>
          <p:nvPr/>
        </p:nvSpPr>
        <p:spPr>
          <a:xfrm>
            <a:off x="5323440" y="2759087"/>
            <a:ext cx="1545121" cy="1545123"/>
          </a:xfrm>
          <a:prstGeom prst="ellipse">
            <a:avLst/>
          </a:prstGeom>
          <a:solidFill>
            <a:schemeClr val="bg2"/>
          </a:soli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1" name="Graphic 95" descr="Trophy">
            <a:extLst>
              <a:ext uri="{FF2B5EF4-FFF2-40B4-BE49-F238E27FC236}">
                <a16:creationId xmlns:a16="http://schemas.microsoft.com/office/drawing/2014/main" id="{CBABE4EA-12E6-44D9-425C-2D4DEAB97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1938" y="2967586"/>
            <a:ext cx="1128125" cy="1128125"/>
          </a:xfrm>
          <a:prstGeom prst="rect">
            <a:avLst/>
          </a:prstGeom>
        </p:spPr>
      </p:pic>
      <p:sp>
        <p:nvSpPr>
          <p:cNvPr id="52" name="Freeform: Shape 5">
            <a:extLst>
              <a:ext uri="{FF2B5EF4-FFF2-40B4-BE49-F238E27FC236}">
                <a16:creationId xmlns:a16="http://schemas.microsoft.com/office/drawing/2014/main" id="{0A8794BB-B4CF-38E7-8CCF-8AF8983B31F7}"/>
              </a:ext>
            </a:extLst>
          </p:cNvPr>
          <p:cNvSpPr/>
          <p:nvPr/>
        </p:nvSpPr>
        <p:spPr>
          <a:xfrm>
            <a:off x="4755123" y="3290213"/>
            <a:ext cx="905623" cy="1508665"/>
          </a:xfrm>
          <a:custGeom>
            <a:avLst/>
            <a:gdLst>
              <a:gd name="connsiteX0" fmla="*/ 22847 w 905623"/>
              <a:gd name="connsiteY0" fmla="*/ 0 h 1508665"/>
              <a:gd name="connsiteX1" fmla="*/ 57063 w 905623"/>
              <a:gd name="connsiteY1" fmla="*/ 33381 h 1508665"/>
              <a:gd name="connsiteX2" fmla="*/ 567528 w 905623"/>
              <a:gd name="connsiteY2" fmla="*/ 717003 h 1508665"/>
              <a:gd name="connsiteX3" fmla="*/ 894104 w 905623"/>
              <a:gd name="connsiteY3" fmla="*/ 1465327 h 1508665"/>
              <a:gd name="connsiteX4" fmla="*/ 905623 w 905623"/>
              <a:gd name="connsiteY4" fmla="*/ 1508665 h 1508665"/>
              <a:gd name="connsiteX5" fmla="*/ 818948 w 905623"/>
              <a:gd name="connsiteY5" fmla="*/ 1476941 h 1508665"/>
              <a:gd name="connsiteX6" fmla="*/ 0 w 905623"/>
              <a:gd name="connsiteY6" fmla="*/ 241436 h 1508665"/>
              <a:gd name="connsiteX7" fmla="*/ 6923 w 905623"/>
              <a:gd name="connsiteY7" fmla="*/ 104339 h 1508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623" h="1508665">
                <a:moveTo>
                  <a:pt x="22847" y="0"/>
                </a:moveTo>
                <a:lnTo>
                  <a:pt x="57063" y="33381"/>
                </a:lnTo>
                <a:cubicBezTo>
                  <a:pt x="237054" y="217564"/>
                  <a:pt x="413296" y="449865"/>
                  <a:pt x="567528" y="717003"/>
                </a:cubicBezTo>
                <a:cubicBezTo>
                  <a:pt x="714416" y="971420"/>
                  <a:pt x="823958" y="1227328"/>
                  <a:pt x="894104" y="1465327"/>
                </a:cubicBezTo>
                <a:lnTo>
                  <a:pt x="905623" y="1508665"/>
                </a:lnTo>
                <a:lnTo>
                  <a:pt x="818948" y="1476941"/>
                </a:lnTo>
                <a:cubicBezTo>
                  <a:pt x="337687" y="1273385"/>
                  <a:pt x="0" y="796846"/>
                  <a:pt x="0" y="241436"/>
                </a:cubicBezTo>
                <a:cubicBezTo>
                  <a:pt x="0" y="195152"/>
                  <a:pt x="2345" y="149416"/>
                  <a:pt x="6923" y="104339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DDE33B3E-E918-0341-5825-3AF50D9A6A8B}"/>
              </a:ext>
            </a:extLst>
          </p:cNvPr>
          <p:cNvSpPr/>
          <p:nvPr/>
        </p:nvSpPr>
        <p:spPr>
          <a:xfrm>
            <a:off x="5025998" y="3938854"/>
            <a:ext cx="210613" cy="2433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80" h="20982" extrusionOk="0">
                <a:moveTo>
                  <a:pt x="2727" y="1002"/>
                </a:moveTo>
                <a:lnTo>
                  <a:pt x="27" y="15342"/>
                </a:lnTo>
                <a:cubicBezTo>
                  <a:pt x="-181" y="16975"/>
                  <a:pt x="857" y="18427"/>
                  <a:pt x="2727" y="18609"/>
                </a:cubicBezTo>
                <a:lnTo>
                  <a:pt x="19134" y="20969"/>
                </a:lnTo>
                <a:cubicBezTo>
                  <a:pt x="20796" y="21150"/>
                  <a:pt x="21419" y="19335"/>
                  <a:pt x="19965" y="18609"/>
                </a:cubicBezTo>
                <a:lnTo>
                  <a:pt x="7296" y="13345"/>
                </a:lnTo>
                <a:lnTo>
                  <a:pt x="5634" y="1184"/>
                </a:lnTo>
                <a:cubicBezTo>
                  <a:pt x="5427" y="-268"/>
                  <a:pt x="2934" y="-450"/>
                  <a:pt x="2727" y="1002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3000">
              <a:solidFill>
                <a:srgbClr val="FFFFFF"/>
              </a:solidFill>
            </a:endParaRPr>
          </a:p>
        </p:txBody>
      </p: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4BCC5B53-AE27-DED3-A3BD-2BFDCF7DDB8A}"/>
              </a:ext>
            </a:extLst>
          </p:cNvPr>
          <p:cNvGrpSpPr/>
          <p:nvPr/>
        </p:nvGrpSpPr>
        <p:grpSpPr>
          <a:xfrm>
            <a:off x="4362832" y="1155414"/>
            <a:ext cx="3435337" cy="1513554"/>
            <a:chOff x="4362832" y="1155414"/>
            <a:chExt cx="3435337" cy="1513554"/>
          </a:xfrm>
        </p:grpSpPr>
        <p:sp>
          <p:nvSpPr>
            <p:cNvPr id="45" name="Oval 16">
              <a:extLst>
                <a:ext uri="{FF2B5EF4-FFF2-40B4-BE49-F238E27FC236}">
                  <a16:creationId xmlns:a16="http://schemas.microsoft.com/office/drawing/2014/main" id="{450C4569-83DE-EDE0-5AFD-F74B0C4FE4A7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3000">
                <a:solidFill>
                  <a:srgbClr val="FFFFFF"/>
                </a:solidFill>
              </a:endParaRPr>
            </a:p>
          </p:txBody>
        </p:sp>
        <p:sp>
          <p:nvSpPr>
            <p:cNvPr id="47" name="TextBox 89">
              <a:extLst>
                <a:ext uri="{FF2B5EF4-FFF2-40B4-BE49-F238E27FC236}">
                  <a16:creationId xmlns:a16="http://schemas.microsoft.com/office/drawing/2014/main" id="{681D5D68-56A7-0D0E-2691-A29BA3014F39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57" name="Graphic 94" descr="Research with solid fill">
              <a:extLst>
                <a:ext uri="{FF2B5EF4-FFF2-40B4-BE49-F238E27FC236}">
                  <a16:creationId xmlns:a16="http://schemas.microsoft.com/office/drawing/2014/main" id="{FFB782D8-C2D2-24BB-CAEF-17B298681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58" name="Freeform: Shape 34">
              <a:extLst>
                <a:ext uri="{FF2B5EF4-FFF2-40B4-BE49-F238E27FC236}">
                  <a16:creationId xmlns:a16="http://schemas.microsoft.com/office/drawing/2014/main" id="{8D3A8D23-1D98-A599-D579-23FF41444503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BBB265FA-F301-2782-1040-1EE3461F70E5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0" name="Freeform: Shape 36">
            <a:extLst>
              <a:ext uri="{FF2B5EF4-FFF2-40B4-BE49-F238E27FC236}">
                <a16:creationId xmlns:a16="http://schemas.microsoft.com/office/drawing/2014/main" id="{4C9BA67F-09E5-02DB-A377-DE8BAEA1237F}"/>
              </a:ext>
            </a:extLst>
          </p:cNvPr>
          <p:cNvSpPr/>
          <p:nvPr/>
        </p:nvSpPr>
        <p:spPr>
          <a:xfrm>
            <a:off x="4030926" y="2348465"/>
            <a:ext cx="1292584" cy="839984"/>
          </a:xfrm>
          <a:custGeom>
            <a:avLst/>
            <a:gdLst>
              <a:gd name="connsiteX0" fmla="*/ 21033 w 1292584"/>
              <a:gd name="connsiteY0" fmla="*/ 0 h 839984"/>
              <a:gd name="connsiteX1" fmla="*/ 524108 w 1292584"/>
              <a:gd name="connsiteY1" fmla="*/ 290426 h 839984"/>
              <a:gd name="connsiteX2" fmla="*/ 1292584 w 1292584"/>
              <a:gd name="connsiteY2" fmla="*/ 604199 h 839984"/>
              <a:gd name="connsiteX3" fmla="*/ 1164090 w 1292584"/>
              <a:gd name="connsiteY3" fmla="*/ 839984 h 839984"/>
              <a:gd name="connsiteX4" fmla="*/ 503075 w 1292584"/>
              <a:gd name="connsiteY4" fmla="*/ 326357 h 839984"/>
              <a:gd name="connsiteX5" fmla="*/ 0 w 1292584"/>
              <a:gd name="connsiteY5" fmla="*/ 35765 h 839984"/>
              <a:gd name="connsiteX6" fmla="*/ 21033 w 1292584"/>
              <a:gd name="connsiteY6" fmla="*/ 0 h 839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2584" h="839984">
                <a:moveTo>
                  <a:pt x="21033" y="0"/>
                </a:moveTo>
                <a:lnTo>
                  <a:pt x="524108" y="290426"/>
                </a:lnTo>
                <a:cubicBezTo>
                  <a:pt x="766181" y="429513"/>
                  <a:pt x="1025080" y="534656"/>
                  <a:pt x="1292584" y="604199"/>
                </a:cubicBezTo>
                <a:cubicBezTo>
                  <a:pt x="1239809" y="675729"/>
                  <a:pt x="1195640" y="755704"/>
                  <a:pt x="1164090" y="839984"/>
                </a:cubicBezTo>
                <a:cubicBezTo>
                  <a:pt x="968290" y="639964"/>
                  <a:pt x="747251" y="467265"/>
                  <a:pt x="503075" y="326357"/>
                </a:cubicBezTo>
                <a:lnTo>
                  <a:pt x="0" y="35765"/>
                </a:lnTo>
                <a:lnTo>
                  <a:pt x="2103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CA4123F-317C-A98A-C009-CF57C4704AF0}"/>
              </a:ext>
            </a:extLst>
          </p:cNvPr>
          <p:cNvGrpSpPr/>
          <p:nvPr/>
        </p:nvGrpSpPr>
        <p:grpSpPr>
          <a:xfrm>
            <a:off x="6450498" y="2348465"/>
            <a:ext cx="2193859" cy="3559418"/>
            <a:chOff x="6450498" y="2348465"/>
            <a:chExt cx="2193859" cy="3559418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0E9DF964-DA34-0D65-32E5-A5A3ED3E9167}"/>
                </a:ext>
              </a:extLst>
            </p:cNvPr>
            <p:cNvGrpSpPr/>
            <p:nvPr/>
          </p:nvGrpSpPr>
          <p:grpSpPr>
            <a:xfrm>
              <a:off x="6450498" y="2863327"/>
              <a:ext cx="2193859" cy="3044556"/>
              <a:chOff x="6450498" y="2863327"/>
              <a:chExt cx="2193859" cy="3044556"/>
            </a:xfrm>
          </p:grpSpPr>
          <p:sp>
            <p:nvSpPr>
              <p:cNvPr id="44" name="Freeform: Shape 21">
                <a:extLst>
                  <a:ext uri="{FF2B5EF4-FFF2-40B4-BE49-F238E27FC236}">
                    <a16:creationId xmlns:a16="http://schemas.microsoft.com/office/drawing/2014/main" id="{D42003DB-3770-249C-C7FB-72FC8570B129}"/>
                  </a:ext>
                </a:extLst>
              </p:cNvPr>
              <p:cNvSpPr/>
              <p:nvPr/>
            </p:nvSpPr>
            <p:spPr>
              <a:xfrm>
                <a:off x="6450498" y="2863327"/>
                <a:ext cx="2148481" cy="3044556"/>
              </a:xfrm>
              <a:custGeom>
                <a:avLst/>
                <a:gdLst>
                  <a:gd name="connsiteX0" fmla="*/ 1775951 w 2148481"/>
                  <a:gd name="connsiteY0" fmla="*/ 1847 h 3044556"/>
                  <a:gd name="connsiteX1" fmla="*/ 1925326 w 2148481"/>
                  <a:gd name="connsiteY1" fmla="*/ 48156 h 3044556"/>
                  <a:gd name="connsiteX2" fmla="*/ 1729630 w 2148481"/>
                  <a:gd name="connsiteY2" fmla="*/ 1900666 h 3044556"/>
                  <a:gd name="connsiteX3" fmla="*/ 223157 w 2148481"/>
                  <a:gd name="connsiteY3" fmla="*/ 2996400 h 3044556"/>
                  <a:gd name="connsiteX4" fmla="*/ 418853 w 2148481"/>
                  <a:gd name="connsiteY4" fmla="*/ 1143889 h 3044556"/>
                  <a:gd name="connsiteX5" fmla="*/ 1775951 w 2148481"/>
                  <a:gd name="connsiteY5" fmla="*/ 1847 h 304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8481" h="3044556">
                    <a:moveTo>
                      <a:pt x="1775951" y="1847"/>
                    </a:moveTo>
                    <a:cubicBezTo>
                      <a:pt x="1829953" y="6842"/>
                      <a:pt x="1880081" y="22034"/>
                      <a:pt x="1925326" y="48156"/>
                    </a:cubicBezTo>
                    <a:cubicBezTo>
                      <a:pt x="2287286" y="257134"/>
                      <a:pt x="2199671" y="1086531"/>
                      <a:pt x="1729630" y="1900666"/>
                    </a:cubicBezTo>
                    <a:cubicBezTo>
                      <a:pt x="1259589" y="2714801"/>
                      <a:pt x="585117" y="3205378"/>
                      <a:pt x="223157" y="2996400"/>
                    </a:cubicBezTo>
                    <a:cubicBezTo>
                      <a:pt x="-138804" y="2787422"/>
                      <a:pt x="-51188" y="1958024"/>
                      <a:pt x="418853" y="1143889"/>
                    </a:cubicBezTo>
                    <a:cubicBezTo>
                      <a:pt x="830139" y="431521"/>
                      <a:pt x="1397941" y="-33122"/>
                      <a:pt x="1775951" y="18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endParaRPr lang="en-US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TextBox 90">
                <a:extLst>
                  <a:ext uri="{FF2B5EF4-FFF2-40B4-BE49-F238E27FC236}">
                    <a16:creationId xmlns:a16="http://schemas.microsoft.com/office/drawing/2014/main" id="{653E929C-39F9-9622-516F-95FE0F957A6D}"/>
                  </a:ext>
                </a:extLst>
              </p:cNvPr>
              <p:cNvSpPr txBox="1"/>
              <p:nvPr/>
            </p:nvSpPr>
            <p:spPr>
              <a:xfrm>
                <a:off x="7683749" y="2911271"/>
                <a:ext cx="960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02</a:t>
                </a:r>
              </a:p>
            </p:txBody>
          </p:sp>
        </p:grpSp>
        <p:pic>
          <p:nvPicPr>
            <p:cNvPr id="50" name="Graphic 93" descr="Lightbulb with solid fill">
              <a:extLst>
                <a:ext uri="{FF2B5EF4-FFF2-40B4-BE49-F238E27FC236}">
                  <a16:creationId xmlns:a16="http://schemas.microsoft.com/office/drawing/2014/main" id="{83B62096-53C4-F59D-CE9F-97BCD8E25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16134" y="4007340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53" name="Freeform: Shape 7">
              <a:extLst>
                <a:ext uri="{FF2B5EF4-FFF2-40B4-BE49-F238E27FC236}">
                  <a16:creationId xmlns:a16="http://schemas.microsoft.com/office/drawing/2014/main" id="{6CF28502-D1EA-EC4D-630A-EFEA4F878CB6}"/>
                </a:ext>
              </a:extLst>
            </p:cNvPr>
            <p:cNvSpPr/>
            <p:nvPr/>
          </p:nvSpPr>
          <p:spPr>
            <a:xfrm>
              <a:off x="6531256" y="3290213"/>
              <a:ext cx="905623" cy="1508665"/>
            </a:xfrm>
            <a:custGeom>
              <a:avLst/>
              <a:gdLst>
                <a:gd name="connsiteX0" fmla="*/ 882776 w 905623"/>
                <a:gd name="connsiteY0" fmla="*/ 0 h 1508665"/>
                <a:gd name="connsiteX1" fmla="*/ 898700 w 905623"/>
                <a:gd name="connsiteY1" fmla="*/ 104339 h 1508665"/>
                <a:gd name="connsiteX2" fmla="*/ 905623 w 905623"/>
                <a:gd name="connsiteY2" fmla="*/ 241436 h 1508665"/>
                <a:gd name="connsiteX3" fmla="*/ 86675 w 905623"/>
                <a:gd name="connsiteY3" fmla="*/ 1476941 h 1508665"/>
                <a:gd name="connsiteX4" fmla="*/ 0 w 905623"/>
                <a:gd name="connsiteY4" fmla="*/ 1508665 h 1508665"/>
                <a:gd name="connsiteX5" fmla="*/ 11520 w 905623"/>
                <a:gd name="connsiteY5" fmla="*/ 1465327 h 1508665"/>
                <a:gd name="connsiteX6" fmla="*/ 338095 w 905623"/>
                <a:gd name="connsiteY6" fmla="*/ 717003 h 1508665"/>
                <a:gd name="connsiteX7" fmla="*/ 848560 w 905623"/>
                <a:gd name="connsiteY7" fmla="*/ 33381 h 1508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5623" h="1508665">
                  <a:moveTo>
                    <a:pt x="882776" y="0"/>
                  </a:moveTo>
                  <a:lnTo>
                    <a:pt x="898700" y="104339"/>
                  </a:lnTo>
                  <a:cubicBezTo>
                    <a:pt x="903278" y="149416"/>
                    <a:pt x="905623" y="195152"/>
                    <a:pt x="905623" y="241436"/>
                  </a:cubicBezTo>
                  <a:cubicBezTo>
                    <a:pt x="905623" y="796846"/>
                    <a:pt x="567936" y="1273385"/>
                    <a:pt x="86675" y="1476941"/>
                  </a:cubicBezTo>
                  <a:lnTo>
                    <a:pt x="0" y="1508665"/>
                  </a:lnTo>
                  <a:lnTo>
                    <a:pt x="11520" y="1465327"/>
                  </a:lnTo>
                  <a:cubicBezTo>
                    <a:pt x="81666" y="1227328"/>
                    <a:pt x="191207" y="971420"/>
                    <a:pt x="338095" y="717003"/>
                  </a:cubicBezTo>
                  <a:cubicBezTo>
                    <a:pt x="492328" y="449865"/>
                    <a:pt x="668570" y="217564"/>
                    <a:pt x="848560" y="33381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5" name="Shape">
              <a:extLst>
                <a:ext uri="{FF2B5EF4-FFF2-40B4-BE49-F238E27FC236}">
                  <a16:creationId xmlns:a16="http://schemas.microsoft.com/office/drawing/2014/main" id="{68602678-B8F6-A645-A7E4-D4B50D787BB6}"/>
                </a:ext>
              </a:extLst>
            </p:cNvPr>
            <p:cNvSpPr/>
            <p:nvPr/>
          </p:nvSpPr>
          <p:spPr>
            <a:xfrm>
              <a:off x="6930355" y="3926223"/>
              <a:ext cx="207324" cy="255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5" h="21011" extrusionOk="0">
                  <a:moveTo>
                    <a:pt x="1682" y="20999"/>
                  </a:moveTo>
                  <a:lnTo>
                    <a:pt x="17882" y="17716"/>
                  </a:lnTo>
                  <a:cubicBezTo>
                    <a:pt x="19544" y="17370"/>
                    <a:pt x="20790" y="15815"/>
                    <a:pt x="20375" y="14433"/>
                  </a:cubicBezTo>
                  <a:lnTo>
                    <a:pt x="16428" y="954"/>
                  </a:lnTo>
                  <a:cubicBezTo>
                    <a:pt x="16013" y="-428"/>
                    <a:pt x="13728" y="-255"/>
                    <a:pt x="13728" y="1127"/>
                  </a:cubicBezTo>
                  <a:lnTo>
                    <a:pt x="13105" y="12877"/>
                  </a:lnTo>
                  <a:lnTo>
                    <a:pt x="852" y="18753"/>
                  </a:lnTo>
                  <a:cubicBezTo>
                    <a:pt x="-810" y="19444"/>
                    <a:pt x="228" y="21172"/>
                    <a:pt x="1682" y="20999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3000">
                <a:solidFill>
                  <a:srgbClr val="FFFFFF"/>
                </a:solidFill>
              </a:endParaRPr>
            </a:p>
          </p:txBody>
        </p:sp>
        <p:sp>
          <p:nvSpPr>
            <p:cNvPr id="61" name="Freeform: Shape 37">
              <a:extLst>
                <a:ext uri="{FF2B5EF4-FFF2-40B4-BE49-F238E27FC236}">
                  <a16:creationId xmlns:a16="http://schemas.microsoft.com/office/drawing/2014/main" id="{77765822-E095-A1FB-F92F-6BECCD126F59}"/>
                </a:ext>
              </a:extLst>
            </p:cNvPr>
            <p:cNvSpPr/>
            <p:nvPr/>
          </p:nvSpPr>
          <p:spPr>
            <a:xfrm>
              <a:off x="6868492" y="2348465"/>
              <a:ext cx="1292583" cy="839984"/>
            </a:xfrm>
            <a:custGeom>
              <a:avLst/>
              <a:gdLst>
                <a:gd name="connsiteX0" fmla="*/ 1271550 w 1292583"/>
                <a:gd name="connsiteY0" fmla="*/ 0 h 839984"/>
                <a:gd name="connsiteX1" fmla="*/ 1292583 w 1292583"/>
                <a:gd name="connsiteY1" fmla="*/ 35765 h 839984"/>
                <a:gd name="connsiteX2" fmla="*/ 789508 w 1292583"/>
                <a:gd name="connsiteY2" fmla="*/ 326357 h 839984"/>
                <a:gd name="connsiteX3" fmla="*/ 128493 w 1292583"/>
                <a:gd name="connsiteY3" fmla="*/ 839984 h 839984"/>
                <a:gd name="connsiteX4" fmla="*/ 0 w 1292583"/>
                <a:gd name="connsiteY4" fmla="*/ 604199 h 839984"/>
                <a:gd name="connsiteX5" fmla="*/ 768475 w 1292583"/>
                <a:gd name="connsiteY5" fmla="*/ 290426 h 839984"/>
                <a:gd name="connsiteX6" fmla="*/ 1271550 w 1292583"/>
                <a:gd name="connsiteY6" fmla="*/ 0 h 83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2583" h="839984">
                  <a:moveTo>
                    <a:pt x="1271550" y="0"/>
                  </a:moveTo>
                  <a:lnTo>
                    <a:pt x="1292583" y="35765"/>
                  </a:lnTo>
                  <a:lnTo>
                    <a:pt x="789508" y="326357"/>
                  </a:lnTo>
                  <a:cubicBezTo>
                    <a:pt x="545332" y="467265"/>
                    <a:pt x="324293" y="639964"/>
                    <a:pt x="128493" y="839984"/>
                  </a:cubicBezTo>
                  <a:cubicBezTo>
                    <a:pt x="96944" y="755704"/>
                    <a:pt x="52774" y="675729"/>
                    <a:pt x="0" y="604199"/>
                  </a:cubicBezTo>
                  <a:cubicBezTo>
                    <a:pt x="267503" y="534656"/>
                    <a:pt x="526402" y="429513"/>
                    <a:pt x="768475" y="290426"/>
                  </a:cubicBezTo>
                  <a:lnTo>
                    <a:pt x="127155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2" name="Freeform: Shape 38">
            <a:extLst>
              <a:ext uri="{FF2B5EF4-FFF2-40B4-BE49-F238E27FC236}">
                <a16:creationId xmlns:a16="http://schemas.microsoft.com/office/drawing/2014/main" id="{B9F00B5E-EFF7-3D52-6115-BE3A3F460FC7}"/>
              </a:ext>
            </a:extLst>
          </p:cNvPr>
          <p:cNvSpPr/>
          <p:nvPr/>
        </p:nvSpPr>
        <p:spPr>
          <a:xfrm>
            <a:off x="5950680" y="4463866"/>
            <a:ext cx="290640" cy="1444017"/>
          </a:xfrm>
          <a:custGeom>
            <a:avLst/>
            <a:gdLst>
              <a:gd name="connsiteX0" fmla="*/ 0 w 290640"/>
              <a:gd name="connsiteY0" fmla="*/ 0 h 1444017"/>
              <a:gd name="connsiteX1" fmla="*/ 145320 w 290640"/>
              <a:gd name="connsiteY1" fmla="*/ 10431 h 1444017"/>
              <a:gd name="connsiteX2" fmla="*/ 290640 w 290640"/>
              <a:gd name="connsiteY2" fmla="*/ 0 h 1444017"/>
              <a:gd name="connsiteX3" fmla="*/ 166353 w 290640"/>
              <a:gd name="connsiteY3" fmla="*/ 862999 h 1444017"/>
              <a:gd name="connsiteX4" fmla="*/ 166353 w 290640"/>
              <a:gd name="connsiteY4" fmla="*/ 1444017 h 1444017"/>
              <a:gd name="connsiteX5" fmla="*/ 145320 w 290640"/>
              <a:gd name="connsiteY5" fmla="*/ 1444017 h 1444017"/>
              <a:gd name="connsiteX6" fmla="*/ 124287 w 290640"/>
              <a:gd name="connsiteY6" fmla="*/ 1444017 h 1444017"/>
              <a:gd name="connsiteX7" fmla="*/ 124287 w 290640"/>
              <a:gd name="connsiteY7" fmla="*/ 862999 h 1444017"/>
              <a:gd name="connsiteX8" fmla="*/ 0 w 290640"/>
              <a:gd name="connsiteY8" fmla="*/ 0 h 1444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640" h="1444017">
                <a:moveTo>
                  <a:pt x="0" y="0"/>
                </a:moveTo>
                <a:cubicBezTo>
                  <a:pt x="48568" y="6292"/>
                  <a:pt x="96944" y="10431"/>
                  <a:pt x="145320" y="10431"/>
                </a:cubicBezTo>
                <a:cubicBezTo>
                  <a:pt x="193696" y="10431"/>
                  <a:pt x="242073" y="6292"/>
                  <a:pt x="290640" y="0"/>
                </a:cubicBezTo>
                <a:cubicBezTo>
                  <a:pt x="208420" y="279995"/>
                  <a:pt x="166353" y="570421"/>
                  <a:pt x="166353" y="862999"/>
                </a:cubicBezTo>
                <a:lnTo>
                  <a:pt x="166353" y="1444017"/>
                </a:lnTo>
                <a:lnTo>
                  <a:pt x="145320" y="1444017"/>
                </a:lnTo>
                <a:lnTo>
                  <a:pt x="124287" y="1444017"/>
                </a:lnTo>
                <a:lnTo>
                  <a:pt x="124287" y="862999"/>
                </a:lnTo>
                <a:cubicBezTo>
                  <a:pt x="124287" y="570421"/>
                  <a:pt x="82221" y="279995"/>
                  <a:pt x="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63" name="Group 39">
            <a:extLst>
              <a:ext uri="{FF2B5EF4-FFF2-40B4-BE49-F238E27FC236}">
                <a16:creationId xmlns:a16="http://schemas.microsoft.com/office/drawing/2014/main" id="{861BE4CC-AA1D-F4D4-9ABE-CAD318B57DB3}"/>
              </a:ext>
            </a:extLst>
          </p:cNvPr>
          <p:cNvGrpSpPr/>
          <p:nvPr/>
        </p:nvGrpSpPr>
        <p:grpSpPr>
          <a:xfrm>
            <a:off x="8512027" y="3531648"/>
            <a:ext cx="3593021" cy="2582814"/>
            <a:chOff x="8921977" y="3704054"/>
            <a:chExt cx="2926080" cy="2582814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BFE6519-4F0C-C924-4D8C-22FA350CA4C2}"/>
                </a:ext>
              </a:extLst>
            </p:cNvPr>
            <p:cNvSpPr txBox="1"/>
            <p:nvPr/>
          </p:nvSpPr>
          <p:spPr>
            <a:xfrm>
              <a:off x="8921977" y="370405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ru-RU" sz="2400" b="1" noProof="1">
                  <a:solidFill>
                    <a:schemeClr val="accent2">
                      <a:lumMod val="75000"/>
                    </a:schemeClr>
                  </a:solidFill>
                </a:rPr>
                <a:t>Статистический анализ</a:t>
              </a:r>
              <a:endParaRPr lang="en-US" sz="2400" b="1" noProof="1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67D6498-B14B-47FB-E36E-5B3969B897B5}"/>
                </a:ext>
              </a:extLst>
            </p:cNvPr>
            <p:cNvSpPr txBox="1"/>
            <p:nvPr/>
          </p:nvSpPr>
          <p:spPr>
            <a:xfrm>
              <a:off x="8921977" y="4532542"/>
              <a:ext cx="2926080" cy="175432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ru-RU" sz="1200" b="1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Статистика</a:t>
              </a:r>
              <a:r>
                <a:rPr lang="ru-RU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помогает </a:t>
              </a:r>
              <a:r>
                <a:rPr lang="ru-RU" sz="1200" b="1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ответить </a:t>
              </a:r>
              <a:r>
                <a:rPr lang="ru-RU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на вопросы о о данных.</a:t>
              </a:r>
            </a:p>
            <a:p>
              <a:pPr algn="l">
                <a:buFont typeface="+mj-lt"/>
                <a:buAutoNum type="arabicPeriod"/>
              </a:pPr>
              <a:r>
                <a:rPr lang="ru-RU" sz="1200" b="1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Описательная статистика</a:t>
              </a:r>
              <a:r>
                <a:rPr lang="ru-RU" sz="1200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. Преобразует данные в значимую информацию, которую легко интерпретировать и распространять.</a:t>
              </a:r>
            </a:p>
            <a:p>
              <a:pPr algn="l">
                <a:buFont typeface="+mj-lt"/>
                <a:buAutoNum type="arabicPeriod"/>
              </a:pPr>
              <a:r>
                <a:rPr lang="ru-RU" sz="1200" b="1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Логическая статистика</a:t>
              </a:r>
              <a:r>
                <a:rPr lang="ru-RU" sz="1200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. Предлагает методы изучения </a:t>
              </a:r>
              <a:r>
                <a:rPr lang="ru-RU" sz="1200" b="1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экспериментов</a:t>
              </a:r>
              <a:r>
                <a:rPr lang="ru-RU" sz="1200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, выполненных на маленьких образцах данных, и умозаключения для всей популяции (всего домена).</a:t>
              </a:r>
            </a:p>
            <a:p>
              <a:pPr algn="just"/>
              <a:r>
                <a:rPr lang="ru-RU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66" name="Group 42">
            <a:extLst>
              <a:ext uri="{FF2B5EF4-FFF2-40B4-BE49-F238E27FC236}">
                <a16:creationId xmlns:a16="http://schemas.microsoft.com/office/drawing/2014/main" id="{09CA45FA-60C6-13FF-33DF-7A050D90571F}"/>
              </a:ext>
            </a:extLst>
          </p:cNvPr>
          <p:cNvGrpSpPr/>
          <p:nvPr/>
        </p:nvGrpSpPr>
        <p:grpSpPr>
          <a:xfrm>
            <a:off x="480929" y="4026727"/>
            <a:ext cx="2926080" cy="1105487"/>
            <a:chOff x="332936" y="4652338"/>
            <a:chExt cx="2926080" cy="1105487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51C5F45-411D-885F-2DF6-4A37B249760D}"/>
                </a:ext>
              </a:extLst>
            </p:cNvPr>
            <p:cNvSpPr txBox="1"/>
            <p:nvPr/>
          </p:nvSpPr>
          <p:spPr>
            <a:xfrm>
              <a:off x="332936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ru-RU" sz="2400" b="1" noProof="1">
                  <a:solidFill>
                    <a:schemeClr val="accent3">
                      <a:lumMod val="50000"/>
                    </a:schemeClr>
                  </a:solidFill>
                </a:rPr>
                <a:t>Машинное обучение</a:t>
              </a:r>
              <a:endParaRPr lang="en-US" sz="2400" b="1" noProof="1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BA43AEA-906B-A5D6-EAE8-675D2783DBC8}"/>
                </a:ext>
              </a:extLst>
            </p:cNvPr>
            <p:cNvSpPr txBox="1"/>
            <p:nvPr/>
          </p:nvSpPr>
          <p:spPr>
            <a:xfrm>
              <a:off x="332936" y="5111494"/>
              <a:ext cx="2926080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b="1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ML </a:t>
              </a:r>
              <a:r>
                <a:rPr lang="ru-RU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обеспечивает возможность управления процессами и автоматизацию решения бизнес-задач</a:t>
              </a:r>
              <a:endParaRPr lang="en-US" sz="1200" b="1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2" name="Group 48">
            <a:extLst>
              <a:ext uri="{FF2B5EF4-FFF2-40B4-BE49-F238E27FC236}">
                <a16:creationId xmlns:a16="http://schemas.microsoft.com/office/drawing/2014/main" id="{818BE5CE-786F-AAA7-0161-5543C90C93A6}"/>
              </a:ext>
            </a:extLst>
          </p:cNvPr>
          <p:cNvGrpSpPr/>
          <p:nvPr/>
        </p:nvGrpSpPr>
        <p:grpSpPr>
          <a:xfrm>
            <a:off x="294916" y="917094"/>
            <a:ext cx="3856938" cy="2028816"/>
            <a:chOff x="332936" y="2627766"/>
            <a:chExt cx="2926080" cy="202881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C9E4FDA-F1D8-805B-A8EF-60017D9F3CF6}"/>
                </a:ext>
              </a:extLst>
            </p:cNvPr>
            <p:cNvSpPr txBox="1"/>
            <p:nvPr/>
          </p:nvSpPr>
          <p:spPr>
            <a:xfrm>
              <a:off x="332936" y="2627766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ru-RU" sz="2400" b="1" noProof="1">
                  <a:solidFill>
                    <a:schemeClr val="accent6">
                      <a:lumMod val="75000"/>
                    </a:schemeClr>
                  </a:solidFill>
                </a:rPr>
                <a:t>Визуализация данных</a:t>
              </a:r>
              <a:endParaRPr lang="en-US" sz="2400" b="1" noProof="1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A79A024-A9C4-1EFB-2F78-4EBAF5BD9E63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156966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ru-RU" sz="1200" b="1" dirty="0" err="1">
                  <a:solidFill>
                    <a:srgbClr val="333333"/>
                  </a:solidFill>
                  <a:highlight>
                    <a:srgbClr val="FFFFFF"/>
                  </a:highlight>
                  <a:latin typeface="-apple-system"/>
                </a:rPr>
                <a:t>Визуал</a:t>
              </a:r>
              <a:r>
                <a:rPr lang="ru-RU" sz="1200" b="1" dirty="0">
                  <a:solidFill>
                    <a:srgbClr val="333333"/>
                  </a:solidFill>
                  <a:highlight>
                    <a:srgbClr val="FFFFFF"/>
                  </a:highlight>
                  <a:latin typeface="-apple-system"/>
                </a:rPr>
                <a:t> </a:t>
              </a:r>
              <a:r>
                <a:rPr lang="ru-RU" sz="1200" dirty="0">
                  <a:solidFill>
                    <a:srgbClr val="333333"/>
                  </a:solidFill>
                  <a:highlight>
                    <a:srgbClr val="FFFFFF"/>
                  </a:highlight>
                  <a:latin typeface="-apple-system"/>
                </a:rPr>
                <a:t>помогает сформулировать вопросы о данных</a:t>
              </a:r>
              <a:endParaRPr lang="ru-RU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endParaRPr>
            </a:p>
            <a:p>
              <a:pPr algn="just"/>
              <a:r>
                <a:rPr lang="ru-RU" sz="1200" b="1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1.</a:t>
              </a:r>
              <a:r>
                <a:rPr lang="ru-RU" sz="1200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 Если инструкции находится только текст, человек усваивает из нее </a:t>
              </a:r>
              <a:r>
                <a:rPr lang="ru-RU" sz="1200" b="1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лишь 70%</a:t>
              </a:r>
              <a:r>
                <a:rPr lang="ru-RU" sz="1200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 информации. Если же в инструкцию добавить картинки, человек усвоит </a:t>
              </a:r>
              <a:r>
                <a:rPr lang="ru-RU" sz="1200" b="1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уже 95%</a:t>
              </a:r>
              <a:r>
                <a:rPr lang="ru-RU" sz="1200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.</a:t>
              </a:r>
            </a:p>
            <a:p>
              <a:pPr algn="just"/>
              <a:r>
                <a:rPr lang="ru-RU" sz="1200" b="1" noProof="1">
                  <a:solidFill>
                    <a:srgbClr val="333333"/>
                  </a:solidFill>
                  <a:highlight>
                    <a:srgbClr val="FFFFFF"/>
                  </a:highlight>
                  <a:latin typeface="-apple-system"/>
                </a:rPr>
                <a:t>2. В 60000 раз </a:t>
              </a:r>
              <a:r>
                <a:rPr lang="ru-RU" sz="1200" noProof="1">
                  <a:solidFill>
                    <a:srgbClr val="333333"/>
                  </a:solidFill>
                  <a:highlight>
                    <a:srgbClr val="FFFFFF"/>
                  </a:highlight>
                  <a:latin typeface="-apple-system"/>
                </a:rPr>
                <a:t>быстрее воспринимается визуальная информация по сравнению с текстовой</a:t>
              </a:r>
              <a:endParaRPr lang="en-US" sz="1200" b="1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29227EE-F891-4521-9E1F-117FBBE3D54A}"/>
              </a:ext>
            </a:extLst>
          </p:cNvPr>
          <p:cNvGrpSpPr/>
          <p:nvPr/>
        </p:nvGrpSpPr>
        <p:grpSpPr>
          <a:xfrm>
            <a:off x="3593022" y="2863327"/>
            <a:ext cx="2210722" cy="3044556"/>
            <a:chOff x="3593022" y="2863327"/>
            <a:chExt cx="2210722" cy="3044556"/>
          </a:xfrm>
        </p:grpSpPr>
        <p:sp>
          <p:nvSpPr>
            <p:cNvPr id="43" name="Freeform: Shape 9">
              <a:extLst>
                <a:ext uri="{FF2B5EF4-FFF2-40B4-BE49-F238E27FC236}">
                  <a16:creationId xmlns:a16="http://schemas.microsoft.com/office/drawing/2014/main" id="{21ED4668-3186-F915-26D1-4B755C75497D}"/>
                </a:ext>
              </a:extLst>
            </p:cNvPr>
            <p:cNvSpPr/>
            <p:nvPr/>
          </p:nvSpPr>
          <p:spPr>
            <a:xfrm>
              <a:off x="3593022" y="2863327"/>
              <a:ext cx="2148481" cy="3044556"/>
            </a:xfrm>
            <a:custGeom>
              <a:avLst/>
              <a:gdLst>
                <a:gd name="connsiteX0" fmla="*/ 372531 w 2148481"/>
                <a:gd name="connsiteY0" fmla="*/ 1847 h 3044556"/>
                <a:gd name="connsiteX1" fmla="*/ 1729629 w 2148481"/>
                <a:gd name="connsiteY1" fmla="*/ 1143889 h 3044556"/>
                <a:gd name="connsiteX2" fmla="*/ 1925325 w 2148481"/>
                <a:gd name="connsiteY2" fmla="*/ 2996400 h 3044556"/>
                <a:gd name="connsiteX3" fmla="*/ 418853 w 2148481"/>
                <a:gd name="connsiteY3" fmla="*/ 1900666 h 3044556"/>
                <a:gd name="connsiteX4" fmla="*/ 223156 w 2148481"/>
                <a:gd name="connsiteY4" fmla="*/ 48156 h 3044556"/>
                <a:gd name="connsiteX5" fmla="*/ 372531 w 2148481"/>
                <a:gd name="connsiteY5" fmla="*/ 1847 h 304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8481" h="3044556">
                  <a:moveTo>
                    <a:pt x="372531" y="1847"/>
                  </a:moveTo>
                  <a:cubicBezTo>
                    <a:pt x="750540" y="-33122"/>
                    <a:pt x="1318343" y="431521"/>
                    <a:pt x="1729629" y="1143889"/>
                  </a:cubicBezTo>
                  <a:cubicBezTo>
                    <a:pt x="2199670" y="1958024"/>
                    <a:pt x="2287286" y="2787422"/>
                    <a:pt x="1925325" y="2996400"/>
                  </a:cubicBezTo>
                  <a:cubicBezTo>
                    <a:pt x="1563365" y="3205378"/>
                    <a:pt x="888894" y="2714801"/>
                    <a:pt x="418853" y="1900666"/>
                  </a:cubicBezTo>
                  <a:cubicBezTo>
                    <a:pt x="-51188" y="1086531"/>
                    <a:pt x="-138804" y="257134"/>
                    <a:pt x="223156" y="48156"/>
                  </a:cubicBezTo>
                  <a:cubicBezTo>
                    <a:pt x="268401" y="22034"/>
                    <a:pt x="318529" y="6843"/>
                    <a:pt x="372531" y="1847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lang="en-US" sz="3000">
                <a:solidFill>
                  <a:srgbClr val="FFFFFF"/>
                </a:solidFill>
              </a:endParaRPr>
            </a:p>
          </p:txBody>
        </p:sp>
        <p:sp>
          <p:nvSpPr>
            <p:cNvPr id="49" name="TextBox 91">
              <a:extLst>
                <a:ext uri="{FF2B5EF4-FFF2-40B4-BE49-F238E27FC236}">
                  <a16:creationId xmlns:a16="http://schemas.microsoft.com/office/drawing/2014/main" id="{8C56A7E7-5C0C-093A-3E18-30EA9A25FF1C}"/>
                </a:ext>
              </a:extLst>
            </p:cNvPr>
            <p:cNvSpPr txBox="1"/>
            <p:nvPr/>
          </p:nvSpPr>
          <p:spPr>
            <a:xfrm>
              <a:off x="4843136" y="5346609"/>
              <a:ext cx="9606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b="1" dirty="0">
                  <a:solidFill>
                    <a:schemeClr val="accent3">
                      <a:lumMod val="75000"/>
                    </a:schemeClr>
                  </a:solidFill>
                </a:rPr>
                <a:t>03</a:t>
              </a:r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5661A94E-93D9-23BA-937F-2D5A629140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8547" y="3946008"/>
              <a:ext cx="964802" cy="1098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5" name="AutoShape 8">
            <a:extLst>
              <a:ext uri="{FF2B5EF4-FFF2-40B4-BE49-F238E27FC236}">
                <a16:creationId xmlns:a16="http://schemas.microsoft.com/office/drawing/2014/main" id="{C51A62EB-F9E7-2493-2D71-36F7276B71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2B6775-B8A8-909D-A92A-B77A7B83D823}"/>
              </a:ext>
            </a:extLst>
          </p:cNvPr>
          <p:cNvSpPr txBox="1"/>
          <p:nvPr/>
        </p:nvSpPr>
        <p:spPr>
          <a:xfrm>
            <a:off x="278858" y="6114462"/>
            <a:ext cx="11826190" cy="52322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РАЗВЕДОЧНЫЙ АНАЛИЗ ДАННЫХ</a:t>
            </a:r>
          </a:p>
        </p:txBody>
      </p:sp>
      <p:sp>
        <p:nvSpPr>
          <p:cNvPr id="80" name="Номер слайда 79">
            <a:extLst>
              <a:ext uri="{FF2B5EF4-FFF2-40B4-BE49-F238E27FC236}">
                <a16:creationId xmlns:a16="http://schemas.microsoft.com/office/drawing/2014/main" id="{A41790D0-A108-E7F1-9CBE-64E4F7B5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681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02660F-A269-99C2-4AC5-E9D2A19A649A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16A21AC-0F29-C837-8527-7CF660F722EF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DFFA7BF-FFC7-519C-D622-27A12556824E}"/>
              </a:ext>
            </a:extLst>
          </p:cNvPr>
          <p:cNvGrpSpPr/>
          <p:nvPr/>
        </p:nvGrpSpPr>
        <p:grpSpPr>
          <a:xfrm>
            <a:off x="4411994" y="140935"/>
            <a:ext cx="2008471" cy="989775"/>
            <a:chOff x="4362832" y="1155414"/>
            <a:chExt cx="3435337" cy="1513554"/>
          </a:xfrm>
        </p:grpSpPr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188CBA7F-2EB4-45AA-1CC5-34A1772274B3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9" name="TextBox 89">
              <a:extLst>
                <a:ext uri="{FF2B5EF4-FFF2-40B4-BE49-F238E27FC236}">
                  <a16:creationId xmlns:a16="http://schemas.microsoft.com/office/drawing/2014/main" id="{A3D03661-BE5B-85DA-4A86-D96A02382EE5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10" name="Graphic 94" descr="Research with solid fill">
              <a:extLst>
                <a:ext uri="{FF2B5EF4-FFF2-40B4-BE49-F238E27FC236}">
                  <a16:creationId xmlns:a16="http://schemas.microsoft.com/office/drawing/2014/main" id="{8B25517C-DCB5-4F9E-9DE8-4ABED4431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1" name="Freeform: Shape 34">
              <a:extLst>
                <a:ext uri="{FF2B5EF4-FFF2-40B4-BE49-F238E27FC236}">
                  <a16:creationId xmlns:a16="http://schemas.microsoft.com/office/drawing/2014/main" id="{4E487FE4-C341-BBD2-6E24-F9DEBA4A48C3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EE353443-3795-5A99-816B-2712E427D4C1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72057A2-E5CD-2C4F-DBA4-500DCA976B5A}"/>
              </a:ext>
            </a:extLst>
          </p:cNvPr>
          <p:cNvSpPr txBox="1"/>
          <p:nvPr/>
        </p:nvSpPr>
        <p:spPr>
          <a:xfrm>
            <a:off x="167148" y="1989655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несколько подконтрольных объектов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0F771A-AB23-C57F-C45D-304D0920F5B1}"/>
              </a:ext>
            </a:extLst>
          </p:cNvPr>
          <p:cNvSpPr txBox="1"/>
          <p:nvPr/>
        </p:nvSpPr>
        <p:spPr>
          <a:xfrm>
            <a:off x="3873795" y="2004790"/>
            <a:ext cx="394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Один большой объект/процесс надо рассмотреть «по частям»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F88EA-AE54-A07E-52F7-95808C131B4D}"/>
              </a:ext>
            </a:extLst>
          </p:cNvPr>
          <p:cNvSpPr txBox="1"/>
          <p:nvPr/>
        </p:nvSpPr>
        <p:spPr>
          <a:xfrm>
            <a:off x="8937314" y="2004790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хотя бы 7 временных интервал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49B161-2FAC-F53C-DBA0-30AC7CFB88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70" b="13470"/>
          <a:stretch/>
        </p:blipFill>
        <p:spPr>
          <a:xfrm>
            <a:off x="400069" y="3130489"/>
            <a:ext cx="2814969" cy="1687320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76B0958C-EAB0-1354-F15D-EB39C7A2A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4" t="14930" r="2796" b="9437"/>
          <a:stretch/>
        </p:blipFill>
        <p:spPr bwMode="auto">
          <a:xfrm>
            <a:off x="3979113" y="3112018"/>
            <a:ext cx="3355752" cy="212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EF26FC8F-DBD0-67D5-19D2-EA8FA7BB7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314" y="3112018"/>
            <a:ext cx="2686908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98F1B3F-C506-1B3C-2C13-87CFD1F29AFB}"/>
              </a:ext>
            </a:extLst>
          </p:cNvPr>
          <p:cNvSpPr txBox="1"/>
          <p:nvPr/>
        </p:nvSpPr>
        <p:spPr>
          <a:xfrm>
            <a:off x="278857" y="848821"/>
            <a:ext cx="395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Что есть у бизнеса? </a:t>
            </a:r>
          </a:p>
          <a:p>
            <a:r>
              <a:rPr lang="ru-RU" i="1" dirty="0"/>
              <a:t>(какие задачи реализуются)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3E8E6DFE-50BE-8A7B-FDAE-5BBABDD3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863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02660F-A269-99C2-4AC5-E9D2A19A649A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16A21AC-0F29-C837-8527-7CF660F722EF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DFFA7BF-FFC7-519C-D622-27A12556824E}"/>
              </a:ext>
            </a:extLst>
          </p:cNvPr>
          <p:cNvGrpSpPr/>
          <p:nvPr/>
        </p:nvGrpSpPr>
        <p:grpSpPr>
          <a:xfrm>
            <a:off x="4411994" y="140935"/>
            <a:ext cx="2008471" cy="989775"/>
            <a:chOff x="4362832" y="1155414"/>
            <a:chExt cx="3435337" cy="1513554"/>
          </a:xfrm>
        </p:grpSpPr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188CBA7F-2EB4-45AA-1CC5-34A1772274B3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9" name="TextBox 89">
              <a:extLst>
                <a:ext uri="{FF2B5EF4-FFF2-40B4-BE49-F238E27FC236}">
                  <a16:creationId xmlns:a16="http://schemas.microsoft.com/office/drawing/2014/main" id="{A3D03661-BE5B-85DA-4A86-D96A02382EE5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10" name="Graphic 94" descr="Research with solid fill">
              <a:extLst>
                <a:ext uri="{FF2B5EF4-FFF2-40B4-BE49-F238E27FC236}">
                  <a16:creationId xmlns:a16="http://schemas.microsoft.com/office/drawing/2014/main" id="{8B25517C-DCB5-4F9E-9DE8-4ABED4431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1" name="Freeform: Shape 34">
              <a:extLst>
                <a:ext uri="{FF2B5EF4-FFF2-40B4-BE49-F238E27FC236}">
                  <a16:creationId xmlns:a16="http://schemas.microsoft.com/office/drawing/2014/main" id="{4E487FE4-C341-BBD2-6E24-F9DEBA4A48C3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EE353443-3795-5A99-816B-2712E427D4C1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9229ED5-9899-409B-235E-FCA70F6B1728}"/>
              </a:ext>
            </a:extLst>
          </p:cNvPr>
          <p:cNvSpPr txBox="1"/>
          <p:nvPr/>
        </p:nvSpPr>
        <p:spPr>
          <a:xfrm>
            <a:off x="132202" y="2967335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Наблюдения до и после события/воздействия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78B48-F908-97E5-7A67-3BE264A80810}"/>
              </a:ext>
            </a:extLst>
          </p:cNvPr>
          <p:cNvSpPr txBox="1"/>
          <p:nvPr/>
        </p:nvSpPr>
        <p:spPr>
          <a:xfrm>
            <a:off x="3885895" y="2851387"/>
            <a:ext cx="363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Наблюдений за объектом очень много, хотим понять наличие тенденций и аномалий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8DA087-D54F-4675-2737-970EC4C23374}"/>
              </a:ext>
            </a:extLst>
          </p:cNvPr>
          <p:cNvSpPr txBox="1"/>
          <p:nvPr/>
        </p:nvSpPr>
        <p:spPr>
          <a:xfrm>
            <a:off x="8425129" y="2934487"/>
            <a:ext cx="363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конкретный перечень факторов, взаимосвязь которых нужно проверить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45B16F-DF01-8213-7A68-F03C70686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72" y="4035000"/>
            <a:ext cx="2296588" cy="2139948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CC4CE85A-0AE3-C070-795D-22672D7C5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294" y="3918817"/>
            <a:ext cx="4092047" cy="272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19CD67-6244-8C0E-9781-274E4C39F0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348" y="3985837"/>
            <a:ext cx="2236839" cy="2236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8B2FB3-324E-EF3E-DAAE-092057626CDF}"/>
              </a:ext>
            </a:extLst>
          </p:cNvPr>
          <p:cNvSpPr txBox="1"/>
          <p:nvPr/>
        </p:nvSpPr>
        <p:spPr>
          <a:xfrm>
            <a:off x="278857" y="848821"/>
            <a:ext cx="395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Что есть у бизнеса? </a:t>
            </a:r>
          </a:p>
          <a:p>
            <a:r>
              <a:rPr lang="ru-RU" i="1" dirty="0"/>
              <a:t>(какие задачи реализуются)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40AC4D7A-7C8A-2DE9-3F27-597F1F8D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474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02660F-A269-99C2-4AC5-E9D2A19A649A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16A21AC-0F29-C837-8527-7CF660F722EF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DFFA7BF-FFC7-519C-D622-27A12556824E}"/>
              </a:ext>
            </a:extLst>
          </p:cNvPr>
          <p:cNvGrpSpPr/>
          <p:nvPr/>
        </p:nvGrpSpPr>
        <p:grpSpPr>
          <a:xfrm>
            <a:off x="4411994" y="140935"/>
            <a:ext cx="2008471" cy="989775"/>
            <a:chOff x="4362832" y="1155414"/>
            <a:chExt cx="3435337" cy="1513554"/>
          </a:xfrm>
        </p:grpSpPr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188CBA7F-2EB4-45AA-1CC5-34A1772274B3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9" name="TextBox 89">
              <a:extLst>
                <a:ext uri="{FF2B5EF4-FFF2-40B4-BE49-F238E27FC236}">
                  <a16:creationId xmlns:a16="http://schemas.microsoft.com/office/drawing/2014/main" id="{A3D03661-BE5B-85DA-4A86-D96A02382EE5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10" name="Graphic 94" descr="Research with solid fill">
              <a:extLst>
                <a:ext uri="{FF2B5EF4-FFF2-40B4-BE49-F238E27FC236}">
                  <a16:creationId xmlns:a16="http://schemas.microsoft.com/office/drawing/2014/main" id="{8B25517C-DCB5-4F9E-9DE8-4ABED4431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1" name="Freeform: Shape 34">
              <a:extLst>
                <a:ext uri="{FF2B5EF4-FFF2-40B4-BE49-F238E27FC236}">
                  <a16:creationId xmlns:a16="http://schemas.microsoft.com/office/drawing/2014/main" id="{4E487FE4-C341-BBD2-6E24-F9DEBA4A48C3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EE353443-3795-5A99-816B-2712E427D4C1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3913086-0FC4-50D1-7DDA-2E38A65A24BE}"/>
              </a:ext>
            </a:extLst>
          </p:cNvPr>
          <p:cNvSpPr txBox="1"/>
          <p:nvPr/>
        </p:nvSpPr>
        <p:spPr>
          <a:xfrm>
            <a:off x="167148" y="5165856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Показать </a:t>
            </a:r>
            <a:r>
              <a:rPr lang="ru-RU" b="1" dirty="0"/>
              <a:t>соотношение </a:t>
            </a:r>
            <a:r>
              <a:rPr lang="ru-RU" dirty="0"/>
              <a:t>частей целого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3D26F-901B-5731-A8D9-6FB825032172}"/>
              </a:ext>
            </a:extLst>
          </p:cNvPr>
          <p:cNvSpPr txBox="1"/>
          <p:nvPr/>
        </p:nvSpPr>
        <p:spPr>
          <a:xfrm>
            <a:off x="3889334" y="5153243"/>
            <a:ext cx="3461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Демонстрация положительного/отрицательного влияния факторов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2613E-1CF1-9FA9-0A00-1B15265BA643}"/>
              </a:ext>
            </a:extLst>
          </p:cNvPr>
          <p:cNvSpPr txBox="1"/>
          <p:nvPr/>
        </p:nvSpPr>
        <p:spPr>
          <a:xfrm>
            <a:off x="8224009" y="5153243"/>
            <a:ext cx="3461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Профили пользователей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9CC38C-35AA-74D9-A78D-159F37F6C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9" y="2003172"/>
            <a:ext cx="2672066" cy="2672066"/>
          </a:xfrm>
          <a:prstGeom prst="rect">
            <a:avLst/>
          </a:prstGeom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AAE3C4E6-8155-AF09-B516-0C0B0A709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49" y="2179419"/>
            <a:ext cx="3576828" cy="227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87D7CF46-926C-BEE2-E4D2-8CAB7F0CC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430" y="1641782"/>
            <a:ext cx="2660366" cy="281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2B4E36-DD2D-2999-B2FD-9BEAE98C5089}"/>
              </a:ext>
            </a:extLst>
          </p:cNvPr>
          <p:cNvSpPr txBox="1"/>
          <p:nvPr/>
        </p:nvSpPr>
        <p:spPr>
          <a:xfrm>
            <a:off x="278857" y="848821"/>
            <a:ext cx="395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Что есть у бизнеса? </a:t>
            </a:r>
          </a:p>
          <a:p>
            <a:r>
              <a:rPr lang="ru-RU" i="1" dirty="0"/>
              <a:t>(какие задачи реализуются)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1356CAF7-69CF-F49B-E56B-ED6EA38B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826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02660F-A269-99C2-4AC5-E9D2A19A649A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16A21AC-0F29-C837-8527-7CF660F722EF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DFFA7BF-FFC7-519C-D622-27A12556824E}"/>
              </a:ext>
            </a:extLst>
          </p:cNvPr>
          <p:cNvGrpSpPr/>
          <p:nvPr/>
        </p:nvGrpSpPr>
        <p:grpSpPr>
          <a:xfrm>
            <a:off x="4411994" y="140935"/>
            <a:ext cx="2008471" cy="989775"/>
            <a:chOff x="4362832" y="1155414"/>
            <a:chExt cx="3435337" cy="1513554"/>
          </a:xfrm>
        </p:grpSpPr>
        <p:sp>
          <p:nvSpPr>
            <p:cNvPr id="8" name="Oval 16">
              <a:extLst>
                <a:ext uri="{FF2B5EF4-FFF2-40B4-BE49-F238E27FC236}">
                  <a16:creationId xmlns:a16="http://schemas.microsoft.com/office/drawing/2014/main" id="{188CBA7F-2EB4-45AA-1CC5-34A1772274B3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9" name="TextBox 89">
              <a:extLst>
                <a:ext uri="{FF2B5EF4-FFF2-40B4-BE49-F238E27FC236}">
                  <a16:creationId xmlns:a16="http://schemas.microsoft.com/office/drawing/2014/main" id="{A3D03661-BE5B-85DA-4A86-D96A02382EE5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10" name="Graphic 94" descr="Research with solid fill">
              <a:extLst>
                <a:ext uri="{FF2B5EF4-FFF2-40B4-BE49-F238E27FC236}">
                  <a16:creationId xmlns:a16="http://schemas.microsoft.com/office/drawing/2014/main" id="{8B25517C-DCB5-4F9E-9DE8-4ABED4431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1" name="Freeform: Shape 34">
              <a:extLst>
                <a:ext uri="{FF2B5EF4-FFF2-40B4-BE49-F238E27FC236}">
                  <a16:creationId xmlns:a16="http://schemas.microsoft.com/office/drawing/2014/main" id="{4E487FE4-C341-BBD2-6E24-F9DEBA4A48C3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EE353443-3795-5A99-816B-2712E427D4C1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72057A2-E5CD-2C4F-DBA4-500DCA976B5A}"/>
              </a:ext>
            </a:extLst>
          </p:cNvPr>
          <p:cNvSpPr txBox="1"/>
          <p:nvPr/>
        </p:nvSpPr>
        <p:spPr>
          <a:xfrm>
            <a:off x="167148" y="1081726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несколько подконтрольных объектов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0F771A-AB23-C57F-C45D-304D0920F5B1}"/>
              </a:ext>
            </a:extLst>
          </p:cNvPr>
          <p:cNvSpPr txBox="1"/>
          <p:nvPr/>
        </p:nvSpPr>
        <p:spPr>
          <a:xfrm>
            <a:off x="3655658" y="1141782"/>
            <a:ext cx="2849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Один большой объект надо рассмотреть «по частям»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F88EA-AE54-A07E-52F7-95808C131B4D}"/>
              </a:ext>
            </a:extLst>
          </p:cNvPr>
          <p:cNvSpPr txBox="1"/>
          <p:nvPr/>
        </p:nvSpPr>
        <p:spPr>
          <a:xfrm>
            <a:off x="7879578" y="979744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хотя бы 7 временных интервал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29ED5-9899-409B-235E-FCA70F6B1728}"/>
              </a:ext>
            </a:extLst>
          </p:cNvPr>
          <p:cNvSpPr txBox="1"/>
          <p:nvPr/>
        </p:nvSpPr>
        <p:spPr>
          <a:xfrm>
            <a:off x="132202" y="3172175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Наблюдения до и после события/воздействия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78B48-F908-97E5-7A67-3BE264A80810}"/>
              </a:ext>
            </a:extLst>
          </p:cNvPr>
          <p:cNvSpPr txBox="1"/>
          <p:nvPr/>
        </p:nvSpPr>
        <p:spPr>
          <a:xfrm>
            <a:off x="3577294" y="2967335"/>
            <a:ext cx="363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Наблюдений за объектом очень много, хотим понять наличие тенденций и аномалий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8DA087-D54F-4675-2737-970EC4C23374}"/>
              </a:ext>
            </a:extLst>
          </p:cNvPr>
          <p:cNvSpPr txBox="1"/>
          <p:nvPr/>
        </p:nvSpPr>
        <p:spPr>
          <a:xfrm>
            <a:off x="7352804" y="3052493"/>
            <a:ext cx="363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конкретный перечень факторов, взаимосвязь которых нужно проверить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913086-0FC4-50D1-7DDA-2E38A65A24BE}"/>
              </a:ext>
            </a:extLst>
          </p:cNvPr>
          <p:cNvSpPr txBox="1"/>
          <p:nvPr/>
        </p:nvSpPr>
        <p:spPr>
          <a:xfrm>
            <a:off x="167148" y="5165856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Показать </a:t>
            </a:r>
            <a:r>
              <a:rPr lang="ru-RU" b="1" dirty="0"/>
              <a:t>соотношение </a:t>
            </a:r>
            <a:r>
              <a:rPr lang="ru-RU" dirty="0"/>
              <a:t>частей целого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3D26F-901B-5731-A8D9-6FB825032172}"/>
              </a:ext>
            </a:extLst>
          </p:cNvPr>
          <p:cNvSpPr txBox="1"/>
          <p:nvPr/>
        </p:nvSpPr>
        <p:spPr>
          <a:xfrm>
            <a:off x="3889334" y="5153243"/>
            <a:ext cx="3461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Демонстрация положительного/отрицательного влияния факторов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2613E-1CF1-9FA9-0A00-1B15265BA643}"/>
              </a:ext>
            </a:extLst>
          </p:cNvPr>
          <p:cNvSpPr txBox="1"/>
          <p:nvPr/>
        </p:nvSpPr>
        <p:spPr>
          <a:xfrm>
            <a:off x="7964805" y="5027356"/>
            <a:ext cx="3461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Профили пользователей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D3F48D-5624-E2F3-A662-1E7717FB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3593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2DD16F-A08B-D848-8053-644DC6086489}"/>
              </a:ext>
            </a:extLst>
          </p:cNvPr>
          <p:cNvSpPr/>
          <p:nvPr/>
        </p:nvSpPr>
        <p:spPr>
          <a:xfrm>
            <a:off x="278857" y="140935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4EF20B2-676A-B26A-2CCB-D5807731F7B0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30C7E34-B73E-42FE-BF25-1C435469B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8857" y="1913586"/>
            <a:ext cx="2907706" cy="480347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5684D575-81C4-46DA-B31F-13E5526F27F3}"/>
              </a:ext>
            </a:extLst>
          </p:cNvPr>
          <p:cNvSpPr txBox="1"/>
          <p:nvPr/>
        </p:nvSpPr>
        <p:spPr>
          <a:xfrm>
            <a:off x="811846" y="694933"/>
            <a:ext cx="1928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СРАВНЕНИЕ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D04635E3-2D7D-4E2A-A697-14BAABECEA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4649"/>
          <a:stretch/>
        </p:blipFill>
        <p:spPr>
          <a:xfrm>
            <a:off x="3663665" y="1913586"/>
            <a:ext cx="2472988" cy="4620599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BCE9FD46-9A4B-4DCF-83E2-EE7F8850B6DF}"/>
              </a:ext>
            </a:extLst>
          </p:cNvPr>
          <p:cNvSpPr txBox="1"/>
          <p:nvPr/>
        </p:nvSpPr>
        <p:spPr>
          <a:xfrm>
            <a:off x="3419090" y="541045"/>
            <a:ext cx="2919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/>
              <a:t>СРАВНЕНИЕ ЧАСТИ С ЦЕЛЫМ</a:t>
            </a:r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FFE73874-E1AC-4ED3-97F7-F5B989D05E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1661" b="-1"/>
          <a:stretch/>
        </p:blipFill>
        <p:spPr>
          <a:xfrm>
            <a:off x="6744647" y="2050311"/>
            <a:ext cx="2778443" cy="4408121"/>
          </a:xfrm>
          <a:prstGeom prst="rect">
            <a:avLst/>
          </a:prstGeom>
        </p:spPr>
      </p:pic>
      <p:sp>
        <p:nvSpPr>
          <p:cNvPr id="11" name="TextBox 17">
            <a:extLst>
              <a:ext uri="{FF2B5EF4-FFF2-40B4-BE49-F238E27FC236}">
                <a16:creationId xmlns:a16="http://schemas.microsoft.com/office/drawing/2014/main" id="{DEB1BF77-F3E9-42BB-851B-4C7DD6B0DB41}"/>
              </a:ext>
            </a:extLst>
          </p:cNvPr>
          <p:cNvSpPr txBox="1"/>
          <p:nvPr/>
        </p:nvSpPr>
        <p:spPr>
          <a:xfrm>
            <a:off x="6917367" y="681616"/>
            <a:ext cx="4884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/>
              <a:t>ВРЕМЕННОЕ СРАВНЕНИЕ</a:t>
            </a:r>
          </a:p>
        </p:txBody>
      </p:sp>
      <p:pic>
        <p:nvPicPr>
          <p:cNvPr id="12" name="Picture 18">
            <a:extLst>
              <a:ext uri="{FF2B5EF4-FFF2-40B4-BE49-F238E27FC236}">
                <a16:creationId xmlns:a16="http://schemas.microsoft.com/office/drawing/2014/main" id="{8CD3C650-5241-4D4A-9FA0-D5793D3D47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3090" y="2050311"/>
            <a:ext cx="2411233" cy="4258645"/>
          </a:xfrm>
          <a:prstGeom prst="rect">
            <a:avLst/>
          </a:prstGeom>
        </p:spPr>
      </p:pic>
      <p:sp>
        <p:nvSpPr>
          <p:cNvPr id="13" name="TextBox 19">
            <a:extLst>
              <a:ext uri="{FF2B5EF4-FFF2-40B4-BE49-F238E27FC236}">
                <a16:creationId xmlns:a16="http://schemas.microsoft.com/office/drawing/2014/main" id="{57847468-DA25-47A7-80E0-D68F2D76DE3F}"/>
              </a:ext>
            </a:extLst>
          </p:cNvPr>
          <p:cNvSpPr txBox="1"/>
          <p:nvPr/>
        </p:nvSpPr>
        <p:spPr>
          <a:xfrm>
            <a:off x="3016276" y="6563176"/>
            <a:ext cx="6338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Источник – Александр Богачев. Графики, которые убеждают всех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8D5B8E-1788-FFD7-6D0A-BC952FCD1C81}"/>
              </a:ext>
            </a:extLst>
          </p:cNvPr>
          <p:cNvSpPr txBox="1"/>
          <p:nvPr/>
        </p:nvSpPr>
        <p:spPr>
          <a:xfrm>
            <a:off x="167148" y="1081726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несколько подконтрольных объектов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4A9DED-DD83-C92A-A24C-C61A66DED740}"/>
              </a:ext>
            </a:extLst>
          </p:cNvPr>
          <p:cNvSpPr txBox="1"/>
          <p:nvPr/>
        </p:nvSpPr>
        <p:spPr>
          <a:xfrm>
            <a:off x="3655658" y="1141782"/>
            <a:ext cx="2849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Один большой объект надо рассмотреть «по частям»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EC54D-06BC-8943-7BD2-63CE0A4AEAD1}"/>
              </a:ext>
            </a:extLst>
          </p:cNvPr>
          <p:cNvSpPr txBox="1"/>
          <p:nvPr/>
        </p:nvSpPr>
        <p:spPr>
          <a:xfrm>
            <a:off x="7879578" y="979744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хотя бы 7 временных интервал</a:t>
            </a:r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92CDBDA5-91FD-3454-1829-9ED25BB2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44</a:t>
            </a:fld>
            <a:endParaRPr lang="ru-RU"/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F4651927-7F69-2ACF-AE32-3A8708C25674}"/>
              </a:ext>
            </a:extLst>
          </p:cNvPr>
          <p:cNvGrpSpPr/>
          <p:nvPr/>
        </p:nvGrpSpPr>
        <p:grpSpPr>
          <a:xfrm>
            <a:off x="6079252" y="-76315"/>
            <a:ext cx="2008471" cy="989775"/>
            <a:chOff x="4362832" y="1155414"/>
            <a:chExt cx="3435337" cy="1513554"/>
          </a:xfrm>
        </p:grpSpPr>
        <p:sp>
          <p:nvSpPr>
            <p:cNvPr id="28" name="Oval 16">
              <a:extLst>
                <a:ext uri="{FF2B5EF4-FFF2-40B4-BE49-F238E27FC236}">
                  <a16:creationId xmlns:a16="http://schemas.microsoft.com/office/drawing/2014/main" id="{4C0B3DF3-3C57-BA39-2AA5-8A2522DC52CF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9" name="TextBox 89">
              <a:extLst>
                <a:ext uri="{FF2B5EF4-FFF2-40B4-BE49-F238E27FC236}">
                  <a16:creationId xmlns:a16="http://schemas.microsoft.com/office/drawing/2014/main" id="{9259EBBC-2A24-C5A1-D4B3-731F23D5AD36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30" name="Graphic 94" descr="Research with solid fill">
              <a:extLst>
                <a:ext uri="{FF2B5EF4-FFF2-40B4-BE49-F238E27FC236}">
                  <a16:creationId xmlns:a16="http://schemas.microsoft.com/office/drawing/2014/main" id="{48A39817-F192-D7B7-21FD-67E0D6843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31" name="Freeform: Shape 34">
              <a:extLst>
                <a:ext uri="{FF2B5EF4-FFF2-40B4-BE49-F238E27FC236}">
                  <a16:creationId xmlns:a16="http://schemas.microsoft.com/office/drawing/2014/main" id="{E10BAECD-6E94-B0EB-74E8-F9D50CB25DA6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2" name="Shape">
              <a:extLst>
                <a:ext uri="{FF2B5EF4-FFF2-40B4-BE49-F238E27FC236}">
                  <a16:creationId xmlns:a16="http://schemas.microsoft.com/office/drawing/2014/main" id="{AD4142D1-709F-36C6-F877-D22B1B54B6D8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76531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5684D575-81C4-46DA-B31F-13E5526F27F3}"/>
              </a:ext>
            </a:extLst>
          </p:cNvPr>
          <p:cNvSpPr txBox="1"/>
          <p:nvPr/>
        </p:nvSpPr>
        <p:spPr>
          <a:xfrm>
            <a:off x="569740" y="635361"/>
            <a:ext cx="3803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СРАВНЕНИЕ ОТКЛОНЕНИЯ/РАЗНИЦЫ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40003256-FCA9-4B52-A884-32CEC44D9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1761" y="2126910"/>
            <a:ext cx="2834819" cy="4636503"/>
          </a:xfrm>
          <a:prstGeom prst="rect">
            <a:avLst/>
          </a:prstGeom>
        </p:spPr>
      </p:pic>
      <p:sp>
        <p:nvSpPr>
          <p:cNvPr id="6" name="TextBox 20">
            <a:extLst>
              <a:ext uri="{FF2B5EF4-FFF2-40B4-BE49-F238E27FC236}">
                <a16:creationId xmlns:a16="http://schemas.microsoft.com/office/drawing/2014/main" id="{719DFA6C-8107-4F9E-9CFB-BA28193CAE58}"/>
              </a:ext>
            </a:extLst>
          </p:cNvPr>
          <p:cNvSpPr txBox="1"/>
          <p:nvPr/>
        </p:nvSpPr>
        <p:spPr>
          <a:xfrm>
            <a:off x="4658782" y="744543"/>
            <a:ext cx="2686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РАСПРЕДЕЛЕНИЕ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05252C67-FC33-4150-A939-02298D9E6D8C}"/>
              </a:ext>
            </a:extLst>
          </p:cNvPr>
          <p:cNvSpPr txBox="1"/>
          <p:nvPr/>
        </p:nvSpPr>
        <p:spPr>
          <a:xfrm>
            <a:off x="7820206" y="744543"/>
            <a:ext cx="3313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/>
              <a:t>КОРРЕЛЯЦИЯ/СВЯЗЬ</a:t>
            </a:r>
          </a:p>
        </p:txBody>
      </p:sp>
      <p:pic>
        <p:nvPicPr>
          <p:cNvPr id="8" name="Picture 22">
            <a:extLst>
              <a:ext uri="{FF2B5EF4-FFF2-40B4-BE49-F238E27FC236}">
                <a16:creationId xmlns:a16="http://schemas.microsoft.com/office/drawing/2014/main" id="{BD250ED5-7E61-4287-8BC8-24D96290F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0305" y="1997792"/>
            <a:ext cx="2625431" cy="4706419"/>
          </a:xfrm>
          <a:prstGeom prst="rect">
            <a:avLst/>
          </a:prstGeom>
        </p:spPr>
      </p:pic>
      <p:pic>
        <p:nvPicPr>
          <p:cNvPr id="9" name="Picture 23">
            <a:extLst>
              <a:ext uri="{FF2B5EF4-FFF2-40B4-BE49-F238E27FC236}">
                <a16:creationId xmlns:a16="http://schemas.microsoft.com/office/drawing/2014/main" id="{9B951CF1-FF06-493B-922C-BD83C333F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9699" y="2126910"/>
            <a:ext cx="2625430" cy="4287400"/>
          </a:xfrm>
          <a:prstGeom prst="rect">
            <a:avLst/>
          </a:prstGeom>
        </p:spPr>
      </p:pic>
      <p:pic>
        <p:nvPicPr>
          <p:cNvPr id="10" name="Picture 24">
            <a:extLst>
              <a:ext uri="{FF2B5EF4-FFF2-40B4-BE49-F238E27FC236}">
                <a16:creationId xmlns:a16="http://schemas.microsoft.com/office/drawing/2014/main" id="{69736D4E-DE4D-47EA-917C-B63CEF6CEB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9179" y="5145786"/>
            <a:ext cx="973080" cy="1184112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6814855-31F2-0B54-035E-9BA946499953}"/>
              </a:ext>
            </a:extLst>
          </p:cNvPr>
          <p:cNvSpPr/>
          <p:nvPr/>
        </p:nvSpPr>
        <p:spPr>
          <a:xfrm>
            <a:off x="278857" y="140935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E26F608-10D5-916B-2134-3DFC3A205D2E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2826B-A200-0EED-8036-9C231F52643D}"/>
              </a:ext>
            </a:extLst>
          </p:cNvPr>
          <p:cNvSpPr txBox="1"/>
          <p:nvPr/>
        </p:nvSpPr>
        <p:spPr>
          <a:xfrm>
            <a:off x="569740" y="1194144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Наблюдения до и после события/воздействия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8DCCD4-81EC-1983-712E-151E752A8F68}"/>
              </a:ext>
            </a:extLst>
          </p:cNvPr>
          <p:cNvSpPr txBox="1"/>
          <p:nvPr/>
        </p:nvSpPr>
        <p:spPr>
          <a:xfrm>
            <a:off x="4014832" y="989304"/>
            <a:ext cx="363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Наблюдений за объектом очень много, хотим понять наличие тенденций и аномалий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59865A-6556-A909-27D0-4A79DE2C28F2}"/>
              </a:ext>
            </a:extLst>
          </p:cNvPr>
          <p:cNvSpPr txBox="1"/>
          <p:nvPr/>
        </p:nvSpPr>
        <p:spPr>
          <a:xfrm>
            <a:off x="7790342" y="1074462"/>
            <a:ext cx="363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Есть конкретный перечень факторов, взаимосвязь которых нужно проверить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929CC6EA-825B-4D33-8009-939E7138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45</a:t>
            </a:fld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1657DEB-8D40-E4C2-7102-A484D3359171}"/>
              </a:ext>
            </a:extLst>
          </p:cNvPr>
          <p:cNvGrpSpPr/>
          <p:nvPr/>
        </p:nvGrpSpPr>
        <p:grpSpPr>
          <a:xfrm>
            <a:off x="6371364" y="-73381"/>
            <a:ext cx="2008471" cy="989775"/>
            <a:chOff x="4362832" y="1155414"/>
            <a:chExt cx="3435337" cy="1513554"/>
          </a:xfrm>
        </p:grpSpPr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BA100497-B0ED-2FA1-766E-88496E848DBB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2" name="TextBox 89">
              <a:extLst>
                <a:ext uri="{FF2B5EF4-FFF2-40B4-BE49-F238E27FC236}">
                  <a16:creationId xmlns:a16="http://schemas.microsoft.com/office/drawing/2014/main" id="{2754B8C8-0E5A-AF59-9596-019ED92D95CA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23" name="Graphic 94" descr="Research with solid fill">
              <a:extLst>
                <a:ext uri="{FF2B5EF4-FFF2-40B4-BE49-F238E27FC236}">
                  <a16:creationId xmlns:a16="http://schemas.microsoft.com/office/drawing/2014/main" id="{E650A92C-6F30-3171-81CB-82F77ADDE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24" name="Freeform: Shape 34">
              <a:extLst>
                <a:ext uri="{FF2B5EF4-FFF2-40B4-BE49-F238E27FC236}">
                  <a16:creationId xmlns:a16="http://schemas.microsoft.com/office/drawing/2014/main" id="{5AC33CF8-5671-A85A-2F1A-605C2FB7A5A4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F06F07C0-AD31-B6B7-6064-47304EF72852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7921204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6814855-31F2-0B54-035E-9BA946499953}"/>
              </a:ext>
            </a:extLst>
          </p:cNvPr>
          <p:cNvSpPr/>
          <p:nvPr/>
        </p:nvSpPr>
        <p:spPr>
          <a:xfrm>
            <a:off x="278857" y="140935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E26F608-10D5-916B-2134-3DFC3A205D2E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62EABC44-F3BE-444A-8C62-4D41860FEE0A}"/>
              </a:ext>
            </a:extLst>
          </p:cNvPr>
          <p:cNvSpPr txBox="1"/>
          <p:nvPr/>
        </p:nvSpPr>
        <p:spPr>
          <a:xfrm>
            <a:off x="660041" y="733880"/>
            <a:ext cx="1728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ИЕРАРХИЯ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3A64C163-151E-4356-8FC5-D1553BD21796}"/>
              </a:ext>
            </a:extLst>
          </p:cNvPr>
          <p:cNvSpPr txBox="1"/>
          <p:nvPr/>
        </p:nvSpPr>
        <p:spPr>
          <a:xfrm>
            <a:off x="3863415" y="748112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ЭТАПЫ/ПРОЦЕСС/ПОТОК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00441BA3-5E11-4C81-9AD9-F1BD2EDE34CB}"/>
              </a:ext>
            </a:extLst>
          </p:cNvPr>
          <p:cNvSpPr txBox="1"/>
          <p:nvPr/>
        </p:nvSpPr>
        <p:spPr>
          <a:xfrm>
            <a:off x="7933422" y="733880"/>
            <a:ext cx="4028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СОСТАВЛЕНИЕ ПРОФИЛЕЙ</a:t>
            </a:r>
          </a:p>
        </p:txBody>
      </p:sp>
      <p:pic>
        <p:nvPicPr>
          <p:cNvPr id="20" name="Picture 11">
            <a:extLst>
              <a:ext uri="{FF2B5EF4-FFF2-40B4-BE49-F238E27FC236}">
                <a16:creationId xmlns:a16="http://schemas.microsoft.com/office/drawing/2014/main" id="{72206B68-2A6F-4F6B-911A-474261390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911" y="1799798"/>
            <a:ext cx="2598337" cy="1645613"/>
          </a:xfrm>
          <a:prstGeom prst="rect">
            <a:avLst/>
          </a:prstGeom>
        </p:spPr>
      </p:pic>
      <p:pic>
        <p:nvPicPr>
          <p:cNvPr id="21" name="Picture 24">
            <a:extLst>
              <a:ext uri="{FF2B5EF4-FFF2-40B4-BE49-F238E27FC236}">
                <a16:creationId xmlns:a16="http://schemas.microsoft.com/office/drawing/2014/main" id="{28F2B310-3037-4205-868B-DC5286892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7616" y="1851684"/>
            <a:ext cx="2882900" cy="4577236"/>
          </a:xfrm>
          <a:prstGeom prst="rect">
            <a:avLst/>
          </a:prstGeom>
        </p:spPr>
      </p:pic>
      <p:pic>
        <p:nvPicPr>
          <p:cNvPr id="22" name="Picture 26">
            <a:extLst>
              <a:ext uri="{FF2B5EF4-FFF2-40B4-BE49-F238E27FC236}">
                <a16:creationId xmlns:a16="http://schemas.microsoft.com/office/drawing/2014/main" id="{E2169CDB-838F-4E48-8676-0277E30C8A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7473" y="1851684"/>
            <a:ext cx="2465070" cy="29000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59068AE-204A-0873-FD18-2A2A79BCAB4C}"/>
              </a:ext>
            </a:extLst>
          </p:cNvPr>
          <p:cNvSpPr txBox="1"/>
          <p:nvPr/>
        </p:nvSpPr>
        <p:spPr>
          <a:xfrm>
            <a:off x="141228" y="1060649"/>
            <a:ext cx="284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Показать </a:t>
            </a:r>
            <a:r>
              <a:rPr lang="ru-RU" b="1" dirty="0"/>
              <a:t>соотношение </a:t>
            </a:r>
            <a:r>
              <a:rPr lang="ru-RU" dirty="0"/>
              <a:t>частей целого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BAF97-31E9-F1EA-9A01-94FFBCF51E6E}"/>
              </a:ext>
            </a:extLst>
          </p:cNvPr>
          <p:cNvSpPr txBox="1"/>
          <p:nvPr/>
        </p:nvSpPr>
        <p:spPr>
          <a:xfrm>
            <a:off x="3863414" y="1048036"/>
            <a:ext cx="3461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Демонстрация положительного/отрицательного влияния факторов </a:t>
            </a:r>
          </a:p>
        </p:txBody>
      </p:sp>
      <p:sp>
        <p:nvSpPr>
          <p:cNvPr id="27" name="Номер слайда 26">
            <a:extLst>
              <a:ext uri="{FF2B5EF4-FFF2-40B4-BE49-F238E27FC236}">
                <a16:creationId xmlns:a16="http://schemas.microsoft.com/office/drawing/2014/main" id="{E1319B01-4316-AE9F-7492-3BECB758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46</a:t>
            </a:fld>
            <a:endParaRPr lang="ru-RU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1B5BFFAA-FB59-354B-84B8-11D5BC58B9B5}"/>
              </a:ext>
            </a:extLst>
          </p:cNvPr>
          <p:cNvGrpSpPr/>
          <p:nvPr/>
        </p:nvGrpSpPr>
        <p:grpSpPr>
          <a:xfrm>
            <a:off x="6320795" y="-153898"/>
            <a:ext cx="2008471" cy="989775"/>
            <a:chOff x="4362832" y="1155414"/>
            <a:chExt cx="3435337" cy="1513554"/>
          </a:xfrm>
        </p:grpSpPr>
        <p:sp>
          <p:nvSpPr>
            <p:cNvPr id="29" name="Oval 16">
              <a:extLst>
                <a:ext uri="{FF2B5EF4-FFF2-40B4-BE49-F238E27FC236}">
                  <a16:creationId xmlns:a16="http://schemas.microsoft.com/office/drawing/2014/main" id="{5A5D7E75-80C2-B5AB-68FF-92283765BCF6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30" name="TextBox 89">
              <a:extLst>
                <a:ext uri="{FF2B5EF4-FFF2-40B4-BE49-F238E27FC236}">
                  <a16:creationId xmlns:a16="http://schemas.microsoft.com/office/drawing/2014/main" id="{FA38195C-51FA-22FA-40E9-42A835C818D2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31" name="Graphic 94" descr="Research with solid fill">
              <a:extLst>
                <a:ext uri="{FF2B5EF4-FFF2-40B4-BE49-F238E27FC236}">
                  <a16:creationId xmlns:a16="http://schemas.microsoft.com/office/drawing/2014/main" id="{25276FF6-2615-2353-7D99-1D1459FC5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32" name="Freeform: Shape 34">
              <a:extLst>
                <a:ext uri="{FF2B5EF4-FFF2-40B4-BE49-F238E27FC236}">
                  <a16:creationId xmlns:a16="http://schemas.microsoft.com/office/drawing/2014/main" id="{A374012E-9E64-8F47-D150-500580F7FB9D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3" name="Shape">
              <a:extLst>
                <a:ext uri="{FF2B5EF4-FFF2-40B4-BE49-F238E27FC236}">
                  <a16:creationId xmlns:a16="http://schemas.microsoft.com/office/drawing/2014/main" id="{43DB180A-F5FD-3C66-6AF0-81ADE5A32EB8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288271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B7E1C26-D672-A04B-1C9A-741D42F3991B}"/>
              </a:ext>
            </a:extLst>
          </p:cNvPr>
          <p:cNvSpPr/>
          <p:nvPr/>
        </p:nvSpPr>
        <p:spPr>
          <a:xfrm>
            <a:off x="278857" y="140935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22FFD9E-DFE2-CA15-8A70-6EFE75315290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87AD6-66EB-6256-0897-0645DD586629}"/>
              </a:ext>
            </a:extLst>
          </p:cNvPr>
          <p:cNvSpPr txBox="1"/>
          <p:nvPr/>
        </p:nvSpPr>
        <p:spPr>
          <a:xfrm>
            <a:off x="377179" y="421507"/>
            <a:ext cx="395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Основные термины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9996C-0F6C-EBAB-BDF5-3DCAD79923EF}"/>
              </a:ext>
            </a:extLst>
          </p:cNvPr>
          <p:cNvSpPr txBox="1"/>
          <p:nvPr/>
        </p:nvSpPr>
        <p:spPr>
          <a:xfrm>
            <a:off x="336072" y="709830"/>
            <a:ext cx="11519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D4D4C"/>
                </a:solidFill>
                <a:latin typeface="Menlo"/>
                <a:cs typeface="Courier New" panose="02070309020205020404" pitchFamily="49" charset="0"/>
              </a:rPr>
              <a:t>line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1B846-79EE-3D02-481A-57C016D7BA69}"/>
              </a:ext>
            </a:extLst>
          </p:cNvPr>
          <p:cNvSpPr txBox="1"/>
          <p:nvPr/>
        </p:nvSpPr>
        <p:spPr>
          <a:xfrm>
            <a:off x="8787954" y="606173"/>
            <a:ext cx="1459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scatter</a:t>
            </a:r>
            <a:endParaRPr lang="ru-RU" sz="3200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5F322C92-EB6E-24C0-7DE7-017053E4A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94" y="1324368"/>
            <a:ext cx="4286864" cy="217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229F9208-B46C-8AC0-2020-1256671EC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447" y="3630690"/>
            <a:ext cx="36159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271AE"/>
                </a:solidFill>
                <a:effectLst/>
                <a:latin typeface="Menlo"/>
                <a:cs typeface="Courier New" panose="02070309020205020404" pitchFamily="49" charset="0"/>
              </a:rPr>
              <a:t>px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Menlo"/>
                <a:cs typeface="Courier New" panose="02070309020205020404" pitchFamily="49" charset="0"/>
              </a:rPr>
              <a:t>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Menlo"/>
                <a:cs typeface="Courier New" panose="02070309020205020404" pitchFamily="49" charset="0"/>
              </a:rPr>
              <a:t>scatter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enlo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271AE"/>
                </a:solidFill>
                <a:effectLst/>
                <a:latin typeface="Menlo"/>
                <a:cs typeface="Courier New" panose="02070309020205020404" pitchFamily="49" charset="0"/>
              </a:rPr>
              <a:t>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Menlo"/>
                <a:cs typeface="Courier New" panose="020703090202050204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271AE"/>
                </a:solidFill>
                <a:effectLst/>
                <a:latin typeface="Menlo"/>
                <a:cs typeface="Courier New" panose="02070309020205020404" pitchFamily="49" charset="0"/>
              </a:rPr>
              <a:t>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enlo"/>
                <a:cs typeface="Courier New" panose="02070309020205020404" pitchFamily="49" charset="0"/>
              </a:rPr>
              <a:t>,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271AE"/>
                </a:solidFill>
                <a:effectLst/>
                <a:latin typeface="Menlo"/>
                <a:cs typeface="Courier New" panose="02070309020205020404" pitchFamily="49" charset="0"/>
              </a:rPr>
              <a:t>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Menlo"/>
                <a:cs typeface="Courier New" panose="020703090202050204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271AE"/>
                </a:solidFill>
                <a:effectLst/>
                <a:latin typeface="Menlo"/>
                <a:cs typeface="Courier New" panose="02070309020205020404" pitchFamily="49" charset="0"/>
              </a:rPr>
              <a:t>f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enlo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271AE"/>
                </a:solidFill>
                <a:effectLst/>
                <a:latin typeface="Menlo"/>
                <a:cs typeface="Courier New" panose="02070309020205020404" pitchFamily="49" charset="0"/>
              </a:rPr>
              <a:t>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enlo"/>
                <a:cs typeface="Courier New" panose="02070309020205020404" pitchFamily="49" charset="0"/>
              </a:rPr>
              <a:t>)).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Menlo"/>
                <a:cs typeface="Courier New" panose="02070309020205020404" pitchFamily="49" charset="0"/>
              </a:rPr>
              <a:t>show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enlo"/>
                <a:cs typeface="Courier New" panose="02070309020205020404" pitchFamily="49" charset="0"/>
              </a:rPr>
              <a:t>()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3FEEE1C6-A4CC-3980-85F1-3A873246C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7" y="4000022"/>
            <a:ext cx="64267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x1 = [[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], [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]]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y = [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fig =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px.line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 x = x1 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              y = y,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              title =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'A simple line graph 1'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fig.show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CAAE53C-9591-CD5C-6932-587826A28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57" y="1224114"/>
            <a:ext cx="6504786" cy="2604814"/>
          </a:xfrm>
          <a:prstGeom prst="rect">
            <a:avLst/>
          </a:prstGeom>
        </p:spPr>
      </p:pic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AA1F53EA-BF71-3AD9-FF56-81BB366D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47</a:t>
            </a:fld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028BC1A-6DA7-D797-3A45-CF23A9245BA1}"/>
              </a:ext>
            </a:extLst>
          </p:cNvPr>
          <p:cNvGrpSpPr/>
          <p:nvPr/>
        </p:nvGrpSpPr>
        <p:grpSpPr>
          <a:xfrm>
            <a:off x="4087527" y="-18335"/>
            <a:ext cx="2008471" cy="989775"/>
            <a:chOff x="4362832" y="1155414"/>
            <a:chExt cx="3435337" cy="1513554"/>
          </a:xfrm>
        </p:grpSpPr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7C595246-E922-635E-0008-0F005404499F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2" name="TextBox 89">
              <a:extLst>
                <a:ext uri="{FF2B5EF4-FFF2-40B4-BE49-F238E27FC236}">
                  <a16:creationId xmlns:a16="http://schemas.microsoft.com/office/drawing/2014/main" id="{7F8DBF6D-E7D4-ECC0-371A-D6951376906D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23" name="Graphic 94" descr="Research with solid fill">
              <a:extLst>
                <a:ext uri="{FF2B5EF4-FFF2-40B4-BE49-F238E27FC236}">
                  <a16:creationId xmlns:a16="http://schemas.microsoft.com/office/drawing/2014/main" id="{9EB55268-49B2-F31C-B5AA-A63C3F350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24" name="Freeform: Shape 34">
              <a:extLst>
                <a:ext uri="{FF2B5EF4-FFF2-40B4-BE49-F238E27FC236}">
                  <a16:creationId xmlns:a16="http://schemas.microsoft.com/office/drawing/2014/main" id="{6FF1E314-DDC5-BFFB-FD44-1B42AD18F568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5AEC09FA-6764-AAE7-F43B-374028830386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652799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B7E1C26-D672-A04B-1C9A-741D42F3991B}"/>
              </a:ext>
            </a:extLst>
          </p:cNvPr>
          <p:cNvSpPr/>
          <p:nvPr/>
        </p:nvSpPr>
        <p:spPr>
          <a:xfrm>
            <a:off x="278857" y="140935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22FFD9E-DFE2-CA15-8A70-6EFE75315290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87AD6-66EB-6256-0897-0645DD586629}"/>
              </a:ext>
            </a:extLst>
          </p:cNvPr>
          <p:cNvSpPr txBox="1"/>
          <p:nvPr/>
        </p:nvSpPr>
        <p:spPr>
          <a:xfrm>
            <a:off x="377179" y="421507"/>
            <a:ext cx="395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Основные термины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9996C-0F6C-EBAB-BDF5-3DCAD79923EF}"/>
              </a:ext>
            </a:extLst>
          </p:cNvPr>
          <p:cNvSpPr txBox="1"/>
          <p:nvPr/>
        </p:nvSpPr>
        <p:spPr>
          <a:xfrm>
            <a:off x="336072" y="709830"/>
            <a:ext cx="11519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D4D4C"/>
                </a:solidFill>
                <a:latin typeface="Menlo"/>
                <a:cs typeface="Courier New" panose="02070309020205020404" pitchFamily="49" charset="0"/>
              </a:rPr>
              <a:t>bar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1B846-79EE-3D02-481A-57C016D7BA69}"/>
              </a:ext>
            </a:extLst>
          </p:cNvPr>
          <p:cNvSpPr txBox="1"/>
          <p:nvPr/>
        </p:nvSpPr>
        <p:spPr>
          <a:xfrm>
            <a:off x="8787954" y="606173"/>
            <a:ext cx="1459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pie</a:t>
            </a:r>
            <a:endParaRPr lang="ru-RU" sz="32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3A2870F-CAB0-FC6A-5B04-97C95CC8D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75" y="4361609"/>
            <a:ext cx="478831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altLang="ru-RU" sz="2400" dirty="0" err="1">
                <a:solidFill>
                  <a:srgbClr val="4271AE"/>
                </a:solidFill>
                <a:latin typeface="Menlo"/>
                <a:cs typeface="Courier New" panose="02070309020205020404" pitchFamily="49" charset="0"/>
              </a:rPr>
              <a:t>px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.bar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altLang="ru-RU" sz="2400" dirty="0">
                <a:solidFill>
                  <a:srgbClr val="4271AE"/>
                </a:solidFill>
                <a:latin typeface="Menlo"/>
                <a:cs typeface="Courier New" panose="02070309020205020404" pitchFamily="49" charset="0"/>
              </a:rPr>
              <a:t>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altLang="ru-RU" sz="2400" dirty="0">
                <a:solidFill>
                  <a:srgbClr val="4271AE"/>
                </a:solidFill>
                <a:latin typeface="Menlo"/>
                <a:cs typeface="Courier New" panose="02070309020205020404" pitchFamily="49" charset="0"/>
              </a:rPr>
              <a:t>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fig.show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BA4727D8-8B63-D769-96AA-924BA31A7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96" y="1190948"/>
            <a:ext cx="6412629" cy="321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C7491F0F-95BE-3F70-D63B-74CEF56B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383" y="4624098"/>
            <a:ext cx="445997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altLang="ru-RU" sz="2000" dirty="0" err="1">
                <a:solidFill>
                  <a:srgbClr val="4271AE"/>
                </a:solidFill>
                <a:latin typeface="Menlo"/>
                <a:cs typeface="Courier New" panose="02070309020205020404" pitchFamily="49" charset="0"/>
              </a:rPr>
              <a:t>px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.pie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altLang="ru-RU" sz="2000" b="1" dirty="0">
                <a:solidFill>
                  <a:srgbClr val="006699"/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2000" b="1" dirty="0">
                <a:solidFill>
                  <a:srgbClr val="006699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total_bill</a:t>
            </a:r>
            <a:r>
              <a:rPr lang="ru-RU" alt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", </a:t>
            </a:r>
            <a:endParaRPr lang="en-US" alt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</a:t>
            </a:r>
            <a:r>
              <a:rPr lang="en-US" alt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2000" b="1" dirty="0">
                <a:solidFill>
                  <a:srgbClr val="006699"/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2000" b="1" dirty="0">
                <a:solidFill>
                  <a:srgbClr val="006699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day</a:t>
            </a:r>
            <a:r>
              <a:rPr lang="ru-RU" alt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fig.show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296" name="Picture 8" descr="учебное пособие по построению круговой диаграммы">
            <a:extLst>
              <a:ext uri="{FF2B5EF4-FFF2-40B4-BE49-F238E27FC236}">
                <a16:creationId xmlns:a16="http://schemas.microsoft.com/office/drawing/2014/main" id="{F80E6244-62FB-98CC-D88F-B4084E905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90" y="1449373"/>
            <a:ext cx="4937763" cy="295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FA7E00-2F5D-A23F-C383-17437200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48</a:t>
            </a:fld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0A40D0B-A747-D827-1834-7CD2C65D206B}"/>
              </a:ext>
            </a:extLst>
          </p:cNvPr>
          <p:cNvGrpSpPr/>
          <p:nvPr/>
        </p:nvGrpSpPr>
        <p:grpSpPr>
          <a:xfrm>
            <a:off x="4133517" y="42214"/>
            <a:ext cx="2008471" cy="989775"/>
            <a:chOff x="4362832" y="1155414"/>
            <a:chExt cx="3435337" cy="1513554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F71C8D99-BCB2-B864-8E9B-D753DE0BA91A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15" name="TextBox 89">
              <a:extLst>
                <a:ext uri="{FF2B5EF4-FFF2-40B4-BE49-F238E27FC236}">
                  <a16:creationId xmlns:a16="http://schemas.microsoft.com/office/drawing/2014/main" id="{571FD8C8-3133-A16B-0E96-88020F6AD9B2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16" name="Graphic 94" descr="Research with solid fill">
              <a:extLst>
                <a:ext uri="{FF2B5EF4-FFF2-40B4-BE49-F238E27FC236}">
                  <a16:creationId xmlns:a16="http://schemas.microsoft.com/office/drawing/2014/main" id="{EC43484A-BDE9-9489-DF9E-2F52FB330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7" name="Freeform: Shape 34">
              <a:extLst>
                <a:ext uri="{FF2B5EF4-FFF2-40B4-BE49-F238E27FC236}">
                  <a16:creationId xmlns:a16="http://schemas.microsoft.com/office/drawing/2014/main" id="{9E705045-E25E-FEC0-29D9-78F754942016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4C6EC0EA-50AB-BF00-E02E-29EE56D15DA5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939956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B7E1C26-D672-A04B-1C9A-741D42F3991B}"/>
              </a:ext>
            </a:extLst>
          </p:cNvPr>
          <p:cNvSpPr/>
          <p:nvPr/>
        </p:nvSpPr>
        <p:spPr>
          <a:xfrm>
            <a:off x="278857" y="140935"/>
            <a:ext cx="622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22FFD9E-DFE2-CA15-8A70-6EFE75315290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87AD6-66EB-6256-0897-0645DD586629}"/>
              </a:ext>
            </a:extLst>
          </p:cNvPr>
          <p:cNvSpPr txBox="1"/>
          <p:nvPr/>
        </p:nvSpPr>
        <p:spPr>
          <a:xfrm>
            <a:off x="377179" y="421507"/>
            <a:ext cx="395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Основные термины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9996C-0F6C-EBAB-BDF5-3DCAD79923EF}"/>
              </a:ext>
            </a:extLst>
          </p:cNvPr>
          <p:cNvSpPr txBox="1"/>
          <p:nvPr/>
        </p:nvSpPr>
        <p:spPr>
          <a:xfrm>
            <a:off x="336072" y="709830"/>
            <a:ext cx="11519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box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1B846-79EE-3D02-481A-57C016D7BA69}"/>
              </a:ext>
            </a:extLst>
          </p:cNvPr>
          <p:cNvSpPr txBox="1"/>
          <p:nvPr/>
        </p:nvSpPr>
        <p:spPr>
          <a:xfrm>
            <a:off x="7579016" y="525398"/>
            <a:ext cx="38874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create_gantt</a:t>
            </a:r>
            <a:endParaRPr lang="ru-RU" sz="32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F267931-58AF-50A1-C2D2-FC8A31FB2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02" y="4716431"/>
            <a:ext cx="4991234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altLang="ru-RU" sz="2800" dirty="0" err="1">
                <a:solidFill>
                  <a:srgbClr val="4271AE"/>
                </a:solidFill>
                <a:latin typeface="Menlo"/>
                <a:cs typeface="Courier New" panose="02070309020205020404" pitchFamily="49" charset="0"/>
              </a:rPr>
              <a:t>px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total_bill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")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fig.show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6" name="Picture 4" descr="графические блоки для обучения plotly">
            <a:extLst>
              <a:ext uri="{FF2B5EF4-FFF2-40B4-BE49-F238E27FC236}">
                <a16:creationId xmlns:a16="http://schemas.microsoft.com/office/drawing/2014/main" id="{3130184A-3A0F-D290-B2CE-BADC7DCEA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5" y="1233051"/>
            <a:ext cx="5772811" cy="295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Учебное пособие по построению графика Ганта">
            <a:extLst>
              <a:ext uri="{FF2B5EF4-FFF2-40B4-BE49-F238E27FC236}">
                <a16:creationId xmlns:a16="http://schemas.microsoft.com/office/drawing/2014/main" id="{683D7D87-16AE-3BE1-45DA-3C2FCC6C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282" y="1325481"/>
            <a:ext cx="5772810" cy="271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D9F2C7CB-88D0-6BB9-E475-3CCE0813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822" y="4292400"/>
            <a:ext cx="5152103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plotly.figure_factory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Data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plotted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(Task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Start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'2020-01-01'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Finish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'2009-02-02'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(Task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Job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B"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Start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'2020-03-01'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Finish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'2020-11-11'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(Task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Job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C"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Start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'2020-08-06'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Finish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'2020-09-21'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 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Creating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plot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ff.create_gantt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fig.show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5D505829-E6E6-CCE8-5990-E7BB105C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49</a:t>
            </a:fld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850C4AD-A66E-831E-5197-5CE8BAF0D4BF}"/>
              </a:ext>
            </a:extLst>
          </p:cNvPr>
          <p:cNvGrpSpPr/>
          <p:nvPr/>
        </p:nvGrpSpPr>
        <p:grpSpPr>
          <a:xfrm>
            <a:off x="4087527" y="-18335"/>
            <a:ext cx="2008471" cy="989775"/>
            <a:chOff x="4362832" y="1155414"/>
            <a:chExt cx="3435337" cy="1513554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E146E9FE-2D4E-6201-F705-1068262CD915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14" name="TextBox 89">
              <a:extLst>
                <a:ext uri="{FF2B5EF4-FFF2-40B4-BE49-F238E27FC236}">
                  <a16:creationId xmlns:a16="http://schemas.microsoft.com/office/drawing/2014/main" id="{455B1A48-8E2A-A8CD-A5BE-960B74099901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15" name="Graphic 94" descr="Research with solid fill">
              <a:extLst>
                <a:ext uri="{FF2B5EF4-FFF2-40B4-BE49-F238E27FC236}">
                  <a16:creationId xmlns:a16="http://schemas.microsoft.com/office/drawing/2014/main" id="{4D0CDC87-B7C4-94E2-5C9D-F5E337054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BAA2565C-3D0B-0E0A-4166-7CFF8BFEA0CD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C164785B-8DF0-18D2-80EE-A5E0C23DD772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342898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5">
                <a:extLst>
                  <a:ext uri="{FF2B5EF4-FFF2-40B4-BE49-F238E27FC236}">
                    <a16:creationId xmlns:a16="http://schemas.microsoft.com/office/drawing/2014/main" id="{426A442F-A4CE-D821-6DF3-C17ABB6F0647}"/>
                  </a:ext>
                </a:extLst>
              </p:cNvPr>
              <p:cNvGraphicFramePr/>
              <p:nvPr/>
            </p:nvGraphicFramePr>
            <p:xfrm>
              <a:off x="4359725" y="3537629"/>
              <a:ext cx="7512484" cy="308477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5">
                <a:extLst>
                  <a:ext uri="{FF2B5EF4-FFF2-40B4-BE49-F238E27FC236}">
                    <a16:creationId xmlns:a16="http://schemas.microsoft.com/office/drawing/2014/main" id="{426A442F-A4CE-D821-6DF3-C17ABB6F06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9725" y="3537629"/>
                <a:ext cx="7512484" cy="308477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624F519-C42C-F986-94F7-5C78C0C26C1F}"/>
              </a:ext>
            </a:extLst>
          </p:cNvPr>
          <p:cNvSpPr txBox="1"/>
          <p:nvPr/>
        </p:nvSpPr>
        <p:spPr>
          <a:xfrm>
            <a:off x="344587" y="1339346"/>
            <a:ext cx="42365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/>
              <a:t>Древовидная карта </a:t>
            </a:r>
            <a:r>
              <a:rPr lang="ru-RU" dirty="0"/>
              <a:t>отображает иерархические данные как набор вложенных прямоугольников. Размер и цвет каждого прямоугольника определяется числовым показателем.</a:t>
            </a:r>
          </a:p>
          <a:p>
            <a:pPr>
              <a:spcAft>
                <a:spcPts val="1200"/>
              </a:spcAft>
            </a:pPr>
            <a:r>
              <a:rPr lang="ru-RU" dirty="0"/>
              <a:t>В </a:t>
            </a:r>
            <a:r>
              <a:rPr lang="ru-RU" dirty="0" err="1"/>
              <a:t>тримапах</a:t>
            </a:r>
            <a:r>
              <a:rPr lang="ru-RU" dirty="0"/>
              <a:t> не отображаются отрицательные значения.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ru-RU" b="1" dirty="0"/>
              <a:t>Функция</a:t>
            </a:r>
            <a:r>
              <a:rPr lang="ru-RU" dirty="0"/>
              <a:t>: Иерархия</a:t>
            </a:r>
            <a:endParaRPr lang="ru-RU" b="1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ACAF9BF2-2334-99F3-8EC3-B3E4B22497D9}"/>
              </a:ext>
            </a:extLst>
          </p:cNvPr>
          <p:cNvGrpSpPr/>
          <p:nvPr/>
        </p:nvGrpSpPr>
        <p:grpSpPr>
          <a:xfrm>
            <a:off x="8565732" y="1149623"/>
            <a:ext cx="3385705" cy="2284769"/>
            <a:chOff x="5452404" y="1269290"/>
            <a:chExt cx="3385705" cy="2284769"/>
          </a:xfrm>
        </p:grpSpPr>
        <p:sp>
          <p:nvSpPr>
            <p:cNvPr id="7" name="Rectangle: Rounded Corners 46">
              <a:extLst>
                <a:ext uri="{FF2B5EF4-FFF2-40B4-BE49-F238E27FC236}">
                  <a16:creationId xmlns:a16="http://schemas.microsoft.com/office/drawing/2014/main" id="{62656DD9-7712-6FA2-B4CA-500F78D678FF}"/>
                </a:ext>
              </a:extLst>
            </p:cNvPr>
            <p:cNvSpPr/>
            <p:nvPr/>
          </p:nvSpPr>
          <p:spPr>
            <a:xfrm>
              <a:off x="6278658" y="1269290"/>
              <a:ext cx="1703733" cy="33643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Завтрак 1000</a:t>
              </a:r>
            </a:p>
          </p:txBody>
        </p:sp>
        <p:sp>
          <p:nvSpPr>
            <p:cNvPr id="8" name="Rectangle: Rounded Corners 47">
              <a:extLst>
                <a:ext uri="{FF2B5EF4-FFF2-40B4-BE49-F238E27FC236}">
                  <a16:creationId xmlns:a16="http://schemas.microsoft.com/office/drawing/2014/main" id="{2CB3012C-D0E5-6EB6-0D8D-CE4B1B94F758}"/>
                </a:ext>
              </a:extLst>
            </p:cNvPr>
            <p:cNvSpPr/>
            <p:nvPr/>
          </p:nvSpPr>
          <p:spPr>
            <a:xfrm>
              <a:off x="5452404" y="1999680"/>
              <a:ext cx="1545828" cy="36914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Напитки 290</a:t>
              </a:r>
            </a:p>
          </p:txBody>
        </p:sp>
        <p:sp>
          <p:nvSpPr>
            <p:cNvPr id="9" name="Rectangle: Rounded Corners 48">
              <a:extLst>
                <a:ext uri="{FF2B5EF4-FFF2-40B4-BE49-F238E27FC236}">
                  <a16:creationId xmlns:a16="http://schemas.microsoft.com/office/drawing/2014/main" id="{CB482A70-AEBF-8AD2-3CF8-6507AEE83145}"/>
                </a:ext>
              </a:extLst>
            </p:cNvPr>
            <p:cNvSpPr/>
            <p:nvPr/>
          </p:nvSpPr>
          <p:spPr>
            <a:xfrm>
              <a:off x="7279580" y="1983145"/>
              <a:ext cx="1545829" cy="33643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Еда 710</a:t>
              </a:r>
            </a:p>
          </p:txBody>
        </p:sp>
        <p:sp>
          <p:nvSpPr>
            <p:cNvPr id="10" name="Rectangle: Rounded Corners 49">
              <a:extLst>
                <a:ext uri="{FF2B5EF4-FFF2-40B4-BE49-F238E27FC236}">
                  <a16:creationId xmlns:a16="http://schemas.microsoft.com/office/drawing/2014/main" id="{B7D0F0D5-C8E1-05AE-55F2-F0100F9BE1BE}"/>
                </a:ext>
              </a:extLst>
            </p:cNvPr>
            <p:cNvSpPr/>
            <p:nvPr/>
          </p:nvSpPr>
          <p:spPr>
            <a:xfrm>
              <a:off x="5452404" y="2454232"/>
              <a:ext cx="1545829" cy="3197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Кофе 200</a:t>
              </a:r>
            </a:p>
          </p:txBody>
        </p:sp>
        <p:sp>
          <p:nvSpPr>
            <p:cNvPr id="11" name="Rectangle: Rounded Corners 50">
              <a:extLst>
                <a:ext uri="{FF2B5EF4-FFF2-40B4-BE49-F238E27FC236}">
                  <a16:creationId xmlns:a16="http://schemas.microsoft.com/office/drawing/2014/main" id="{196D8124-8BD8-C401-D05E-B00BDE5D938E}"/>
                </a:ext>
              </a:extLst>
            </p:cNvPr>
            <p:cNvSpPr/>
            <p:nvPr/>
          </p:nvSpPr>
          <p:spPr>
            <a:xfrm>
              <a:off x="5452404" y="2900052"/>
              <a:ext cx="1545829" cy="33312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Чай 90</a:t>
              </a:r>
            </a:p>
          </p:txBody>
        </p:sp>
        <p:sp>
          <p:nvSpPr>
            <p:cNvPr id="12" name="Rectangle: Rounded Corners 51">
              <a:extLst>
                <a:ext uri="{FF2B5EF4-FFF2-40B4-BE49-F238E27FC236}">
                  <a16:creationId xmlns:a16="http://schemas.microsoft.com/office/drawing/2014/main" id="{DB4BC73E-76AB-673E-D682-30E498583DC6}"/>
                </a:ext>
              </a:extLst>
            </p:cNvPr>
            <p:cNvSpPr/>
            <p:nvPr/>
          </p:nvSpPr>
          <p:spPr>
            <a:xfrm>
              <a:off x="7292280" y="2415292"/>
              <a:ext cx="1545829" cy="3239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Вафли 120</a:t>
              </a:r>
            </a:p>
          </p:txBody>
        </p:sp>
        <p:sp>
          <p:nvSpPr>
            <p:cNvPr id="13" name="Rectangle: Rounded Corners 52">
              <a:extLst>
                <a:ext uri="{FF2B5EF4-FFF2-40B4-BE49-F238E27FC236}">
                  <a16:creationId xmlns:a16="http://schemas.microsoft.com/office/drawing/2014/main" id="{B00E5B5C-0C24-2EB4-3DA4-AD481B01A2B2}"/>
                </a:ext>
              </a:extLst>
            </p:cNvPr>
            <p:cNvSpPr/>
            <p:nvPr/>
          </p:nvSpPr>
          <p:spPr>
            <a:xfrm>
              <a:off x="7292280" y="2834061"/>
              <a:ext cx="1545829" cy="27536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Блины 350</a:t>
              </a:r>
            </a:p>
          </p:txBody>
        </p:sp>
        <p:sp>
          <p:nvSpPr>
            <p:cNvPr id="14" name="Rectangle: Rounded Corners 53">
              <a:extLst>
                <a:ext uri="{FF2B5EF4-FFF2-40B4-BE49-F238E27FC236}">
                  <a16:creationId xmlns:a16="http://schemas.microsoft.com/office/drawing/2014/main" id="{5479F282-F6CD-38C6-13EB-A7B1D6A2AB63}"/>
                </a:ext>
              </a:extLst>
            </p:cNvPr>
            <p:cNvSpPr/>
            <p:nvPr/>
          </p:nvSpPr>
          <p:spPr>
            <a:xfrm>
              <a:off x="7292280" y="3243540"/>
              <a:ext cx="1545829" cy="3105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Яичница 240</a:t>
              </a:r>
            </a:p>
          </p:txBody>
        </p:sp>
        <p:cxnSp>
          <p:nvCxnSpPr>
            <p:cNvPr id="15" name="Straight Arrow Connector 54">
              <a:extLst>
                <a:ext uri="{FF2B5EF4-FFF2-40B4-BE49-F238E27FC236}">
                  <a16:creationId xmlns:a16="http://schemas.microsoft.com/office/drawing/2014/main" id="{6D400837-3B9C-CD94-937C-6F9B0DD3FF01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6225318" y="1605723"/>
              <a:ext cx="905207" cy="3939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55">
              <a:extLst>
                <a:ext uri="{FF2B5EF4-FFF2-40B4-BE49-F238E27FC236}">
                  <a16:creationId xmlns:a16="http://schemas.microsoft.com/office/drawing/2014/main" id="{6442FE1E-37A2-26B9-1D62-D1F2CAD2864E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7130525" y="1605723"/>
              <a:ext cx="921970" cy="3774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56">
              <a:extLst>
                <a:ext uri="{FF2B5EF4-FFF2-40B4-BE49-F238E27FC236}">
                  <a16:creationId xmlns:a16="http://schemas.microsoft.com/office/drawing/2014/main" id="{25536C7E-A997-D68D-A5EB-B938B13CE7D6}"/>
                </a:ext>
              </a:extLst>
            </p:cNvPr>
            <p:cNvCxnSpPr>
              <a:cxnSpLocks/>
              <a:stCxn id="8" idx="1"/>
              <a:endCxn id="11" idx="1"/>
            </p:cNvCxnSpPr>
            <p:nvPr/>
          </p:nvCxnSpPr>
          <p:spPr>
            <a:xfrm rot="10800000" flipV="1">
              <a:off x="5452404" y="2184252"/>
              <a:ext cx="12700" cy="882361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57">
              <a:extLst>
                <a:ext uri="{FF2B5EF4-FFF2-40B4-BE49-F238E27FC236}">
                  <a16:creationId xmlns:a16="http://schemas.microsoft.com/office/drawing/2014/main" id="{F9126E47-FC41-8B78-C8EB-72C4C2912D11}"/>
                </a:ext>
              </a:extLst>
            </p:cNvPr>
            <p:cNvCxnSpPr>
              <a:cxnSpLocks/>
              <a:stCxn id="8" idx="1"/>
              <a:endCxn id="10" idx="1"/>
            </p:cNvCxnSpPr>
            <p:nvPr/>
          </p:nvCxnSpPr>
          <p:spPr>
            <a:xfrm rot="10800000" flipV="1">
              <a:off x="5452404" y="2184253"/>
              <a:ext cx="12700" cy="429878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58">
              <a:extLst>
                <a:ext uri="{FF2B5EF4-FFF2-40B4-BE49-F238E27FC236}">
                  <a16:creationId xmlns:a16="http://schemas.microsoft.com/office/drawing/2014/main" id="{65359D27-67EC-8CA0-9930-14DA19B37C16}"/>
                </a:ext>
              </a:extLst>
            </p:cNvPr>
            <p:cNvCxnSpPr>
              <a:cxnSpLocks/>
              <a:stCxn id="9" idx="1"/>
              <a:endCxn id="14" idx="1"/>
            </p:cNvCxnSpPr>
            <p:nvPr/>
          </p:nvCxnSpPr>
          <p:spPr>
            <a:xfrm rot="10800000" flipH="1" flipV="1">
              <a:off x="7279580" y="2151362"/>
              <a:ext cx="12700" cy="1247438"/>
            </a:xfrm>
            <a:prstGeom prst="bentConnector3">
              <a:avLst>
                <a:gd name="adj1" fmla="val -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59">
              <a:extLst>
                <a:ext uri="{FF2B5EF4-FFF2-40B4-BE49-F238E27FC236}">
                  <a16:creationId xmlns:a16="http://schemas.microsoft.com/office/drawing/2014/main" id="{66FB4D1F-B86B-9F08-8531-8662AA8C9C2C}"/>
                </a:ext>
              </a:extLst>
            </p:cNvPr>
            <p:cNvCxnSpPr>
              <a:cxnSpLocks/>
              <a:stCxn id="9" idx="1"/>
              <a:endCxn id="12" idx="1"/>
            </p:cNvCxnSpPr>
            <p:nvPr/>
          </p:nvCxnSpPr>
          <p:spPr>
            <a:xfrm rot="10800000" flipH="1" flipV="1">
              <a:off x="7279580" y="2151361"/>
              <a:ext cx="12700" cy="425899"/>
            </a:xfrm>
            <a:prstGeom prst="bentConnector3">
              <a:avLst>
                <a:gd name="adj1" fmla="val -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60">
              <a:extLst>
                <a:ext uri="{FF2B5EF4-FFF2-40B4-BE49-F238E27FC236}">
                  <a16:creationId xmlns:a16="http://schemas.microsoft.com/office/drawing/2014/main" id="{658EF048-8CC1-CB74-7F12-B4DF6C4B4D0A}"/>
                </a:ext>
              </a:extLst>
            </p:cNvPr>
            <p:cNvCxnSpPr>
              <a:cxnSpLocks/>
              <a:stCxn id="9" idx="1"/>
              <a:endCxn id="13" idx="1"/>
            </p:cNvCxnSpPr>
            <p:nvPr/>
          </p:nvCxnSpPr>
          <p:spPr>
            <a:xfrm rot="10800000" flipH="1" flipV="1">
              <a:off x="7279580" y="2151362"/>
              <a:ext cx="12700" cy="820380"/>
            </a:xfrm>
            <a:prstGeom prst="bentConnector3">
              <a:avLst>
                <a:gd name="adj1" fmla="val -18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: Rounded Corners 75">
            <a:extLst>
              <a:ext uri="{FF2B5EF4-FFF2-40B4-BE49-F238E27FC236}">
                <a16:creationId xmlns:a16="http://schemas.microsoft.com/office/drawing/2014/main" id="{541FBD36-9F89-08F8-1485-01E61681AD1C}"/>
              </a:ext>
            </a:extLst>
          </p:cNvPr>
          <p:cNvSpPr/>
          <p:nvPr/>
        </p:nvSpPr>
        <p:spPr>
          <a:xfrm>
            <a:off x="5560957" y="1216929"/>
            <a:ext cx="1703733" cy="43826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Обед 2470</a:t>
            </a:r>
          </a:p>
        </p:txBody>
      </p:sp>
      <p:sp>
        <p:nvSpPr>
          <p:cNvPr id="23" name="Rectangle: Rounded Corners 76">
            <a:extLst>
              <a:ext uri="{FF2B5EF4-FFF2-40B4-BE49-F238E27FC236}">
                <a16:creationId xmlns:a16="http://schemas.microsoft.com/office/drawing/2014/main" id="{33422449-53B9-1DCA-8DEE-FBB422B342FC}"/>
              </a:ext>
            </a:extLst>
          </p:cNvPr>
          <p:cNvSpPr/>
          <p:nvPr/>
        </p:nvSpPr>
        <p:spPr>
          <a:xfrm>
            <a:off x="4665556" y="1966806"/>
            <a:ext cx="1545829" cy="31161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Напитки 550</a:t>
            </a:r>
          </a:p>
        </p:txBody>
      </p:sp>
      <p:sp>
        <p:nvSpPr>
          <p:cNvPr id="24" name="Rectangle: Rounded Corners 77">
            <a:extLst>
              <a:ext uri="{FF2B5EF4-FFF2-40B4-BE49-F238E27FC236}">
                <a16:creationId xmlns:a16="http://schemas.microsoft.com/office/drawing/2014/main" id="{EFA925BA-0D8F-1109-8E70-32CB02087B90}"/>
              </a:ext>
            </a:extLst>
          </p:cNvPr>
          <p:cNvSpPr/>
          <p:nvPr/>
        </p:nvSpPr>
        <p:spPr>
          <a:xfrm>
            <a:off x="6553525" y="1966806"/>
            <a:ext cx="1539403" cy="31161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Еда 1920</a:t>
            </a:r>
          </a:p>
        </p:txBody>
      </p:sp>
      <p:sp>
        <p:nvSpPr>
          <p:cNvPr id="25" name="Rectangle: Rounded Corners 78">
            <a:extLst>
              <a:ext uri="{FF2B5EF4-FFF2-40B4-BE49-F238E27FC236}">
                <a16:creationId xmlns:a16="http://schemas.microsoft.com/office/drawing/2014/main" id="{9888BF11-445A-8FA5-2A9B-BDFE1022C48D}"/>
              </a:ext>
            </a:extLst>
          </p:cNvPr>
          <p:cNvSpPr/>
          <p:nvPr/>
        </p:nvSpPr>
        <p:spPr>
          <a:xfrm>
            <a:off x="4662222" y="2426159"/>
            <a:ext cx="1545830" cy="24928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Кофе 100</a:t>
            </a:r>
          </a:p>
        </p:txBody>
      </p:sp>
      <p:sp>
        <p:nvSpPr>
          <p:cNvPr id="26" name="Rectangle: Rounded Corners 79">
            <a:extLst>
              <a:ext uri="{FF2B5EF4-FFF2-40B4-BE49-F238E27FC236}">
                <a16:creationId xmlns:a16="http://schemas.microsoft.com/office/drawing/2014/main" id="{E11E60CC-1A3B-530A-100A-96113EA0C342}"/>
              </a:ext>
            </a:extLst>
          </p:cNvPr>
          <p:cNvSpPr/>
          <p:nvPr/>
        </p:nvSpPr>
        <p:spPr>
          <a:xfrm>
            <a:off x="4662222" y="2795366"/>
            <a:ext cx="1545829" cy="24928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Чай 450</a:t>
            </a:r>
          </a:p>
        </p:txBody>
      </p:sp>
      <p:sp>
        <p:nvSpPr>
          <p:cNvPr id="27" name="Rectangle: Rounded Corners 80">
            <a:extLst>
              <a:ext uri="{FF2B5EF4-FFF2-40B4-BE49-F238E27FC236}">
                <a16:creationId xmlns:a16="http://schemas.microsoft.com/office/drawing/2014/main" id="{D73D6CFE-C92F-3307-97D0-67119AD3196F}"/>
              </a:ext>
            </a:extLst>
          </p:cNvPr>
          <p:cNvSpPr/>
          <p:nvPr/>
        </p:nvSpPr>
        <p:spPr>
          <a:xfrm>
            <a:off x="6553525" y="2432329"/>
            <a:ext cx="1545829" cy="2431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Салат 700</a:t>
            </a:r>
          </a:p>
        </p:txBody>
      </p:sp>
      <p:sp>
        <p:nvSpPr>
          <p:cNvPr id="28" name="Rectangle: Rounded Corners 81">
            <a:extLst>
              <a:ext uri="{FF2B5EF4-FFF2-40B4-BE49-F238E27FC236}">
                <a16:creationId xmlns:a16="http://schemas.microsoft.com/office/drawing/2014/main" id="{C2BEE186-D49D-8EBE-95A2-EE980D4A9A66}"/>
              </a:ext>
            </a:extLst>
          </p:cNvPr>
          <p:cNvSpPr/>
          <p:nvPr/>
        </p:nvSpPr>
        <p:spPr>
          <a:xfrm>
            <a:off x="6553524" y="2829358"/>
            <a:ext cx="1539403" cy="2431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Пирог 450</a:t>
            </a:r>
          </a:p>
        </p:txBody>
      </p:sp>
      <p:cxnSp>
        <p:nvCxnSpPr>
          <p:cNvPr id="29" name="Straight Arrow Connector 82">
            <a:extLst>
              <a:ext uri="{FF2B5EF4-FFF2-40B4-BE49-F238E27FC236}">
                <a16:creationId xmlns:a16="http://schemas.microsoft.com/office/drawing/2014/main" id="{ECC92875-3A9F-03BD-9BBC-DEBA03026614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5438471" y="1655196"/>
            <a:ext cx="974353" cy="311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83">
            <a:extLst>
              <a:ext uri="{FF2B5EF4-FFF2-40B4-BE49-F238E27FC236}">
                <a16:creationId xmlns:a16="http://schemas.microsoft.com/office/drawing/2014/main" id="{01EFA266-8223-0F91-1EA3-80EA3AE5EF07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6412824" y="1655196"/>
            <a:ext cx="910403" cy="311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EE73C0D-EECD-ECB8-4031-D6FC372446A4}"/>
              </a:ext>
            </a:extLst>
          </p:cNvPr>
          <p:cNvSpPr txBox="1"/>
          <p:nvPr/>
        </p:nvSpPr>
        <p:spPr>
          <a:xfrm>
            <a:off x="7159642" y="307155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</a:t>
            </a:r>
          </a:p>
        </p:txBody>
      </p:sp>
      <p:cxnSp>
        <p:nvCxnSpPr>
          <p:cNvPr id="32" name="Connector: Elbow 85">
            <a:extLst>
              <a:ext uri="{FF2B5EF4-FFF2-40B4-BE49-F238E27FC236}">
                <a16:creationId xmlns:a16="http://schemas.microsoft.com/office/drawing/2014/main" id="{3CC3BCCA-8B9D-B0B4-132D-4F41A357A78A}"/>
              </a:ext>
            </a:extLst>
          </p:cNvPr>
          <p:cNvCxnSpPr>
            <a:cxnSpLocks/>
            <a:stCxn id="23" idx="1"/>
            <a:endCxn id="26" idx="1"/>
          </p:cNvCxnSpPr>
          <p:nvPr/>
        </p:nvCxnSpPr>
        <p:spPr>
          <a:xfrm rot="10800000" flipV="1">
            <a:off x="4662222" y="2122610"/>
            <a:ext cx="3334" cy="797399"/>
          </a:xfrm>
          <a:prstGeom prst="bentConnector3">
            <a:avLst>
              <a:gd name="adj1" fmla="val 43306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89">
            <a:extLst>
              <a:ext uri="{FF2B5EF4-FFF2-40B4-BE49-F238E27FC236}">
                <a16:creationId xmlns:a16="http://schemas.microsoft.com/office/drawing/2014/main" id="{52988026-269B-E8B8-D73D-84A811204E9E}"/>
              </a:ext>
            </a:extLst>
          </p:cNvPr>
          <p:cNvCxnSpPr>
            <a:cxnSpLocks/>
            <a:stCxn id="23" idx="1"/>
            <a:endCxn id="25" idx="1"/>
          </p:cNvCxnSpPr>
          <p:nvPr/>
        </p:nvCxnSpPr>
        <p:spPr>
          <a:xfrm rot="10800000" flipV="1">
            <a:off x="4662222" y="2122610"/>
            <a:ext cx="3334" cy="428191"/>
          </a:xfrm>
          <a:prstGeom prst="bentConnector3">
            <a:avLst>
              <a:gd name="adj1" fmla="val 45187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96">
            <a:extLst>
              <a:ext uri="{FF2B5EF4-FFF2-40B4-BE49-F238E27FC236}">
                <a16:creationId xmlns:a16="http://schemas.microsoft.com/office/drawing/2014/main" id="{9EFE1FC0-CC7F-3B3A-6960-DD689A830D83}"/>
              </a:ext>
            </a:extLst>
          </p:cNvPr>
          <p:cNvCxnSpPr>
            <a:cxnSpLocks/>
            <a:stCxn id="24" idx="1"/>
            <a:endCxn id="28" idx="1"/>
          </p:cNvCxnSpPr>
          <p:nvPr/>
        </p:nvCxnSpPr>
        <p:spPr>
          <a:xfrm rot="10800000" flipV="1">
            <a:off x="6553525" y="2122610"/>
            <a:ext cx="1" cy="828305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104">
            <a:extLst>
              <a:ext uri="{FF2B5EF4-FFF2-40B4-BE49-F238E27FC236}">
                <a16:creationId xmlns:a16="http://schemas.microsoft.com/office/drawing/2014/main" id="{E51530FD-D1CF-668A-C179-A31EE9CA92FD}"/>
              </a:ext>
            </a:extLst>
          </p:cNvPr>
          <p:cNvCxnSpPr>
            <a:cxnSpLocks/>
            <a:stCxn id="24" idx="1"/>
            <a:endCxn id="27" idx="1"/>
          </p:cNvCxnSpPr>
          <p:nvPr/>
        </p:nvCxnSpPr>
        <p:spPr>
          <a:xfrm rot="10800000" flipV="1">
            <a:off x="6553525" y="2122611"/>
            <a:ext cx="12700" cy="431276"/>
          </a:xfrm>
          <a:prstGeom prst="bentConnector3">
            <a:avLst>
              <a:gd name="adj1" fmla="val 189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CECBDD4-501B-5F8A-CC01-94A07BD7424E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  <a:endParaRPr lang="en-US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000" b="1" dirty="0"/>
              <a:t>Древовидная карта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3666E387-8044-FF68-4A48-DAEF75ADC65D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8" name="Номер слайда 37">
            <a:extLst>
              <a:ext uri="{FF2B5EF4-FFF2-40B4-BE49-F238E27FC236}">
                <a16:creationId xmlns:a16="http://schemas.microsoft.com/office/drawing/2014/main" id="{80B8238B-A33C-D6B8-E078-9B7C681D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50</a:t>
            </a:fld>
            <a:endParaRPr lang="ru-RU"/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9B827176-F53C-EC55-64A9-FD34C326A94A}"/>
              </a:ext>
            </a:extLst>
          </p:cNvPr>
          <p:cNvGrpSpPr/>
          <p:nvPr/>
        </p:nvGrpSpPr>
        <p:grpSpPr>
          <a:xfrm>
            <a:off x="4087527" y="-18335"/>
            <a:ext cx="2008471" cy="989775"/>
            <a:chOff x="4362832" y="1155414"/>
            <a:chExt cx="3435337" cy="1513554"/>
          </a:xfrm>
        </p:grpSpPr>
        <p:sp>
          <p:nvSpPr>
            <p:cNvPr id="42" name="Oval 16">
              <a:extLst>
                <a:ext uri="{FF2B5EF4-FFF2-40B4-BE49-F238E27FC236}">
                  <a16:creationId xmlns:a16="http://schemas.microsoft.com/office/drawing/2014/main" id="{F2E47FC9-4D89-88A6-87CE-06F31375535A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43" name="TextBox 89">
              <a:extLst>
                <a:ext uri="{FF2B5EF4-FFF2-40B4-BE49-F238E27FC236}">
                  <a16:creationId xmlns:a16="http://schemas.microsoft.com/office/drawing/2014/main" id="{459E2E8F-F145-1287-249E-9F6C5815B677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44" name="Graphic 94" descr="Research with solid fill">
              <a:extLst>
                <a:ext uri="{FF2B5EF4-FFF2-40B4-BE49-F238E27FC236}">
                  <a16:creationId xmlns:a16="http://schemas.microsoft.com/office/drawing/2014/main" id="{5B35ABC8-96AF-C0C1-2B8F-326F519C0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45" name="Freeform: Shape 34">
              <a:extLst>
                <a:ext uri="{FF2B5EF4-FFF2-40B4-BE49-F238E27FC236}">
                  <a16:creationId xmlns:a16="http://schemas.microsoft.com/office/drawing/2014/main" id="{83EA678B-510B-74EF-535B-E53B35521618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29F46D91-8AC8-F1C6-BA6B-62985B610E3C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66879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51D9CD-3A55-BC15-28DF-600AD38509E2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  <a:endParaRPr lang="en-US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000" b="1" dirty="0"/>
              <a:t>Древовидная карта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B00A25C-2B4C-324E-B62E-7E863D2A61BD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04F6D-DD5C-8754-2F7B-28FF76A2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51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FD38F-3AF9-25E8-F6C1-8C0AA35A810C}"/>
              </a:ext>
            </a:extLst>
          </p:cNvPr>
          <p:cNvSpPr txBox="1"/>
          <p:nvPr/>
        </p:nvSpPr>
        <p:spPr>
          <a:xfrm>
            <a:off x="278857" y="1038433"/>
            <a:ext cx="71543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plotly.express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px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fig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px.treemap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df_group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 path=[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'</a:t>
            </a:r>
            <a:r>
              <a:rPr lang="ru-RU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Тема обращения'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'Ответственный'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'Группа вопросов'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],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                 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values=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'</a:t>
            </a:r>
            <a:r>
              <a:rPr lang="ru-RU" b="0" dirty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Линия обслуживания'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                 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fig.show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03BE2-1994-E096-E60E-A3E1BC08A58A}"/>
              </a:ext>
            </a:extLst>
          </p:cNvPr>
          <p:cNvSpPr txBox="1"/>
          <p:nvPr/>
        </p:nvSpPr>
        <p:spPr>
          <a:xfrm>
            <a:off x="363485" y="4075858"/>
            <a:ext cx="89083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Path</a:t>
            </a:r>
            <a:r>
              <a:rPr lang="ru-RU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– </a:t>
            </a:r>
            <a:r>
              <a:rPr lang="ru-RU" sz="2400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последовательно дерева от корня до листьев</a:t>
            </a:r>
          </a:p>
          <a:p>
            <a:r>
              <a:rPr lang="en-US" sz="2400" b="1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values</a:t>
            </a:r>
            <a:r>
              <a:rPr lang="en-US" sz="2400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 – </a:t>
            </a:r>
            <a:r>
              <a:rPr lang="ru-RU" sz="2400" b="1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численный </a:t>
            </a:r>
            <a:r>
              <a:rPr lang="ru-RU" sz="2400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показатель, характеризующий размер части дерева (корня, узла, листа)</a:t>
            </a:r>
            <a:endParaRPr lang="ru-RU" sz="2400" dirty="0"/>
          </a:p>
        </p:txBody>
      </p:sp>
      <p:sp>
        <p:nvSpPr>
          <p:cNvPr id="11" name="Rectangle: Rounded Corners 75">
            <a:extLst>
              <a:ext uri="{FF2B5EF4-FFF2-40B4-BE49-F238E27FC236}">
                <a16:creationId xmlns:a16="http://schemas.microsoft.com/office/drawing/2014/main" id="{EE3E94DD-74FC-6138-EE84-F3C48EC33B6D}"/>
              </a:ext>
            </a:extLst>
          </p:cNvPr>
          <p:cNvSpPr/>
          <p:nvPr/>
        </p:nvSpPr>
        <p:spPr>
          <a:xfrm>
            <a:off x="9111739" y="1128439"/>
            <a:ext cx="1703733" cy="43826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Обед 2470</a:t>
            </a:r>
          </a:p>
        </p:txBody>
      </p:sp>
      <p:sp>
        <p:nvSpPr>
          <p:cNvPr id="12" name="Rectangle: Rounded Corners 76">
            <a:extLst>
              <a:ext uri="{FF2B5EF4-FFF2-40B4-BE49-F238E27FC236}">
                <a16:creationId xmlns:a16="http://schemas.microsoft.com/office/drawing/2014/main" id="{ECFDA844-37EE-0448-B722-B8CC7F189D5B}"/>
              </a:ext>
            </a:extLst>
          </p:cNvPr>
          <p:cNvSpPr/>
          <p:nvPr/>
        </p:nvSpPr>
        <p:spPr>
          <a:xfrm>
            <a:off x="8216338" y="1878316"/>
            <a:ext cx="1545829" cy="31161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Напитки 550</a:t>
            </a:r>
          </a:p>
        </p:txBody>
      </p:sp>
      <p:sp>
        <p:nvSpPr>
          <p:cNvPr id="13" name="Rectangle: Rounded Corners 77">
            <a:extLst>
              <a:ext uri="{FF2B5EF4-FFF2-40B4-BE49-F238E27FC236}">
                <a16:creationId xmlns:a16="http://schemas.microsoft.com/office/drawing/2014/main" id="{B530C3F0-D482-7840-8223-0B3BC1757CF2}"/>
              </a:ext>
            </a:extLst>
          </p:cNvPr>
          <p:cNvSpPr/>
          <p:nvPr/>
        </p:nvSpPr>
        <p:spPr>
          <a:xfrm>
            <a:off x="10104307" y="1878316"/>
            <a:ext cx="1539403" cy="31161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Еда 1920</a:t>
            </a:r>
          </a:p>
        </p:txBody>
      </p:sp>
      <p:sp>
        <p:nvSpPr>
          <p:cNvPr id="14" name="Rectangle: Rounded Corners 78">
            <a:extLst>
              <a:ext uri="{FF2B5EF4-FFF2-40B4-BE49-F238E27FC236}">
                <a16:creationId xmlns:a16="http://schemas.microsoft.com/office/drawing/2014/main" id="{55D08B1A-04EE-3D12-C902-BA5BB5859934}"/>
              </a:ext>
            </a:extLst>
          </p:cNvPr>
          <p:cNvSpPr/>
          <p:nvPr/>
        </p:nvSpPr>
        <p:spPr>
          <a:xfrm>
            <a:off x="8213004" y="2337669"/>
            <a:ext cx="1545830" cy="24928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Кофе 100</a:t>
            </a:r>
          </a:p>
        </p:txBody>
      </p:sp>
      <p:sp>
        <p:nvSpPr>
          <p:cNvPr id="15" name="Rectangle: Rounded Corners 79">
            <a:extLst>
              <a:ext uri="{FF2B5EF4-FFF2-40B4-BE49-F238E27FC236}">
                <a16:creationId xmlns:a16="http://schemas.microsoft.com/office/drawing/2014/main" id="{B4DBB399-7DC6-1599-1C9D-2AE93D219147}"/>
              </a:ext>
            </a:extLst>
          </p:cNvPr>
          <p:cNvSpPr/>
          <p:nvPr/>
        </p:nvSpPr>
        <p:spPr>
          <a:xfrm>
            <a:off x="8213004" y="2706876"/>
            <a:ext cx="1545829" cy="24928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Чай 450</a:t>
            </a:r>
          </a:p>
        </p:txBody>
      </p:sp>
      <p:sp>
        <p:nvSpPr>
          <p:cNvPr id="16" name="Rectangle: Rounded Corners 80">
            <a:extLst>
              <a:ext uri="{FF2B5EF4-FFF2-40B4-BE49-F238E27FC236}">
                <a16:creationId xmlns:a16="http://schemas.microsoft.com/office/drawing/2014/main" id="{AFAE0C4C-23E5-93B2-3797-706BAEFF48CC}"/>
              </a:ext>
            </a:extLst>
          </p:cNvPr>
          <p:cNvSpPr/>
          <p:nvPr/>
        </p:nvSpPr>
        <p:spPr>
          <a:xfrm>
            <a:off x="10104307" y="2343839"/>
            <a:ext cx="1545829" cy="2431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Салат 700</a:t>
            </a:r>
          </a:p>
        </p:txBody>
      </p:sp>
      <p:sp>
        <p:nvSpPr>
          <p:cNvPr id="17" name="Rectangle: Rounded Corners 81">
            <a:extLst>
              <a:ext uri="{FF2B5EF4-FFF2-40B4-BE49-F238E27FC236}">
                <a16:creationId xmlns:a16="http://schemas.microsoft.com/office/drawing/2014/main" id="{E68E6B26-335F-C9E4-EE4F-2B6C4ACCB9D9}"/>
              </a:ext>
            </a:extLst>
          </p:cNvPr>
          <p:cNvSpPr/>
          <p:nvPr/>
        </p:nvSpPr>
        <p:spPr>
          <a:xfrm>
            <a:off x="10104306" y="2740868"/>
            <a:ext cx="1539403" cy="2431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Пирог 450</a:t>
            </a:r>
          </a:p>
        </p:txBody>
      </p:sp>
      <p:cxnSp>
        <p:nvCxnSpPr>
          <p:cNvPr id="18" name="Straight Arrow Connector 82">
            <a:extLst>
              <a:ext uri="{FF2B5EF4-FFF2-40B4-BE49-F238E27FC236}">
                <a16:creationId xmlns:a16="http://schemas.microsoft.com/office/drawing/2014/main" id="{8F5709F4-F7EB-4389-5607-CA1150EEDD7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8989253" y="1566706"/>
            <a:ext cx="974353" cy="311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83">
            <a:extLst>
              <a:ext uri="{FF2B5EF4-FFF2-40B4-BE49-F238E27FC236}">
                <a16:creationId xmlns:a16="http://schemas.microsoft.com/office/drawing/2014/main" id="{2A33C182-FF96-1271-7212-423F07CD7ADE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9963606" y="1566706"/>
            <a:ext cx="910403" cy="311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85">
            <a:extLst>
              <a:ext uri="{FF2B5EF4-FFF2-40B4-BE49-F238E27FC236}">
                <a16:creationId xmlns:a16="http://schemas.microsoft.com/office/drawing/2014/main" id="{6DF48074-4046-E7A6-47F9-65D2FEA84CBB}"/>
              </a:ext>
            </a:extLst>
          </p:cNvPr>
          <p:cNvCxnSpPr>
            <a:cxnSpLocks/>
            <a:stCxn id="12" idx="1"/>
            <a:endCxn id="15" idx="1"/>
          </p:cNvCxnSpPr>
          <p:nvPr/>
        </p:nvCxnSpPr>
        <p:spPr>
          <a:xfrm rot="10800000" flipV="1">
            <a:off x="8213004" y="2034120"/>
            <a:ext cx="3334" cy="797399"/>
          </a:xfrm>
          <a:prstGeom prst="bentConnector3">
            <a:avLst>
              <a:gd name="adj1" fmla="val 43306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89">
            <a:extLst>
              <a:ext uri="{FF2B5EF4-FFF2-40B4-BE49-F238E27FC236}">
                <a16:creationId xmlns:a16="http://schemas.microsoft.com/office/drawing/2014/main" id="{726496BF-E108-85A3-518F-55C02CCEE6D2}"/>
              </a:ext>
            </a:extLst>
          </p:cNvPr>
          <p:cNvCxnSpPr>
            <a:cxnSpLocks/>
            <a:stCxn id="12" idx="1"/>
            <a:endCxn id="14" idx="1"/>
          </p:cNvCxnSpPr>
          <p:nvPr/>
        </p:nvCxnSpPr>
        <p:spPr>
          <a:xfrm rot="10800000" flipV="1">
            <a:off x="8213004" y="2034120"/>
            <a:ext cx="3334" cy="428191"/>
          </a:xfrm>
          <a:prstGeom prst="bentConnector3">
            <a:avLst>
              <a:gd name="adj1" fmla="val 45187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96">
            <a:extLst>
              <a:ext uri="{FF2B5EF4-FFF2-40B4-BE49-F238E27FC236}">
                <a16:creationId xmlns:a16="http://schemas.microsoft.com/office/drawing/2014/main" id="{2DC66D3D-8F19-A5A6-3F17-1B1C89251766}"/>
              </a:ext>
            </a:extLst>
          </p:cNvPr>
          <p:cNvCxnSpPr>
            <a:cxnSpLocks/>
            <a:stCxn id="13" idx="1"/>
            <a:endCxn id="17" idx="1"/>
          </p:cNvCxnSpPr>
          <p:nvPr/>
        </p:nvCxnSpPr>
        <p:spPr>
          <a:xfrm rot="10800000" flipV="1">
            <a:off x="10104307" y="2034120"/>
            <a:ext cx="1" cy="828305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104">
            <a:extLst>
              <a:ext uri="{FF2B5EF4-FFF2-40B4-BE49-F238E27FC236}">
                <a16:creationId xmlns:a16="http://schemas.microsoft.com/office/drawing/2014/main" id="{91B33241-209A-B248-79B1-CE2F1C8A00D8}"/>
              </a:ext>
            </a:extLst>
          </p:cNvPr>
          <p:cNvCxnSpPr>
            <a:cxnSpLocks/>
            <a:stCxn id="13" idx="1"/>
            <a:endCxn id="16" idx="1"/>
          </p:cNvCxnSpPr>
          <p:nvPr/>
        </p:nvCxnSpPr>
        <p:spPr>
          <a:xfrm rot="10800000" flipV="1">
            <a:off x="10104307" y="2034121"/>
            <a:ext cx="12700" cy="431276"/>
          </a:xfrm>
          <a:prstGeom prst="bentConnector3">
            <a:avLst>
              <a:gd name="adj1" fmla="val 189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7B85FDE-D3ED-AE47-AEC0-BE1BCF2EA8AE}"/>
              </a:ext>
            </a:extLst>
          </p:cNvPr>
          <p:cNvSpPr txBox="1"/>
          <p:nvPr/>
        </p:nvSpPr>
        <p:spPr>
          <a:xfrm>
            <a:off x="9183328" y="678426"/>
            <a:ext cx="163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Корень</a:t>
            </a:r>
          </a:p>
        </p:txBody>
      </p:sp>
      <p:cxnSp>
        <p:nvCxnSpPr>
          <p:cNvPr id="26" name="Соединитель: изогнутый 25">
            <a:extLst>
              <a:ext uri="{FF2B5EF4-FFF2-40B4-BE49-F238E27FC236}">
                <a16:creationId xmlns:a16="http://schemas.microsoft.com/office/drawing/2014/main" id="{96E0F677-2BF5-E620-8FC4-2527548E7D8C}"/>
              </a:ext>
            </a:extLst>
          </p:cNvPr>
          <p:cNvCxnSpPr>
            <a:cxnSpLocks/>
            <a:stCxn id="24" idx="1"/>
            <a:endCxn id="11" idx="1"/>
          </p:cNvCxnSpPr>
          <p:nvPr/>
        </p:nvCxnSpPr>
        <p:spPr>
          <a:xfrm rot="10800000" flipV="1">
            <a:off x="9111740" y="863091"/>
            <a:ext cx="71589" cy="484481"/>
          </a:xfrm>
          <a:prstGeom prst="curvedConnector3">
            <a:avLst>
              <a:gd name="adj1" fmla="val 4193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B3BA95-FE22-AAE5-B21D-11EFBC0B78A6}"/>
              </a:ext>
            </a:extLst>
          </p:cNvPr>
          <p:cNvSpPr txBox="1"/>
          <p:nvPr/>
        </p:nvSpPr>
        <p:spPr>
          <a:xfrm>
            <a:off x="7043049" y="1378486"/>
            <a:ext cx="163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Узел</a:t>
            </a:r>
          </a:p>
        </p:txBody>
      </p:sp>
      <p:cxnSp>
        <p:nvCxnSpPr>
          <p:cNvPr id="30" name="Соединитель: изогнутый 29">
            <a:extLst>
              <a:ext uri="{FF2B5EF4-FFF2-40B4-BE49-F238E27FC236}">
                <a16:creationId xmlns:a16="http://schemas.microsoft.com/office/drawing/2014/main" id="{708DF667-12DF-9172-4D41-E6870D8B5F66}"/>
              </a:ext>
            </a:extLst>
          </p:cNvPr>
          <p:cNvCxnSpPr>
            <a:cxnSpLocks/>
            <a:stCxn id="29" idx="2"/>
            <a:endCxn id="12" idx="1"/>
          </p:cNvCxnSpPr>
          <p:nvPr/>
        </p:nvCxnSpPr>
        <p:spPr>
          <a:xfrm rot="16200000" flipH="1">
            <a:off x="7894578" y="1712360"/>
            <a:ext cx="286303" cy="3572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0DCB5D4-B9E7-8B3C-0D04-C7A217CE117E}"/>
              </a:ext>
            </a:extLst>
          </p:cNvPr>
          <p:cNvSpPr txBox="1"/>
          <p:nvPr/>
        </p:nvSpPr>
        <p:spPr>
          <a:xfrm>
            <a:off x="6783463" y="2727172"/>
            <a:ext cx="163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Лист</a:t>
            </a:r>
          </a:p>
        </p:txBody>
      </p:sp>
      <p:cxnSp>
        <p:nvCxnSpPr>
          <p:cNvPr id="38" name="Соединитель: изогнутый 37">
            <a:extLst>
              <a:ext uri="{FF2B5EF4-FFF2-40B4-BE49-F238E27FC236}">
                <a16:creationId xmlns:a16="http://schemas.microsoft.com/office/drawing/2014/main" id="{4E3DD14E-91CE-0274-585F-D529CE50FA2D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722416" y="2956163"/>
            <a:ext cx="1263503" cy="16063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33C03AF6-1867-4334-B271-356FAB1EE8E4}"/>
              </a:ext>
            </a:extLst>
          </p:cNvPr>
          <p:cNvGrpSpPr/>
          <p:nvPr/>
        </p:nvGrpSpPr>
        <p:grpSpPr>
          <a:xfrm>
            <a:off x="4087527" y="-18335"/>
            <a:ext cx="2008471" cy="989775"/>
            <a:chOff x="4362832" y="1155414"/>
            <a:chExt cx="3435337" cy="1513554"/>
          </a:xfrm>
        </p:grpSpPr>
        <p:sp>
          <p:nvSpPr>
            <p:cNvPr id="43" name="Oval 16">
              <a:extLst>
                <a:ext uri="{FF2B5EF4-FFF2-40B4-BE49-F238E27FC236}">
                  <a16:creationId xmlns:a16="http://schemas.microsoft.com/office/drawing/2014/main" id="{1F4727B0-685E-D698-D5E9-C8266FFC8D28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44" name="TextBox 89">
              <a:extLst>
                <a:ext uri="{FF2B5EF4-FFF2-40B4-BE49-F238E27FC236}">
                  <a16:creationId xmlns:a16="http://schemas.microsoft.com/office/drawing/2014/main" id="{E06F9018-E875-2841-8617-180B0C8A0587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45" name="Graphic 94" descr="Research with solid fill">
              <a:extLst>
                <a:ext uri="{FF2B5EF4-FFF2-40B4-BE49-F238E27FC236}">
                  <a16:creationId xmlns:a16="http://schemas.microsoft.com/office/drawing/2014/main" id="{9107E248-3154-82FB-5FB7-5A11BAD0F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46" name="Freeform: Shape 34">
              <a:extLst>
                <a:ext uri="{FF2B5EF4-FFF2-40B4-BE49-F238E27FC236}">
                  <a16:creationId xmlns:a16="http://schemas.microsoft.com/office/drawing/2014/main" id="{597A7670-A828-FDA1-2081-7ACAF730B750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DBCC771A-768B-06A4-ECD5-89A4C02B60E4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847835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51D9CD-3A55-BC15-28DF-600AD38509E2}"/>
              </a:ext>
            </a:extLst>
          </p:cNvPr>
          <p:cNvSpPr/>
          <p:nvPr/>
        </p:nvSpPr>
        <p:spPr>
          <a:xfrm>
            <a:off x="278857" y="140935"/>
            <a:ext cx="62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  <a:endParaRPr lang="en-US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000" b="1" dirty="0"/>
              <a:t>Древовидная карта</a:t>
            </a:r>
            <a:endParaRPr lang="ru-RU" sz="2000" b="1" dirty="0">
              <a:solidFill>
                <a:srgbClr val="26262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B00A25C-2B4C-324E-B62E-7E863D2A61BD}"/>
              </a:ext>
            </a:extLst>
          </p:cNvPr>
          <p:cNvSpPr/>
          <p:nvPr/>
        </p:nvSpPr>
        <p:spPr>
          <a:xfrm>
            <a:off x="3917954" y="42150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04F6D-DD5C-8754-2F7B-28FF76A2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52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7FD07A-5987-3EB4-639F-CA6127247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821"/>
            <a:ext cx="12192000" cy="4372112"/>
          </a:xfrm>
          <a:prstGeom prst="rect">
            <a:avLst/>
          </a:prstGeom>
        </p:spPr>
      </p:pic>
      <p:sp>
        <p:nvSpPr>
          <p:cNvPr id="7" name="Прямоугольник 6">
            <a:hlinkClick r:id="rId3" action="ppaction://hlinkfile"/>
            <a:extLst>
              <a:ext uri="{FF2B5EF4-FFF2-40B4-BE49-F238E27FC236}">
                <a16:creationId xmlns:a16="http://schemas.microsoft.com/office/drawing/2014/main" id="{E3E0959C-1766-58CC-0267-73015EF73D5C}"/>
              </a:ext>
            </a:extLst>
          </p:cNvPr>
          <p:cNvSpPr/>
          <p:nvPr/>
        </p:nvSpPr>
        <p:spPr>
          <a:xfrm>
            <a:off x="353961" y="5525729"/>
            <a:ext cx="10825316" cy="403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Интерактивная версия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1AC9A15-CDDF-8011-466C-5F047E389C94}"/>
              </a:ext>
            </a:extLst>
          </p:cNvPr>
          <p:cNvGrpSpPr/>
          <p:nvPr/>
        </p:nvGrpSpPr>
        <p:grpSpPr>
          <a:xfrm>
            <a:off x="4087527" y="-18335"/>
            <a:ext cx="2008471" cy="989775"/>
            <a:chOff x="4362832" y="1155414"/>
            <a:chExt cx="3435337" cy="1513554"/>
          </a:xfrm>
        </p:grpSpPr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0CC32E34-D9BC-8479-F39E-17E74AAD903C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7" name="TextBox 89">
              <a:extLst>
                <a:ext uri="{FF2B5EF4-FFF2-40B4-BE49-F238E27FC236}">
                  <a16:creationId xmlns:a16="http://schemas.microsoft.com/office/drawing/2014/main" id="{6B8E9E34-F988-7705-B58B-007C3C499B07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28" name="Graphic 94" descr="Research with solid fill">
              <a:extLst>
                <a:ext uri="{FF2B5EF4-FFF2-40B4-BE49-F238E27FC236}">
                  <a16:creationId xmlns:a16="http://schemas.microsoft.com/office/drawing/2014/main" id="{7028474E-55E4-9729-4CDD-8C7031EDA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31" name="Freeform: Shape 34">
              <a:extLst>
                <a:ext uri="{FF2B5EF4-FFF2-40B4-BE49-F238E27FC236}">
                  <a16:creationId xmlns:a16="http://schemas.microsoft.com/office/drawing/2014/main" id="{E8AAC9A3-FD42-5147-2935-CB99A1990AD0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2" name="Shape">
              <a:extLst>
                <a:ext uri="{FF2B5EF4-FFF2-40B4-BE49-F238E27FC236}">
                  <a16:creationId xmlns:a16="http://schemas.microsoft.com/office/drawing/2014/main" id="{9406ED76-ABB3-EA49-3B99-3E4660B220E4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04926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1B5928-0F63-2EBF-B1ED-786F22328E35}"/>
              </a:ext>
            </a:extLst>
          </p:cNvPr>
          <p:cNvSpPr/>
          <p:nvPr/>
        </p:nvSpPr>
        <p:spPr>
          <a:xfrm>
            <a:off x="278857" y="140935"/>
            <a:ext cx="6225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Статистический анализ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005D27B-3960-C386-A956-5903C7566AC6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61FD7F-14B8-532E-21E5-55745DEC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2DEE-950F-42AF-9A26-DB2236F4532D}" type="slidenum">
              <a:rPr lang="ru-RU" smtClean="0"/>
              <a:t>53</a:t>
            </a:fld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8B77AE1-C53E-6DAA-EF0E-8864BC1C6FCF}"/>
              </a:ext>
            </a:extLst>
          </p:cNvPr>
          <p:cNvGrpSpPr/>
          <p:nvPr/>
        </p:nvGrpSpPr>
        <p:grpSpPr>
          <a:xfrm>
            <a:off x="6686473" y="18910"/>
            <a:ext cx="953192" cy="1381034"/>
            <a:chOff x="6450498" y="2863327"/>
            <a:chExt cx="2193859" cy="3044556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300F2DCD-F2B7-6E71-0404-E8103715570C}"/>
                </a:ext>
              </a:extLst>
            </p:cNvPr>
            <p:cNvGrpSpPr/>
            <p:nvPr/>
          </p:nvGrpSpPr>
          <p:grpSpPr>
            <a:xfrm>
              <a:off x="6450498" y="2863327"/>
              <a:ext cx="2193859" cy="3044556"/>
              <a:chOff x="6450498" y="2863327"/>
              <a:chExt cx="2193859" cy="3044556"/>
            </a:xfrm>
          </p:grpSpPr>
          <p:sp>
            <p:nvSpPr>
              <p:cNvPr id="20" name="Freeform: Shape 21">
                <a:extLst>
                  <a:ext uri="{FF2B5EF4-FFF2-40B4-BE49-F238E27FC236}">
                    <a16:creationId xmlns:a16="http://schemas.microsoft.com/office/drawing/2014/main" id="{45551734-E7FE-5414-DF72-0803AB0B1ADF}"/>
                  </a:ext>
                </a:extLst>
              </p:cNvPr>
              <p:cNvSpPr/>
              <p:nvPr/>
            </p:nvSpPr>
            <p:spPr>
              <a:xfrm>
                <a:off x="6450498" y="2863327"/>
                <a:ext cx="2148481" cy="3044556"/>
              </a:xfrm>
              <a:custGeom>
                <a:avLst/>
                <a:gdLst>
                  <a:gd name="connsiteX0" fmla="*/ 1775951 w 2148481"/>
                  <a:gd name="connsiteY0" fmla="*/ 1847 h 3044556"/>
                  <a:gd name="connsiteX1" fmla="*/ 1925326 w 2148481"/>
                  <a:gd name="connsiteY1" fmla="*/ 48156 h 3044556"/>
                  <a:gd name="connsiteX2" fmla="*/ 1729630 w 2148481"/>
                  <a:gd name="connsiteY2" fmla="*/ 1900666 h 3044556"/>
                  <a:gd name="connsiteX3" fmla="*/ 223157 w 2148481"/>
                  <a:gd name="connsiteY3" fmla="*/ 2996400 h 3044556"/>
                  <a:gd name="connsiteX4" fmla="*/ 418853 w 2148481"/>
                  <a:gd name="connsiteY4" fmla="*/ 1143889 h 3044556"/>
                  <a:gd name="connsiteX5" fmla="*/ 1775951 w 2148481"/>
                  <a:gd name="connsiteY5" fmla="*/ 1847 h 304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8481" h="3044556">
                    <a:moveTo>
                      <a:pt x="1775951" y="1847"/>
                    </a:moveTo>
                    <a:cubicBezTo>
                      <a:pt x="1829953" y="6842"/>
                      <a:pt x="1880081" y="22034"/>
                      <a:pt x="1925326" y="48156"/>
                    </a:cubicBezTo>
                    <a:cubicBezTo>
                      <a:pt x="2287286" y="257134"/>
                      <a:pt x="2199671" y="1086531"/>
                      <a:pt x="1729630" y="1900666"/>
                    </a:cubicBezTo>
                    <a:cubicBezTo>
                      <a:pt x="1259589" y="2714801"/>
                      <a:pt x="585117" y="3205378"/>
                      <a:pt x="223157" y="2996400"/>
                    </a:cubicBezTo>
                    <a:cubicBezTo>
                      <a:pt x="-138804" y="2787422"/>
                      <a:pt x="-51188" y="1958024"/>
                      <a:pt x="418853" y="1143889"/>
                    </a:cubicBezTo>
                    <a:cubicBezTo>
                      <a:pt x="830139" y="431521"/>
                      <a:pt x="1397941" y="-33122"/>
                      <a:pt x="1775951" y="18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endParaRPr lang="en-US" sz="20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TextBox 90">
                <a:extLst>
                  <a:ext uri="{FF2B5EF4-FFF2-40B4-BE49-F238E27FC236}">
                    <a16:creationId xmlns:a16="http://schemas.microsoft.com/office/drawing/2014/main" id="{16023162-7BF7-C279-4FBA-245CA08DBA8D}"/>
                  </a:ext>
                </a:extLst>
              </p:cNvPr>
              <p:cNvSpPr txBox="1"/>
              <p:nvPr/>
            </p:nvSpPr>
            <p:spPr>
              <a:xfrm>
                <a:off x="7683749" y="2911271"/>
                <a:ext cx="9606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02</a:t>
                </a:r>
              </a:p>
            </p:txBody>
          </p:sp>
        </p:grpSp>
        <p:pic>
          <p:nvPicPr>
            <p:cNvPr id="16" name="Graphic 93" descr="Lightbulb with solid fill">
              <a:extLst>
                <a:ext uri="{FF2B5EF4-FFF2-40B4-BE49-F238E27FC236}">
                  <a16:creationId xmlns:a16="http://schemas.microsoft.com/office/drawing/2014/main" id="{31B98F60-A8F8-ECB4-6033-9E127A39F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16134" y="4007340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A86A5C3F-C47E-E638-D69B-733B020DA394}"/>
                </a:ext>
              </a:extLst>
            </p:cNvPr>
            <p:cNvSpPr/>
            <p:nvPr/>
          </p:nvSpPr>
          <p:spPr>
            <a:xfrm>
              <a:off x="6531256" y="3290213"/>
              <a:ext cx="905623" cy="1508665"/>
            </a:xfrm>
            <a:custGeom>
              <a:avLst/>
              <a:gdLst>
                <a:gd name="connsiteX0" fmla="*/ 882776 w 905623"/>
                <a:gd name="connsiteY0" fmla="*/ 0 h 1508665"/>
                <a:gd name="connsiteX1" fmla="*/ 898700 w 905623"/>
                <a:gd name="connsiteY1" fmla="*/ 104339 h 1508665"/>
                <a:gd name="connsiteX2" fmla="*/ 905623 w 905623"/>
                <a:gd name="connsiteY2" fmla="*/ 241436 h 1508665"/>
                <a:gd name="connsiteX3" fmla="*/ 86675 w 905623"/>
                <a:gd name="connsiteY3" fmla="*/ 1476941 h 1508665"/>
                <a:gd name="connsiteX4" fmla="*/ 0 w 905623"/>
                <a:gd name="connsiteY4" fmla="*/ 1508665 h 1508665"/>
                <a:gd name="connsiteX5" fmla="*/ 11520 w 905623"/>
                <a:gd name="connsiteY5" fmla="*/ 1465327 h 1508665"/>
                <a:gd name="connsiteX6" fmla="*/ 338095 w 905623"/>
                <a:gd name="connsiteY6" fmla="*/ 717003 h 1508665"/>
                <a:gd name="connsiteX7" fmla="*/ 848560 w 905623"/>
                <a:gd name="connsiteY7" fmla="*/ 33381 h 1508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5623" h="1508665">
                  <a:moveTo>
                    <a:pt x="882776" y="0"/>
                  </a:moveTo>
                  <a:lnTo>
                    <a:pt x="898700" y="104339"/>
                  </a:lnTo>
                  <a:cubicBezTo>
                    <a:pt x="903278" y="149416"/>
                    <a:pt x="905623" y="195152"/>
                    <a:pt x="905623" y="241436"/>
                  </a:cubicBezTo>
                  <a:cubicBezTo>
                    <a:pt x="905623" y="796846"/>
                    <a:pt x="567936" y="1273385"/>
                    <a:pt x="86675" y="1476941"/>
                  </a:cubicBezTo>
                  <a:lnTo>
                    <a:pt x="0" y="1508665"/>
                  </a:lnTo>
                  <a:lnTo>
                    <a:pt x="11520" y="1465327"/>
                  </a:lnTo>
                  <a:cubicBezTo>
                    <a:pt x="81666" y="1227328"/>
                    <a:pt x="191207" y="971420"/>
                    <a:pt x="338095" y="717003"/>
                  </a:cubicBezTo>
                  <a:cubicBezTo>
                    <a:pt x="492328" y="449865"/>
                    <a:pt x="668570" y="217564"/>
                    <a:pt x="848560" y="33381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200">
                <a:solidFill>
                  <a:schemeClr val="lt1"/>
                </a:solidFill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EC734893-17DA-6E8C-0467-772801025809}"/>
                </a:ext>
              </a:extLst>
            </p:cNvPr>
            <p:cNvSpPr/>
            <p:nvPr/>
          </p:nvSpPr>
          <p:spPr>
            <a:xfrm>
              <a:off x="6930355" y="3926223"/>
              <a:ext cx="207324" cy="255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5" h="21011" extrusionOk="0">
                  <a:moveTo>
                    <a:pt x="1682" y="20999"/>
                  </a:moveTo>
                  <a:lnTo>
                    <a:pt x="17882" y="17716"/>
                  </a:lnTo>
                  <a:cubicBezTo>
                    <a:pt x="19544" y="17370"/>
                    <a:pt x="20790" y="15815"/>
                    <a:pt x="20375" y="14433"/>
                  </a:cubicBezTo>
                  <a:lnTo>
                    <a:pt x="16428" y="954"/>
                  </a:lnTo>
                  <a:cubicBezTo>
                    <a:pt x="16013" y="-428"/>
                    <a:pt x="13728" y="-255"/>
                    <a:pt x="13728" y="1127"/>
                  </a:cubicBezTo>
                  <a:lnTo>
                    <a:pt x="13105" y="12877"/>
                  </a:lnTo>
                  <a:lnTo>
                    <a:pt x="852" y="18753"/>
                  </a:lnTo>
                  <a:cubicBezTo>
                    <a:pt x="-810" y="19444"/>
                    <a:pt x="228" y="21172"/>
                    <a:pt x="1682" y="20999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ADFC3A7A-AD6B-05EB-D471-3E28AD9D332C}"/>
              </a:ext>
            </a:extLst>
          </p:cNvPr>
          <p:cNvGrpSpPr/>
          <p:nvPr/>
        </p:nvGrpSpPr>
        <p:grpSpPr>
          <a:xfrm>
            <a:off x="4491122" y="250539"/>
            <a:ext cx="2008471" cy="989775"/>
            <a:chOff x="4362832" y="1155414"/>
            <a:chExt cx="3435337" cy="1513554"/>
          </a:xfrm>
        </p:grpSpPr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24C3DABE-BD55-E64F-C4B4-35E8149C9470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4" name="TextBox 89">
              <a:extLst>
                <a:ext uri="{FF2B5EF4-FFF2-40B4-BE49-F238E27FC236}">
                  <a16:creationId xmlns:a16="http://schemas.microsoft.com/office/drawing/2014/main" id="{C279F200-3ED2-1548-09FE-0E3CAFFFF120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25" name="Graphic 94" descr="Research with solid fill">
              <a:extLst>
                <a:ext uri="{FF2B5EF4-FFF2-40B4-BE49-F238E27FC236}">
                  <a16:creationId xmlns:a16="http://schemas.microsoft.com/office/drawing/2014/main" id="{591D3219-99E5-43CC-B1CC-D2505B29C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26" name="Freeform: Shape 34">
              <a:extLst>
                <a:ext uri="{FF2B5EF4-FFF2-40B4-BE49-F238E27FC236}">
                  <a16:creationId xmlns:a16="http://schemas.microsoft.com/office/drawing/2014/main" id="{9E5D856C-61C1-5F1E-DC08-DCDECC192C64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27" name="Shape">
              <a:extLst>
                <a:ext uri="{FF2B5EF4-FFF2-40B4-BE49-F238E27FC236}">
                  <a16:creationId xmlns:a16="http://schemas.microsoft.com/office/drawing/2014/main" id="{C6292DC5-CD09-1205-F43D-0853D312FC47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  <p:pic>
        <p:nvPicPr>
          <p:cNvPr id="28" name="Picture 9">
            <a:extLst>
              <a:ext uri="{FF2B5EF4-FFF2-40B4-BE49-F238E27FC236}">
                <a16:creationId xmlns:a16="http://schemas.microsoft.com/office/drawing/2014/main" id="{541226CD-AD8E-465B-084E-304B2B99C9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8857" y="1913586"/>
            <a:ext cx="2907706" cy="4803479"/>
          </a:xfrm>
          <a:prstGeom prst="rect">
            <a:avLst/>
          </a:prstGeom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18A29CC8-C0D0-9423-6C1F-749CA99F087A}"/>
              </a:ext>
            </a:extLst>
          </p:cNvPr>
          <p:cNvSpPr txBox="1"/>
          <p:nvPr/>
        </p:nvSpPr>
        <p:spPr>
          <a:xfrm>
            <a:off x="9066192" y="1559643"/>
            <a:ext cx="2981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/>
              <a:t>СРАВНЕНИЕ ОТКЛОНЕНИЯ/РАЗНИЦЫ</a:t>
            </a:r>
          </a:p>
        </p:txBody>
      </p:sp>
      <p:pic>
        <p:nvPicPr>
          <p:cNvPr id="31" name="Picture 16">
            <a:extLst>
              <a:ext uri="{FF2B5EF4-FFF2-40B4-BE49-F238E27FC236}">
                <a16:creationId xmlns:a16="http://schemas.microsoft.com/office/drawing/2014/main" id="{EA0D67B5-D6D6-4943-1C63-BD5DE28D3B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43635" y="2221497"/>
            <a:ext cx="2834819" cy="4636503"/>
          </a:xfrm>
          <a:prstGeom prst="rect">
            <a:avLst/>
          </a:prstGeom>
        </p:spPr>
      </p:pic>
      <p:sp>
        <p:nvSpPr>
          <p:cNvPr id="33" name="TextBox 10">
            <a:extLst>
              <a:ext uri="{FF2B5EF4-FFF2-40B4-BE49-F238E27FC236}">
                <a16:creationId xmlns:a16="http://schemas.microsoft.com/office/drawing/2014/main" id="{A16E12CC-272B-658B-FC6E-387E97CB02D7}"/>
              </a:ext>
            </a:extLst>
          </p:cNvPr>
          <p:cNvSpPr txBox="1"/>
          <p:nvPr/>
        </p:nvSpPr>
        <p:spPr>
          <a:xfrm>
            <a:off x="667934" y="1656241"/>
            <a:ext cx="1928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СРАВНЕНИЕ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CDBD7D-886A-9E49-A20A-79B5A011A106}"/>
              </a:ext>
            </a:extLst>
          </p:cNvPr>
          <p:cNvSpPr txBox="1"/>
          <p:nvPr/>
        </p:nvSpPr>
        <p:spPr>
          <a:xfrm>
            <a:off x="3198533" y="1410020"/>
            <a:ext cx="5845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Статистический анализ это </a:t>
            </a:r>
            <a:r>
              <a:rPr lang="ru-RU" i="1" dirty="0"/>
              <a:t>искусство </a:t>
            </a:r>
            <a:r>
              <a:rPr lang="ru-RU" dirty="0"/>
              <a:t>формулировать гипотезы и получать ответы на них.</a:t>
            </a:r>
            <a:r>
              <a:rPr lang="ru-RU" i="1" dirty="0"/>
              <a:t> </a:t>
            </a:r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E4630E7-E8ED-BCDF-A850-8E5408877294}"/>
              </a:ext>
            </a:extLst>
          </p:cNvPr>
          <p:cNvSpPr/>
          <p:nvPr/>
        </p:nvSpPr>
        <p:spPr>
          <a:xfrm>
            <a:off x="3454626" y="2028537"/>
            <a:ext cx="5408615" cy="963561"/>
          </a:xfrm>
          <a:prstGeom prst="roundRect">
            <a:avLst>
              <a:gd name="adj" fmla="val 31633"/>
            </a:avLst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3BABB8C0-5F62-4FD5-85EE-4D9089F24D86}"/>
              </a:ext>
            </a:extLst>
          </p:cNvPr>
          <p:cNvSpPr/>
          <p:nvPr/>
        </p:nvSpPr>
        <p:spPr>
          <a:xfrm>
            <a:off x="3454625" y="3567074"/>
            <a:ext cx="5408615" cy="963561"/>
          </a:xfrm>
          <a:prstGeom prst="roundRect">
            <a:avLst>
              <a:gd name="adj" fmla="val 31633"/>
            </a:avLst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90">
            <a:extLst>
              <a:ext uri="{FF2B5EF4-FFF2-40B4-BE49-F238E27FC236}">
                <a16:creationId xmlns:a16="http://schemas.microsoft.com/office/drawing/2014/main" id="{1FC98A2C-9282-21B3-1985-180815572049}"/>
              </a:ext>
            </a:extLst>
          </p:cNvPr>
          <p:cNvSpPr txBox="1"/>
          <p:nvPr/>
        </p:nvSpPr>
        <p:spPr>
          <a:xfrm>
            <a:off x="3164404" y="2217929"/>
            <a:ext cx="91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>
                <a:solidFill>
                  <a:schemeClr val="bg1"/>
                </a:solidFill>
              </a:rPr>
              <a:t>1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E6B8691-3570-4899-04FD-C62A1A6F6966}"/>
              </a:ext>
            </a:extLst>
          </p:cNvPr>
          <p:cNvSpPr/>
          <p:nvPr/>
        </p:nvSpPr>
        <p:spPr>
          <a:xfrm>
            <a:off x="3829245" y="2142225"/>
            <a:ext cx="4803912" cy="742567"/>
          </a:xfrm>
          <a:prstGeom prst="roundRect">
            <a:avLst>
              <a:gd name="adj" fmla="val 28584"/>
            </a:avLst>
          </a:prstGeom>
          <a:solidFill>
            <a:schemeClr val="bg1">
              <a:alpha val="6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</a:rPr>
              <a:t>При сравнении видно что между объектами есть разница. </a:t>
            </a:r>
          </a:p>
          <a:p>
            <a:pPr algn="ctr"/>
            <a:r>
              <a:rPr lang="ru-RU" sz="1400" b="1" dirty="0">
                <a:solidFill>
                  <a:schemeClr val="tx1"/>
                </a:solidFill>
              </a:rPr>
              <a:t>Гипотеза: </a:t>
            </a:r>
            <a:r>
              <a:rPr lang="ru-RU" sz="1400" dirty="0">
                <a:solidFill>
                  <a:schemeClr val="tx1"/>
                </a:solidFill>
              </a:rPr>
              <a:t>разница</a:t>
            </a:r>
            <a:r>
              <a:rPr lang="ru-RU" sz="1400" i="1" dirty="0">
                <a:solidFill>
                  <a:schemeClr val="tx1"/>
                </a:solidFill>
              </a:rPr>
              <a:t> между двумя объектами</a:t>
            </a:r>
            <a:r>
              <a:rPr lang="ru-RU" sz="1400" dirty="0">
                <a:solidFill>
                  <a:schemeClr val="tx1"/>
                </a:solidFill>
              </a:rPr>
              <a:t> несущественна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39" name="TextBox 90">
            <a:extLst>
              <a:ext uri="{FF2B5EF4-FFF2-40B4-BE49-F238E27FC236}">
                <a16:creationId xmlns:a16="http://schemas.microsoft.com/office/drawing/2014/main" id="{3707FD3F-CCD7-0FDC-C83F-7520FC4B1844}"/>
              </a:ext>
            </a:extLst>
          </p:cNvPr>
          <p:cNvSpPr txBox="1"/>
          <p:nvPr/>
        </p:nvSpPr>
        <p:spPr>
          <a:xfrm>
            <a:off x="3182044" y="3740492"/>
            <a:ext cx="91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>
                <a:solidFill>
                  <a:schemeClr val="bg1"/>
                </a:solidFill>
              </a:rPr>
              <a:t>2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2856A6EB-F198-0249-5C2D-353C2477E7E5}"/>
              </a:ext>
            </a:extLst>
          </p:cNvPr>
          <p:cNvSpPr/>
          <p:nvPr/>
        </p:nvSpPr>
        <p:spPr>
          <a:xfrm>
            <a:off x="3846885" y="3664788"/>
            <a:ext cx="4803912" cy="742567"/>
          </a:xfrm>
          <a:prstGeom prst="roundRect">
            <a:avLst>
              <a:gd name="adj" fmla="val 28584"/>
            </a:avLst>
          </a:prstGeom>
          <a:solidFill>
            <a:schemeClr val="bg1">
              <a:alpha val="6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</a:rPr>
              <a:t>После </a:t>
            </a:r>
            <a:r>
              <a:rPr lang="ru-RU" sz="1400" b="1" dirty="0">
                <a:solidFill>
                  <a:schemeClr val="tx1"/>
                </a:solidFill>
              </a:rPr>
              <a:t>изменений </a:t>
            </a:r>
            <a:r>
              <a:rPr lang="ru-RU" sz="1400" dirty="0">
                <a:solidFill>
                  <a:schemeClr val="tx1"/>
                </a:solidFill>
              </a:rPr>
              <a:t>показатели объекта изменились (например количество обращений по типу услуги) </a:t>
            </a:r>
          </a:p>
          <a:p>
            <a:pPr algn="ctr"/>
            <a:r>
              <a:rPr lang="ru-RU" sz="1400" b="1" dirty="0">
                <a:solidFill>
                  <a:schemeClr val="tx1"/>
                </a:solidFill>
              </a:rPr>
              <a:t>Гипотеза: </a:t>
            </a:r>
            <a:r>
              <a:rPr lang="ru-RU" sz="1400" dirty="0">
                <a:solidFill>
                  <a:schemeClr val="tx1"/>
                </a:solidFill>
              </a:rPr>
              <a:t>разница в </a:t>
            </a:r>
            <a:r>
              <a:rPr lang="ru-RU" sz="1400" i="1" dirty="0">
                <a:solidFill>
                  <a:schemeClr val="tx1"/>
                </a:solidFill>
              </a:rPr>
              <a:t>изменении</a:t>
            </a:r>
            <a:r>
              <a:rPr lang="ru-RU" sz="1400" dirty="0">
                <a:solidFill>
                  <a:schemeClr val="tx1"/>
                </a:solidFill>
              </a:rPr>
              <a:t> несущественна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5D7BCBAF-057C-8B8F-682B-5FD9A3234921}"/>
              </a:ext>
            </a:extLst>
          </p:cNvPr>
          <p:cNvSpPr/>
          <p:nvPr/>
        </p:nvSpPr>
        <p:spPr>
          <a:xfrm>
            <a:off x="3454625" y="5052231"/>
            <a:ext cx="5408615" cy="963561"/>
          </a:xfrm>
          <a:prstGeom prst="roundRect">
            <a:avLst>
              <a:gd name="adj" fmla="val 31633"/>
            </a:avLst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85FB19EF-45B4-EE56-F067-966AEA656650}"/>
              </a:ext>
            </a:extLst>
          </p:cNvPr>
          <p:cNvSpPr/>
          <p:nvPr/>
        </p:nvSpPr>
        <p:spPr>
          <a:xfrm>
            <a:off x="3846885" y="5149945"/>
            <a:ext cx="4803912" cy="742567"/>
          </a:xfrm>
          <a:prstGeom prst="roundRect">
            <a:avLst>
              <a:gd name="adj" fmla="val 28584"/>
            </a:avLst>
          </a:prstGeom>
          <a:solidFill>
            <a:schemeClr val="bg1">
              <a:alpha val="6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</a:rPr>
              <a:t>Изменения во временном ряде являются </a:t>
            </a:r>
            <a:r>
              <a:rPr lang="ru-RU" sz="1400" b="1" dirty="0">
                <a:solidFill>
                  <a:schemeClr val="tx1"/>
                </a:solidFill>
              </a:rPr>
              <a:t>случайными</a:t>
            </a:r>
            <a:r>
              <a:rPr lang="ru-RU" sz="1400" dirty="0">
                <a:solidFill>
                  <a:schemeClr val="tx1"/>
                </a:solidFill>
              </a:rPr>
              <a:t> событием или есть тренды?</a:t>
            </a:r>
          </a:p>
        </p:txBody>
      </p:sp>
      <p:sp>
        <p:nvSpPr>
          <p:cNvPr id="43" name="TextBox 90">
            <a:extLst>
              <a:ext uri="{FF2B5EF4-FFF2-40B4-BE49-F238E27FC236}">
                <a16:creationId xmlns:a16="http://schemas.microsoft.com/office/drawing/2014/main" id="{2B4BB354-3053-A309-4053-32A2FCC805F5}"/>
              </a:ext>
            </a:extLst>
          </p:cNvPr>
          <p:cNvSpPr txBox="1"/>
          <p:nvPr/>
        </p:nvSpPr>
        <p:spPr>
          <a:xfrm>
            <a:off x="3233776" y="5235026"/>
            <a:ext cx="91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>
                <a:solidFill>
                  <a:schemeClr val="bg1"/>
                </a:solidFill>
              </a:rPr>
              <a:t>3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15D122-648B-A768-1CFD-50B764B7DD92}"/>
              </a:ext>
            </a:extLst>
          </p:cNvPr>
          <p:cNvSpPr txBox="1"/>
          <p:nvPr/>
        </p:nvSpPr>
        <p:spPr>
          <a:xfrm>
            <a:off x="4569068" y="2884792"/>
            <a:ext cx="4646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Выбор стратегии управления объектами.</a:t>
            </a:r>
          </a:p>
          <a:p>
            <a:r>
              <a:rPr lang="ru-RU" dirty="0"/>
              <a:t>- Обоснование </a:t>
            </a:r>
            <a:r>
              <a:rPr lang="ru-RU" i="1" dirty="0"/>
              <a:t>различных</a:t>
            </a:r>
            <a:r>
              <a:rPr lang="ru-RU" dirty="0"/>
              <a:t> норм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074295-86A1-A259-CFBE-5B3AC1CB2648}"/>
              </a:ext>
            </a:extLst>
          </p:cNvPr>
          <p:cNvSpPr txBox="1"/>
          <p:nvPr/>
        </p:nvSpPr>
        <p:spPr>
          <a:xfrm>
            <a:off x="4532566" y="4449197"/>
            <a:ext cx="4646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Оценка эффективности мероприятий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Выбор путей улучшений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33B1B1-0527-5A89-1C3A-D987BC77BB99}"/>
              </a:ext>
            </a:extLst>
          </p:cNvPr>
          <p:cNvSpPr txBox="1"/>
          <p:nvPr/>
        </p:nvSpPr>
        <p:spPr>
          <a:xfrm>
            <a:off x="4562246" y="5958318"/>
            <a:ext cx="4646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Обоснование возможности прогнозирования</a:t>
            </a:r>
          </a:p>
          <a:p>
            <a:pPr marL="285750" indent="-285750"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9911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C97BFCE-3D6B-AC9A-41D2-77ED98D6C42E}"/>
              </a:ext>
            </a:extLst>
          </p:cNvPr>
          <p:cNvSpPr/>
          <p:nvPr/>
        </p:nvSpPr>
        <p:spPr>
          <a:xfrm>
            <a:off x="757114" y="5267147"/>
            <a:ext cx="5143077" cy="1107664"/>
          </a:xfrm>
          <a:prstGeom prst="roundRect">
            <a:avLst>
              <a:gd name="adj" fmla="val 31633"/>
            </a:avLst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4E0B5A2-2D5A-1732-EA4A-57360648A5F6}"/>
              </a:ext>
            </a:extLst>
          </p:cNvPr>
          <p:cNvSpPr/>
          <p:nvPr/>
        </p:nvSpPr>
        <p:spPr>
          <a:xfrm>
            <a:off x="757114" y="4012923"/>
            <a:ext cx="5143077" cy="656095"/>
          </a:xfrm>
          <a:prstGeom prst="roundRect">
            <a:avLst>
              <a:gd name="adj" fmla="val 31633"/>
            </a:avLst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1B5928-0F63-2EBF-B1ED-786F22328E35}"/>
              </a:ext>
            </a:extLst>
          </p:cNvPr>
          <p:cNvSpPr/>
          <p:nvPr/>
        </p:nvSpPr>
        <p:spPr>
          <a:xfrm>
            <a:off x="278857" y="140935"/>
            <a:ext cx="6225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Переход от бизнес-задач 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 анализу данных.</a:t>
            </a:r>
          </a:p>
          <a:p>
            <a:r>
              <a:rPr lang="ru-RU" sz="2000" b="1" dirty="0">
                <a:solidFill>
                  <a:srgbClr val="26262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Статистический анализ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005D27B-3960-C386-A956-5903C7566AC6}"/>
              </a:ext>
            </a:extLst>
          </p:cNvPr>
          <p:cNvSpPr/>
          <p:nvPr/>
        </p:nvSpPr>
        <p:spPr>
          <a:xfrm>
            <a:off x="4235116" y="709427"/>
            <a:ext cx="6045652" cy="72000"/>
          </a:xfrm>
          <a:prstGeom prst="roundRect">
            <a:avLst>
              <a:gd name="adj" fmla="val 0"/>
            </a:avLst>
          </a:prstGeom>
          <a:solidFill>
            <a:srgbClr val="032BE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71717"/>
              </a:solidFill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8B77AE1-C53E-6DAA-EF0E-8864BC1C6FCF}"/>
              </a:ext>
            </a:extLst>
          </p:cNvPr>
          <p:cNvGrpSpPr/>
          <p:nvPr/>
        </p:nvGrpSpPr>
        <p:grpSpPr>
          <a:xfrm>
            <a:off x="6686473" y="18910"/>
            <a:ext cx="953192" cy="1381034"/>
            <a:chOff x="6450498" y="2863327"/>
            <a:chExt cx="2193859" cy="3044556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300F2DCD-F2B7-6E71-0404-E8103715570C}"/>
                </a:ext>
              </a:extLst>
            </p:cNvPr>
            <p:cNvGrpSpPr/>
            <p:nvPr/>
          </p:nvGrpSpPr>
          <p:grpSpPr>
            <a:xfrm>
              <a:off x="6450498" y="2863327"/>
              <a:ext cx="2193859" cy="3044556"/>
              <a:chOff x="6450498" y="2863327"/>
              <a:chExt cx="2193859" cy="3044556"/>
            </a:xfrm>
          </p:grpSpPr>
          <p:sp>
            <p:nvSpPr>
              <p:cNvPr id="20" name="Freeform: Shape 21">
                <a:extLst>
                  <a:ext uri="{FF2B5EF4-FFF2-40B4-BE49-F238E27FC236}">
                    <a16:creationId xmlns:a16="http://schemas.microsoft.com/office/drawing/2014/main" id="{45551734-E7FE-5414-DF72-0803AB0B1ADF}"/>
                  </a:ext>
                </a:extLst>
              </p:cNvPr>
              <p:cNvSpPr/>
              <p:nvPr/>
            </p:nvSpPr>
            <p:spPr>
              <a:xfrm>
                <a:off x="6450498" y="2863327"/>
                <a:ext cx="2148481" cy="3044556"/>
              </a:xfrm>
              <a:custGeom>
                <a:avLst/>
                <a:gdLst>
                  <a:gd name="connsiteX0" fmla="*/ 1775951 w 2148481"/>
                  <a:gd name="connsiteY0" fmla="*/ 1847 h 3044556"/>
                  <a:gd name="connsiteX1" fmla="*/ 1925326 w 2148481"/>
                  <a:gd name="connsiteY1" fmla="*/ 48156 h 3044556"/>
                  <a:gd name="connsiteX2" fmla="*/ 1729630 w 2148481"/>
                  <a:gd name="connsiteY2" fmla="*/ 1900666 h 3044556"/>
                  <a:gd name="connsiteX3" fmla="*/ 223157 w 2148481"/>
                  <a:gd name="connsiteY3" fmla="*/ 2996400 h 3044556"/>
                  <a:gd name="connsiteX4" fmla="*/ 418853 w 2148481"/>
                  <a:gd name="connsiteY4" fmla="*/ 1143889 h 3044556"/>
                  <a:gd name="connsiteX5" fmla="*/ 1775951 w 2148481"/>
                  <a:gd name="connsiteY5" fmla="*/ 1847 h 304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8481" h="3044556">
                    <a:moveTo>
                      <a:pt x="1775951" y="1847"/>
                    </a:moveTo>
                    <a:cubicBezTo>
                      <a:pt x="1829953" y="6842"/>
                      <a:pt x="1880081" y="22034"/>
                      <a:pt x="1925326" y="48156"/>
                    </a:cubicBezTo>
                    <a:cubicBezTo>
                      <a:pt x="2287286" y="257134"/>
                      <a:pt x="2199671" y="1086531"/>
                      <a:pt x="1729630" y="1900666"/>
                    </a:cubicBezTo>
                    <a:cubicBezTo>
                      <a:pt x="1259589" y="2714801"/>
                      <a:pt x="585117" y="3205378"/>
                      <a:pt x="223157" y="2996400"/>
                    </a:cubicBezTo>
                    <a:cubicBezTo>
                      <a:pt x="-138804" y="2787422"/>
                      <a:pt x="-51188" y="1958024"/>
                      <a:pt x="418853" y="1143889"/>
                    </a:cubicBezTo>
                    <a:cubicBezTo>
                      <a:pt x="830139" y="431521"/>
                      <a:pt x="1397941" y="-33122"/>
                      <a:pt x="1775951" y="18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endParaRPr lang="en-US" sz="20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TextBox 90">
                <a:extLst>
                  <a:ext uri="{FF2B5EF4-FFF2-40B4-BE49-F238E27FC236}">
                    <a16:creationId xmlns:a16="http://schemas.microsoft.com/office/drawing/2014/main" id="{16023162-7BF7-C279-4FBA-245CA08DBA8D}"/>
                  </a:ext>
                </a:extLst>
              </p:cNvPr>
              <p:cNvSpPr txBox="1"/>
              <p:nvPr/>
            </p:nvSpPr>
            <p:spPr>
              <a:xfrm>
                <a:off x="7683749" y="2911271"/>
                <a:ext cx="9606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02</a:t>
                </a:r>
              </a:p>
            </p:txBody>
          </p:sp>
        </p:grpSp>
        <p:pic>
          <p:nvPicPr>
            <p:cNvPr id="16" name="Graphic 93" descr="Lightbulb with solid fill">
              <a:extLst>
                <a:ext uri="{FF2B5EF4-FFF2-40B4-BE49-F238E27FC236}">
                  <a16:creationId xmlns:a16="http://schemas.microsoft.com/office/drawing/2014/main" id="{31B98F60-A8F8-ECB4-6033-9E127A39F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16134" y="4007340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A86A5C3F-C47E-E638-D69B-733B020DA394}"/>
                </a:ext>
              </a:extLst>
            </p:cNvPr>
            <p:cNvSpPr/>
            <p:nvPr/>
          </p:nvSpPr>
          <p:spPr>
            <a:xfrm>
              <a:off x="6531256" y="3290213"/>
              <a:ext cx="905623" cy="1508665"/>
            </a:xfrm>
            <a:custGeom>
              <a:avLst/>
              <a:gdLst>
                <a:gd name="connsiteX0" fmla="*/ 882776 w 905623"/>
                <a:gd name="connsiteY0" fmla="*/ 0 h 1508665"/>
                <a:gd name="connsiteX1" fmla="*/ 898700 w 905623"/>
                <a:gd name="connsiteY1" fmla="*/ 104339 h 1508665"/>
                <a:gd name="connsiteX2" fmla="*/ 905623 w 905623"/>
                <a:gd name="connsiteY2" fmla="*/ 241436 h 1508665"/>
                <a:gd name="connsiteX3" fmla="*/ 86675 w 905623"/>
                <a:gd name="connsiteY3" fmla="*/ 1476941 h 1508665"/>
                <a:gd name="connsiteX4" fmla="*/ 0 w 905623"/>
                <a:gd name="connsiteY4" fmla="*/ 1508665 h 1508665"/>
                <a:gd name="connsiteX5" fmla="*/ 11520 w 905623"/>
                <a:gd name="connsiteY5" fmla="*/ 1465327 h 1508665"/>
                <a:gd name="connsiteX6" fmla="*/ 338095 w 905623"/>
                <a:gd name="connsiteY6" fmla="*/ 717003 h 1508665"/>
                <a:gd name="connsiteX7" fmla="*/ 848560 w 905623"/>
                <a:gd name="connsiteY7" fmla="*/ 33381 h 1508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5623" h="1508665">
                  <a:moveTo>
                    <a:pt x="882776" y="0"/>
                  </a:moveTo>
                  <a:lnTo>
                    <a:pt x="898700" y="104339"/>
                  </a:lnTo>
                  <a:cubicBezTo>
                    <a:pt x="903278" y="149416"/>
                    <a:pt x="905623" y="195152"/>
                    <a:pt x="905623" y="241436"/>
                  </a:cubicBezTo>
                  <a:cubicBezTo>
                    <a:pt x="905623" y="796846"/>
                    <a:pt x="567936" y="1273385"/>
                    <a:pt x="86675" y="1476941"/>
                  </a:cubicBezTo>
                  <a:lnTo>
                    <a:pt x="0" y="1508665"/>
                  </a:lnTo>
                  <a:lnTo>
                    <a:pt x="11520" y="1465327"/>
                  </a:lnTo>
                  <a:cubicBezTo>
                    <a:pt x="81666" y="1227328"/>
                    <a:pt x="191207" y="971420"/>
                    <a:pt x="338095" y="717003"/>
                  </a:cubicBezTo>
                  <a:cubicBezTo>
                    <a:pt x="492328" y="449865"/>
                    <a:pt x="668570" y="217564"/>
                    <a:pt x="848560" y="33381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200">
                <a:solidFill>
                  <a:schemeClr val="lt1"/>
                </a:solidFill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EC734893-17DA-6E8C-0467-772801025809}"/>
                </a:ext>
              </a:extLst>
            </p:cNvPr>
            <p:cNvSpPr/>
            <p:nvPr/>
          </p:nvSpPr>
          <p:spPr>
            <a:xfrm>
              <a:off x="6930355" y="3926223"/>
              <a:ext cx="207324" cy="255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5" h="21011" extrusionOk="0">
                  <a:moveTo>
                    <a:pt x="1682" y="20999"/>
                  </a:moveTo>
                  <a:lnTo>
                    <a:pt x="17882" y="17716"/>
                  </a:lnTo>
                  <a:cubicBezTo>
                    <a:pt x="19544" y="17370"/>
                    <a:pt x="20790" y="15815"/>
                    <a:pt x="20375" y="14433"/>
                  </a:cubicBezTo>
                  <a:lnTo>
                    <a:pt x="16428" y="954"/>
                  </a:lnTo>
                  <a:cubicBezTo>
                    <a:pt x="16013" y="-428"/>
                    <a:pt x="13728" y="-255"/>
                    <a:pt x="13728" y="1127"/>
                  </a:cubicBezTo>
                  <a:lnTo>
                    <a:pt x="13105" y="12877"/>
                  </a:lnTo>
                  <a:lnTo>
                    <a:pt x="852" y="18753"/>
                  </a:lnTo>
                  <a:cubicBezTo>
                    <a:pt x="-810" y="19444"/>
                    <a:pt x="228" y="21172"/>
                    <a:pt x="1682" y="20999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ADFC3A7A-AD6B-05EB-D471-3E28AD9D332C}"/>
              </a:ext>
            </a:extLst>
          </p:cNvPr>
          <p:cNvGrpSpPr/>
          <p:nvPr/>
        </p:nvGrpSpPr>
        <p:grpSpPr>
          <a:xfrm>
            <a:off x="4491122" y="250539"/>
            <a:ext cx="2008471" cy="989775"/>
            <a:chOff x="4362832" y="1155414"/>
            <a:chExt cx="3435337" cy="1513554"/>
          </a:xfrm>
        </p:grpSpPr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24C3DABE-BD55-E64F-C4B4-35E8149C9470}"/>
                </a:ext>
              </a:extLst>
            </p:cNvPr>
            <p:cNvSpPr/>
            <p:nvPr/>
          </p:nvSpPr>
          <p:spPr>
            <a:xfrm>
              <a:off x="4393831" y="1155414"/>
              <a:ext cx="3404338" cy="1513553"/>
            </a:xfrm>
            <a:prstGeom prst="ellipse">
              <a:avLst/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24" name="TextBox 89">
              <a:extLst>
                <a:ext uri="{FF2B5EF4-FFF2-40B4-BE49-F238E27FC236}">
                  <a16:creationId xmlns:a16="http://schemas.microsoft.com/office/drawing/2014/main" id="{C279F200-3ED2-1548-09FE-0E3CAFFFF120}"/>
                </a:ext>
              </a:extLst>
            </p:cNvPr>
            <p:cNvSpPr txBox="1"/>
            <p:nvPr/>
          </p:nvSpPr>
          <p:spPr>
            <a:xfrm>
              <a:off x="4362832" y="1650580"/>
              <a:ext cx="960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01</a:t>
              </a:r>
            </a:p>
          </p:txBody>
        </p:sp>
        <p:pic>
          <p:nvPicPr>
            <p:cNvPr id="25" name="Graphic 94" descr="Research with solid fill">
              <a:extLst>
                <a:ext uri="{FF2B5EF4-FFF2-40B4-BE49-F238E27FC236}">
                  <a16:creationId xmlns:a16="http://schemas.microsoft.com/office/drawing/2014/main" id="{591D3219-99E5-43CC-B1CC-D2505B29C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3923" y="1262145"/>
              <a:ext cx="748320" cy="748320"/>
            </a:xfrm>
            <a:prstGeom prst="rect">
              <a:avLst/>
            </a:prstGeom>
            <a:effectLst>
              <a:outerShdw blurRad="88900" dist="38100" dir="2700000" algn="tl" rotWithShape="0">
                <a:prstClr val="black">
                  <a:alpha val="25000"/>
                </a:prstClr>
              </a:outerShdw>
            </a:effectLst>
          </p:spPr>
        </p:pic>
        <p:sp>
          <p:nvSpPr>
            <p:cNvPr id="26" name="Freeform: Shape 34">
              <a:extLst>
                <a:ext uri="{FF2B5EF4-FFF2-40B4-BE49-F238E27FC236}">
                  <a16:creationId xmlns:a16="http://schemas.microsoft.com/office/drawing/2014/main" id="{9E5D856C-61C1-5F1E-DC08-DCDECC192C64}"/>
                </a:ext>
              </a:extLst>
            </p:cNvPr>
            <p:cNvSpPr/>
            <p:nvPr/>
          </p:nvSpPr>
          <p:spPr>
            <a:xfrm>
              <a:off x="5184180" y="2190771"/>
              <a:ext cx="1823642" cy="478197"/>
            </a:xfrm>
            <a:custGeom>
              <a:avLst/>
              <a:gdLst>
                <a:gd name="connsiteX0" fmla="*/ 911821 w 1823642"/>
                <a:gd name="connsiteY0" fmla="*/ 0 h 478197"/>
                <a:gd name="connsiteX1" fmla="*/ 1764744 w 1823642"/>
                <a:gd name="connsiteY1" fmla="*/ 306192 h 478197"/>
                <a:gd name="connsiteX2" fmla="*/ 1823642 w 1823642"/>
                <a:gd name="connsiteY2" fmla="*/ 359722 h 478197"/>
                <a:gd name="connsiteX3" fmla="*/ 1723175 w 1823642"/>
                <a:gd name="connsiteY3" fmla="*/ 386858 h 478197"/>
                <a:gd name="connsiteX4" fmla="*/ 911820 w 1823642"/>
                <a:gd name="connsiteY4" fmla="*/ 478197 h 478197"/>
                <a:gd name="connsiteX5" fmla="*/ 100465 w 1823642"/>
                <a:gd name="connsiteY5" fmla="*/ 386858 h 478197"/>
                <a:gd name="connsiteX6" fmla="*/ 0 w 1823642"/>
                <a:gd name="connsiteY6" fmla="*/ 359723 h 478197"/>
                <a:gd name="connsiteX7" fmla="*/ 58899 w 1823642"/>
                <a:gd name="connsiteY7" fmla="*/ 306192 h 478197"/>
                <a:gd name="connsiteX8" fmla="*/ 911821 w 1823642"/>
                <a:gd name="connsiteY8" fmla="*/ 0 h 4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3642" h="478197">
                  <a:moveTo>
                    <a:pt x="911821" y="0"/>
                  </a:moveTo>
                  <a:cubicBezTo>
                    <a:pt x="1235810" y="0"/>
                    <a:pt x="1532961" y="114907"/>
                    <a:pt x="1764744" y="306192"/>
                  </a:cubicBezTo>
                  <a:lnTo>
                    <a:pt x="1823642" y="359722"/>
                  </a:lnTo>
                  <a:lnTo>
                    <a:pt x="1723175" y="386858"/>
                  </a:lnTo>
                  <a:cubicBezTo>
                    <a:pt x="1481989" y="445109"/>
                    <a:pt x="1205596" y="478197"/>
                    <a:pt x="911820" y="478197"/>
                  </a:cubicBezTo>
                  <a:cubicBezTo>
                    <a:pt x="618045" y="478197"/>
                    <a:pt x="341651" y="445109"/>
                    <a:pt x="100465" y="386858"/>
                  </a:cubicBezTo>
                  <a:lnTo>
                    <a:pt x="0" y="359723"/>
                  </a:lnTo>
                  <a:lnTo>
                    <a:pt x="58899" y="306192"/>
                  </a:lnTo>
                  <a:cubicBezTo>
                    <a:pt x="290681" y="114907"/>
                    <a:pt x="587832" y="0"/>
                    <a:pt x="911821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27" name="Shape">
              <a:extLst>
                <a:ext uri="{FF2B5EF4-FFF2-40B4-BE49-F238E27FC236}">
                  <a16:creationId xmlns:a16="http://schemas.microsoft.com/office/drawing/2014/main" id="{C6292DC5-CD09-1205-F43D-0853D312FC47}"/>
                </a:ext>
              </a:extLst>
            </p:cNvPr>
            <p:cNvSpPr/>
            <p:nvPr/>
          </p:nvSpPr>
          <p:spPr>
            <a:xfrm>
              <a:off x="5948519" y="2352516"/>
              <a:ext cx="294962" cy="15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0352" extrusionOk="0">
                  <a:moveTo>
                    <a:pt x="20317" y="17031"/>
                  </a:moveTo>
                  <a:lnTo>
                    <a:pt x="11942" y="1246"/>
                  </a:lnTo>
                  <a:cubicBezTo>
                    <a:pt x="11060" y="-415"/>
                    <a:pt x="9591" y="-415"/>
                    <a:pt x="8709" y="1246"/>
                  </a:cubicBezTo>
                  <a:lnTo>
                    <a:pt x="334" y="17031"/>
                  </a:lnTo>
                  <a:cubicBezTo>
                    <a:pt x="-548" y="18693"/>
                    <a:pt x="481" y="21185"/>
                    <a:pt x="1509" y="20077"/>
                  </a:cubicBezTo>
                  <a:lnTo>
                    <a:pt x="10325" y="10939"/>
                  </a:lnTo>
                  <a:lnTo>
                    <a:pt x="19142" y="20077"/>
                  </a:lnTo>
                  <a:cubicBezTo>
                    <a:pt x="20170" y="20908"/>
                    <a:pt x="21052" y="18416"/>
                    <a:pt x="20317" y="1703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</a:defRPr>
              </a:pPr>
              <a:endParaRPr sz="240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D84414-8232-C742-1BAE-10CAB4F871AB}"/>
              </a:ext>
            </a:extLst>
          </p:cNvPr>
          <p:cNvSpPr txBox="1"/>
          <p:nvPr/>
        </p:nvSpPr>
        <p:spPr>
          <a:xfrm>
            <a:off x="1343150" y="1491045"/>
            <a:ext cx="9388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0" i="0" dirty="0">
                <a:solidFill>
                  <a:srgbClr val="333333"/>
                </a:solidFill>
                <a:effectLst/>
                <a:latin typeface="GothamPro"/>
              </a:rPr>
              <a:t>Гипотеза представляет собой предположение, требующее доказательства или опровержения. Предположением может стать результат наблюдений, вариант развития событий и т. д.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6FBA6-CB6B-45CE-E445-A51E719FB967}"/>
              </a:ext>
            </a:extLst>
          </p:cNvPr>
          <p:cNvSpPr txBox="1"/>
          <p:nvPr/>
        </p:nvSpPr>
        <p:spPr>
          <a:xfrm>
            <a:off x="280092" y="3086746"/>
            <a:ext cx="56200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333333"/>
                </a:solidFill>
                <a:effectLst/>
                <a:latin typeface="GothamPro"/>
              </a:rPr>
              <a:t>утверждение о пользователе, услуге, </a:t>
            </a:r>
            <a:r>
              <a:rPr lang="ru-RU" sz="2000" dirty="0">
                <a:solidFill>
                  <a:srgbClr val="333333"/>
                </a:solidFill>
                <a:latin typeface="GothamPro"/>
              </a:rPr>
              <a:t>участнике перевозочного процесса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GothamPro"/>
              </a:rPr>
              <a:t>, бизнес-функции компании;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2000" b="0" i="1" dirty="0">
                <a:solidFill>
                  <a:srgbClr val="333333"/>
                </a:solidFill>
                <a:effectLst/>
                <a:latin typeface="GothamPro"/>
              </a:rPr>
              <a:t>Пример: </a:t>
            </a:r>
            <a:r>
              <a:rPr lang="ru-RU" sz="2000" b="0" dirty="0">
                <a:solidFill>
                  <a:srgbClr val="333333"/>
                </a:solidFill>
                <a:effectLst/>
                <a:latin typeface="GothamPro"/>
              </a:rPr>
              <a:t>проблем с контейнерными перевозками больше с цистернами</a:t>
            </a:r>
            <a:endParaRPr lang="ru-RU" sz="2000" b="0" i="1" dirty="0">
              <a:solidFill>
                <a:srgbClr val="333333"/>
              </a:solidFill>
              <a:effectLst/>
              <a:latin typeface="GothamPro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333333"/>
                </a:solidFill>
                <a:effectLst/>
                <a:latin typeface="GothamPro"/>
              </a:rPr>
              <a:t>точки или схемы для возможных улучшений («быстрее», «дешевле», «качественнее»).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rgbClr val="333333"/>
                </a:solidFill>
                <a:latin typeface="GothamPro"/>
              </a:rPr>
              <a:t>Пример: </a:t>
            </a:r>
            <a:r>
              <a:rPr lang="ru-RU" sz="2000" dirty="0">
                <a:solidFill>
                  <a:srgbClr val="333333"/>
                </a:solidFill>
                <a:latin typeface="GothamPro"/>
              </a:rPr>
              <a:t>дополнительное обучение/инструкции/ПО поможет первой линии закрывать больше вопросов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1AC7E2-B463-9C5E-912D-9C69D20AFFC7}"/>
              </a:ext>
            </a:extLst>
          </p:cNvPr>
          <p:cNvSpPr txBox="1"/>
          <p:nvPr/>
        </p:nvSpPr>
        <p:spPr>
          <a:xfrm>
            <a:off x="749071" y="2665106"/>
            <a:ext cx="499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Правила формулировки гипотез:</a:t>
            </a:r>
          </a:p>
        </p:txBody>
      </p:sp>
      <p:pic>
        <p:nvPicPr>
          <p:cNvPr id="1026" name="Picture 2" descr="HADI-циклы">
            <a:extLst>
              <a:ext uri="{FF2B5EF4-FFF2-40B4-BE49-F238E27FC236}">
                <a16:creationId xmlns:a16="http://schemas.microsoft.com/office/drawing/2014/main" id="{02BF23E4-6AD0-46DA-56A6-2CEB19F72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542" y="3159738"/>
            <a:ext cx="5234093" cy="294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3805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2762</Words>
  <Application>Microsoft Office PowerPoint</Application>
  <PresentationFormat>Широкоэкранный</PresentationFormat>
  <Paragraphs>512</Paragraphs>
  <Slides>54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73" baseType="lpstr">
      <vt:lpstr>-apple-system</vt:lpstr>
      <vt:lpstr>Arial</vt:lpstr>
      <vt:lpstr>Calibri</vt:lpstr>
      <vt:lpstr>Calibri Light</vt:lpstr>
      <vt:lpstr>Consolas</vt:lpstr>
      <vt:lpstr>Courier New</vt:lpstr>
      <vt:lpstr>Gilroy</vt:lpstr>
      <vt:lpstr>GothamPro</vt:lpstr>
      <vt:lpstr>Menlo</vt:lpstr>
      <vt:lpstr>Monaco</vt:lpstr>
      <vt:lpstr>Nunito</vt:lpstr>
      <vt:lpstr>Open Sans</vt:lpstr>
      <vt:lpstr>Open Sans Light</vt:lpstr>
      <vt:lpstr>Open Sans Semibold</vt:lpstr>
      <vt:lpstr>Roboto</vt:lpstr>
      <vt:lpstr>Times New Roman</vt:lpstr>
      <vt:lpstr>Verdana</vt:lpstr>
      <vt:lpstr>YS Text</vt:lpstr>
      <vt:lpstr>Тема Office</vt:lpstr>
      <vt:lpstr>Презентация PowerPoint</vt:lpstr>
      <vt:lpstr>Презентация PowerPoint</vt:lpstr>
      <vt:lpstr>Pandas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Лекция 1. Работа с циклами</vt:lpstr>
      <vt:lpstr>Лекция 1. Работа с циклами</vt:lpstr>
      <vt:lpstr>Лекция 1. Работа с циклами</vt:lpstr>
      <vt:lpstr>Лекция 1. Работа с циклами</vt:lpstr>
      <vt:lpstr>Лекция 1. Работа с циклами</vt:lpstr>
      <vt:lpstr>Лекция 1. Работа с циклами</vt:lpstr>
      <vt:lpstr>Лекция 1. Работа с циклами</vt:lpstr>
      <vt:lpstr>Лекция 1. Работа с циклами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Polars</vt:lpstr>
      <vt:lpstr>Презентация PowerPoint</vt:lpstr>
      <vt:lpstr>Презентация PowerPoint</vt:lpstr>
      <vt:lpstr>Работа с данными. Группировка </vt:lpstr>
      <vt:lpstr>Работа с данными. Генерация новых признаков </vt:lpstr>
      <vt:lpstr>Презентация PowerPoint</vt:lpstr>
      <vt:lpstr>Работа с данными. Группировка. Pandas </vt:lpstr>
      <vt:lpstr>Работа с данными. Группировка </vt:lpstr>
      <vt:lpstr>Работа с данными. Группировка </vt:lpstr>
      <vt:lpstr>Презентация PowerPoint</vt:lpstr>
      <vt:lpstr>Что влияет на воспринятие доклада/анализа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Ольга Проневич</dc:creator>
  <cp:lastModifiedBy>Проневич Ольга Борисовна</cp:lastModifiedBy>
  <cp:revision>15</cp:revision>
  <dcterms:created xsi:type="dcterms:W3CDTF">2024-03-29T06:34:54Z</dcterms:created>
  <dcterms:modified xsi:type="dcterms:W3CDTF">2026-09-10T08:29:48Z</dcterms:modified>
</cp:coreProperties>
</file>